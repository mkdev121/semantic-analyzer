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aa1f3d1b1c4d5d" /><Relationship Type="http://schemas.openxmlformats.org/officeDocument/2006/relationships/extended-properties" Target="/docProps/app.xml" Id="R29fc4ec11e3b45e2" /><Relationship Type="http://schemas.openxmlformats.org/officeDocument/2006/relationships/officeDocument" Target="/ppt/presentation.xml" Id="R6a869e8b82c6489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c06061ae10f4bbe"/>
  </p:sldMasterIdLst>
  <p:notesMasterIdLst>
    <p:notesMasterId xmlns:r="http://schemas.openxmlformats.org/officeDocument/2006/relationships" r:id="Rafbfd99996fe4011"/>
  </p:notesMasterIdLst>
  <p:sldIdLst>
    <p:sldId xmlns:r="http://schemas.openxmlformats.org/officeDocument/2006/relationships" id="256" r:id="R530f09538a8542ac"/>
    <p:sldId xmlns:r="http://schemas.openxmlformats.org/officeDocument/2006/relationships" id="257" r:id="R996d68282bef4837"/>
    <p:sldId xmlns:r="http://schemas.openxmlformats.org/officeDocument/2006/relationships" id="258" r:id="R01d9f59a96014bf7"/>
    <p:sldId xmlns:r="http://schemas.openxmlformats.org/officeDocument/2006/relationships" id="259" r:id="R88038c25bf9748f1"/>
    <p:sldId xmlns:r="http://schemas.openxmlformats.org/officeDocument/2006/relationships" id="260" r:id="R510a7da37a204d36"/>
    <p:sldId xmlns:r="http://schemas.openxmlformats.org/officeDocument/2006/relationships" id="261" r:id="R3b80852a82cd46e4"/>
    <p:sldId xmlns:r="http://schemas.openxmlformats.org/officeDocument/2006/relationships" id="262" r:id="Ra051012396ed4dc6"/>
    <p:sldId xmlns:r="http://schemas.openxmlformats.org/officeDocument/2006/relationships" id="263" r:id="R365986d5e9074ac6"/>
    <p:sldId xmlns:r="http://schemas.openxmlformats.org/officeDocument/2006/relationships" id="264" r:id="Rbbd22faca968460b"/>
    <p:sldId xmlns:r="http://schemas.openxmlformats.org/officeDocument/2006/relationships" id="265" r:id="R0d55a6d540f1404d"/>
    <p:sldId xmlns:r="http://schemas.openxmlformats.org/officeDocument/2006/relationships" id="266" r:id="R74c8a8b7548a4bfe"/>
    <p:sldId xmlns:r="http://schemas.openxmlformats.org/officeDocument/2006/relationships" id="267" r:id="R659e540ddfad4fc0"/>
    <p:sldId xmlns:r="http://schemas.openxmlformats.org/officeDocument/2006/relationships" id="268" r:id="R251791e7c94d4403"/>
    <p:sldId xmlns:r="http://schemas.openxmlformats.org/officeDocument/2006/relationships" id="269" r:id="Rf9d3ae6949304ea1"/>
    <p:sldId xmlns:r="http://schemas.openxmlformats.org/officeDocument/2006/relationships" id="270" r:id="R273663b7fced42b6"/>
    <p:sldId xmlns:r="http://schemas.openxmlformats.org/officeDocument/2006/relationships" id="271" r:id="R1b6349df90f0450a"/>
  </p:sldIdLst>
  <p:sldSz cx="12192000" cy="6858000"/>
  <p:notesSz cx="6858000" cy="9144000"/>
  <p:embeddedFontLst>
    <p:embeddedFont>
      <p:font typeface="Oswald SemiBold"/>
      <p:regular xmlns:r="http://schemas.openxmlformats.org/officeDocument/2006/relationships" r:id="Re51ca16d3be14884"/>
      <p:bold xmlns:r="http://schemas.openxmlformats.org/officeDocument/2006/relationships" r:id="R187782d2228748cb"/>
    </p:embeddedFont>
    <p:embeddedFont>
      <p:font typeface="Univers Condensed Light"/>
      <p:regular xmlns:r="http://schemas.openxmlformats.org/officeDocument/2006/relationships" r:id="R750327de57684a69"/>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b80518ed0b54516" /><Relationship Type="http://schemas.openxmlformats.org/officeDocument/2006/relationships/slideMaster" Target="/ppt/slideMasters/slideMaster1.xml" Id="R3c06061ae10f4bbe" /><Relationship Type="http://schemas.openxmlformats.org/officeDocument/2006/relationships/notesMaster" Target="/ppt/notesMasters/notesMaster1.xml" Id="Rafbfd99996fe4011" /><Relationship Type="http://schemas.openxmlformats.org/officeDocument/2006/relationships/presProps" Target="/ppt/presProps.xml" Id="R8b44068b215a4316" /><Relationship Type="http://schemas.openxmlformats.org/officeDocument/2006/relationships/viewProps" Target="/ppt/viewProps.xml" Id="Re08d75f17b05410e" /><Relationship Type="http://schemas.openxmlformats.org/officeDocument/2006/relationships/tableStyles" Target="/ppt/tableStyles.xml" Id="R5aa7221a71bb46f7" /><Relationship Type="http://schemas.openxmlformats.org/officeDocument/2006/relationships/font" Target="/ppt/fonts/font.dat" Id="Re51ca16d3be14884" /><Relationship Type="http://schemas.openxmlformats.org/officeDocument/2006/relationships/font" Target="/ppt/fonts/font2.dat" Id="R187782d2228748cb" /><Relationship Type="http://schemas.openxmlformats.org/officeDocument/2006/relationships/font" Target="/ppt/fonts/font3.dat" Id="R750327de57684a69" /><Relationship Type="http://schemas.openxmlformats.org/officeDocument/2006/relationships/slide" Target="/ppt/slides/slide1.xml" Id="R530f09538a8542ac" /><Relationship Type="http://schemas.openxmlformats.org/officeDocument/2006/relationships/slide" Target="/ppt/slides/slide2.xml" Id="R996d68282bef4837" /><Relationship Type="http://schemas.openxmlformats.org/officeDocument/2006/relationships/slide" Target="/ppt/slides/slide3.xml" Id="R01d9f59a96014bf7" /><Relationship Type="http://schemas.openxmlformats.org/officeDocument/2006/relationships/slide" Target="/ppt/slides/slide4.xml" Id="R88038c25bf9748f1" /><Relationship Type="http://schemas.openxmlformats.org/officeDocument/2006/relationships/slide" Target="/ppt/slides/slide5.xml" Id="R510a7da37a204d36" /><Relationship Type="http://schemas.openxmlformats.org/officeDocument/2006/relationships/slide" Target="/ppt/slides/slide6.xml" Id="R3b80852a82cd46e4" /><Relationship Type="http://schemas.openxmlformats.org/officeDocument/2006/relationships/slide" Target="/ppt/slides/slide7.xml" Id="Ra051012396ed4dc6" /><Relationship Type="http://schemas.openxmlformats.org/officeDocument/2006/relationships/slide" Target="/ppt/slides/slide8.xml" Id="R365986d5e9074ac6" /><Relationship Type="http://schemas.openxmlformats.org/officeDocument/2006/relationships/slide" Target="/ppt/slides/slide9.xml" Id="Rbbd22faca968460b" /><Relationship Type="http://schemas.openxmlformats.org/officeDocument/2006/relationships/slide" Target="/ppt/slides/slide10.xml" Id="R0d55a6d540f1404d" /><Relationship Type="http://schemas.openxmlformats.org/officeDocument/2006/relationships/slide" Target="/ppt/slides/slide11.xml" Id="R74c8a8b7548a4bfe" /><Relationship Type="http://schemas.openxmlformats.org/officeDocument/2006/relationships/slide" Target="/ppt/slides/slide12.xml" Id="R659e540ddfad4fc0" /><Relationship Type="http://schemas.openxmlformats.org/officeDocument/2006/relationships/slide" Target="/ppt/slides/slide13.xml" Id="R251791e7c94d4403" /><Relationship Type="http://schemas.openxmlformats.org/officeDocument/2006/relationships/slide" Target="/ppt/slides/slide14.xml" Id="Rf9d3ae6949304ea1" /><Relationship Type="http://schemas.openxmlformats.org/officeDocument/2006/relationships/slide" Target="/ppt/slides/slide15.xml" Id="R273663b7fced42b6" /><Relationship Type="http://schemas.openxmlformats.org/officeDocument/2006/relationships/slide" Target="/ppt/slides/slide16.xml" Id="R1b6349df90f045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312ee6c1d546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emantic Analyzer Review Theme">
      <a:dk1>
        <a:srgbClr val="000000"/>
      </a:dk1>
      <a:lt1>
        <a:srgbClr val="FFFFFF"/>
      </a:lt1>
      <a:dk2>
        <a:srgbClr val="262557"/>
      </a:dk2>
      <a:lt2>
        <a:srgbClr val="E9EAF1"/>
      </a:lt2>
      <a:accent1>
        <a:srgbClr val="4A66AC"/>
      </a:accent1>
      <a:accent2>
        <a:srgbClr val="5AA2AE"/>
      </a:accent2>
      <a:accent3>
        <a:srgbClr val="6077B4"/>
      </a:accent3>
      <a:accent4>
        <a:srgbClr val="8B98C2"/>
      </a:accent4>
      <a:accent5>
        <a:srgbClr val="9FA8CC"/>
      </a:accent5>
      <a:accent6>
        <a:srgbClr val="408385"/>
      </a:accent6>
      <a:hlink>
        <a:srgbClr val="4A66AC"/>
      </a:hlink>
      <a:folHlink>
        <a:srgbClr val="5AA2AE"/>
      </a:folHlink>
    </a:clrScheme>
    <a:fontScheme name="">
      <a:majorFont>
        <a:latin typeface="Univers Condensed Light"/>
        <a:ea typeface=""/>
        <a:cs typeface=""/>
      </a:majorFont>
      <a:minorFont>
        <a:latin typeface="Univers Condensed Light"/>
        <a:ea typeface=""/>
        <a:cs typeface=""/>
      </a:minorFont>
    </a:fontScheme>
    <a:fmtScheme name="Semantic Analyzer Review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10e4d65aa442c9" /><Relationship Type="http://schemas.openxmlformats.org/officeDocument/2006/relationships/notesMaster" Target="/ppt/notesMasters/notesMaster1.xml" Id="Rd1751d036a5f49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0ffb8a7e234a38" /><Relationship Type="http://schemas.openxmlformats.org/officeDocument/2006/relationships/notesMaster" Target="/ppt/notesMasters/notesMaster1.xml" Id="Re0dc30be3b2540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3501aa9b224483" /><Relationship Type="http://schemas.openxmlformats.org/officeDocument/2006/relationships/notesMaster" Target="/ppt/notesMasters/notesMaster1.xml" Id="Ra06764224cca43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b073c82dbc4361" /><Relationship Type="http://schemas.openxmlformats.org/officeDocument/2006/relationships/notesMaster" Target="/ppt/notesMasters/notesMaster1.xml" Id="R9f2dcbedbd0843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e39e48c39c49ff" /><Relationship Type="http://schemas.openxmlformats.org/officeDocument/2006/relationships/notesMaster" Target="/ppt/notesMasters/notesMaster1.xml" Id="R45f8dfc034d043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70155490a04f49" /><Relationship Type="http://schemas.openxmlformats.org/officeDocument/2006/relationships/notesMaster" Target="/ppt/notesMasters/notesMaster1.xml" Id="Re00b19bd44e04c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b99f42b3674a8a" /><Relationship Type="http://schemas.openxmlformats.org/officeDocument/2006/relationships/notesMaster" Target="/ppt/notesMasters/notesMaster1.xml" Id="Racfe2d1ce2654b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85dcba17da4035" /><Relationship Type="http://schemas.openxmlformats.org/officeDocument/2006/relationships/notesMaster" Target="/ppt/notesMasters/notesMaster1.xml" Id="R5f9e1aadffae47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81ea31038842b4" /><Relationship Type="http://schemas.openxmlformats.org/officeDocument/2006/relationships/notesMaster" Target="/ppt/notesMasters/notesMaster1.xml" Id="Rac81b2fbafa848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acc5eeb6394edd" /><Relationship Type="http://schemas.openxmlformats.org/officeDocument/2006/relationships/notesMaster" Target="/ppt/notesMasters/notesMaster1.xml" Id="R37c598b065d741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9bf4852337432d" /><Relationship Type="http://schemas.openxmlformats.org/officeDocument/2006/relationships/notesMaster" Target="/ppt/notesMasters/notesMaster1.xml" Id="Rc29194ce0ae149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a53cf623dc4db4" /><Relationship Type="http://schemas.openxmlformats.org/officeDocument/2006/relationships/notesMaster" Target="/ppt/notesMasters/notesMaster1.xml" Id="R3274e9b58eb84a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b786e0ccd94e08" /><Relationship Type="http://schemas.openxmlformats.org/officeDocument/2006/relationships/notesMaster" Target="/ppt/notesMasters/notesMaster1.xml" Id="Rd76f3b25bf6e44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9044f749c344bf" /><Relationship Type="http://schemas.openxmlformats.org/officeDocument/2006/relationships/notesMaster" Target="/ppt/notesMasters/notesMaster1.xml" Id="Ra7dc536de03147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b966cf469b4e80" /><Relationship Type="http://schemas.openxmlformats.org/officeDocument/2006/relationships/notesMaster" Target="/ppt/notesMasters/notesMaster1.xml" Id="Rc0756a616b6c43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5c07c81b154c0b" /><Relationship Type="http://schemas.openxmlformats.org/officeDocument/2006/relationships/notesMaster" Target="/ppt/notesMasters/notesMaster1.xml" Id="R61edf5023c6340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lexer supports both milestones. Review II uses src/main_2.cpp and build/semantic_demo.exe. The final implementation uses later/src/main_3.cpp and build/semantic_final.exe. Final features remain separate from the 75%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Semantic analysis consumes the AST and consults the scoped symbol table. Lexical errors prevent parsing, and syntax errors prevent semantic analysis. The 75% --all option displays tokens, the basic AST, and the symbol hierarchy. Final sources are separate in later/src.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basic scalar function checks in src/SemanticAnalyzer.cpp. Review II does not claim missing-return path analysis, forward calls, mutual recursion, or arrays. Final sources in later/src implement those additional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75% diagnostics include phase, line, column, source excerpt, caret, and a reason. Correction suggestions are reserved for the final implementation in later/src. Lexical and syntax errors stop later phases. Independent semantic errors can appear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all eight files in tests/review_2_tests with build/semantic_demo.exe. Expected semantic error counts in test order: 0, 0, 0, 1, 1, 3, 2, 1. Valid files return exit code 0. Invalid files return exit code 1. These focused demonstrations cover the core Review II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output excerpts from: .\build\semantic_demo.exe --all .\tests\review_2_tests\test1_valid_basic.txt. Left: the beginning of the token list. Right: the beginning of the basic AST, showing multiplication nested inside addition, followed by the successful analysis result. Full output also includes remaining AST nodes and symbols.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AST excerpts from: .\build\semantic_demo.exe --dump-ast .\tests\review_2_tests\test3_valid_functions.txt. Left shows the int add definition. Right shows main and its scalar calls. Definitions precede their calls. The output is a basic AST without inferred expression type annotations. Full run returns 0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symbol table values from: .\build\semantic_demo.exe --dump-symbols .\tests\review_2_tests\test2_valid_scopes.txt. The native table condenses the ASCII console display while preserving all five declarations, scope names, types, kinds, and positions. The inner value shadows the function value, which shadows the global value. The run passes with 0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output excerpts from: .\build\semantic_demo.exe .\tests\review_2_tests\test6_error_type_mismatch.txt. The slide shows the first two errors. The full output includes a third arithmetic error at line 6, column 23: operator + receives int and bool operands. Long reasons wrap for readability without changing their wording. No correction suggestions appear in the 75% output. Exit code is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Already implemented reserved features live in later/src and use later/src/main_3.cpp. Run .\build\semantic_final.exe --all .\later\tests\semantic\test3_valid_functions.txt from semantic-analyzer. The planned uninitialized-use, unused-variable, unreachable-code, and constant-array-bounds checks are not implemented. The separate drivers do not use a --final 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f67afcd59c42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42d79ee2674a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b80bccb4a64d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b427e4ac5a45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34ffe384c94a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7d29a2eb774b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915E6F-15AA-4F09-B58E-D52BA9B739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5924FB16-FCDE-4166-8DFF-5DEDC06921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BC34B6-8161-44BE-A5D5-2E833346D1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11CC5A-34CA-4EB0-801E-467D51C245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9A49CDD-4DA5-41EA-B4AD-759B25D0DC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147B32-985A-436A-AB84-18F9CB2434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16BBE63-1A44-434C-9EB2-9F5785D332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461DD6E1-21E7-428A-B609-3FF21C997B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2F459C-7300-4B00-9E7F-66901E3711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0CAE565-5F76-4119-825A-F7140D0FD8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e396870b954d56" /><Relationship Type="http://schemas.openxmlformats.org/officeDocument/2006/relationships/slideLayout" Target="/ppt/slideLayouts/slideLayout1.xml" Id="R9d248a08d40f454f" /><Relationship Type="http://schemas.openxmlformats.org/officeDocument/2006/relationships/slideLayout" Target="/ppt/slideLayouts/slideLayout2.xml" Id="R940a38f5d18f473e" /><Relationship Type="http://schemas.openxmlformats.org/officeDocument/2006/relationships/slideLayout" Target="/ppt/slideLayouts/slideLayout3.xml" Id="Ra8f7bddb5c294404" /><Relationship Type="http://schemas.openxmlformats.org/officeDocument/2006/relationships/slideLayout" Target="/ppt/slideLayouts/slideLayout4.xml" Id="R37d337d699ba4694" /><Relationship Type="http://schemas.openxmlformats.org/officeDocument/2006/relationships/slideLayout" Target="/ppt/slideLayouts/slideLayout5.xml" Id="Rf1a5005819274eed" /><Relationship Type="http://schemas.openxmlformats.org/officeDocument/2006/relationships/slideLayout" Target="/ppt/slideLayouts/slideLayout6.xml" Id="R5157f952d5c94b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248a08d40f454f"/>
    <p:sldLayoutId xmlns:r="http://schemas.openxmlformats.org/officeDocument/2006/relationships" id="2147483650" r:id="R940a38f5d18f473e"/>
    <p:sldLayoutId xmlns:r="http://schemas.openxmlformats.org/officeDocument/2006/relationships" id="2147483651" r:id="Ra8f7bddb5c294404"/>
    <p:sldLayoutId xmlns:r="http://schemas.openxmlformats.org/officeDocument/2006/relationships" id="2147483652" r:id="R37d337d699ba4694"/>
    <p:sldLayoutId xmlns:r="http://schemas.openxmlformats.org/officeDocument/2006/relationships" id="2147483653" r:id="Rf1a5005819274eed"/>
    <p:sldLayoutId xmlns:r="http://schemas.openxmlformats.org/officeDocument/2006/relationships" id="2147483654" r:id="R5157f952d5c94b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emantic Analyzer Review Theme">
      <a:dk1>
        <a:srgbClr val="000000"/>
      </a:dk1>
      <a:lt1>
        <a:srgbClr val="FFFFFF"/>
      </a:lt1>
      <a:dk2>
        <a:srgbClr val="262557"/>
      </a:dk2>
      <a:lt2>
        <a:srgbClr val="E9EAF1"/>
      </a:lt2>
      <a:accent1>
        <a:srgbClr val="4A66AC"/>
      </a:accent1>
      <a:accent2>
        <a:srgbClr val="5AA2AE"/>
      </a:accent2>
      <a:accent3>
        <a:srgbClr val="6077B4"/>
      </a:accent3>
      <a:accent4>
        <a:srgbClr val="8B98C2"/>
      </a:accent4>
      <a:accent5>
        <a:srgbClr val="9FA8CC"/>
      </a:accent5>
      <a:accent6>
        <a:srgbClr val="408385"/>
      </a:accent6>
      <a:hlink>
        <a:srgbClr val="4A66AC"/>
      </a:hlink>
      <a:folHlink>
        <a:srgbClr val="5AA2AE"/>
      </a:folHlink>
    </a:clrScheme>
    <a:fontScheme name="">
      <a:majorFont>
        <a:latin typeface="Univers Condensed Light"/>
        <a:ea typeface=""/>
        <a:cs typeface=""/>
      </a:majorFont>
      <a:minorFont>
        <a:latin typeface="Univers Condensed Light"/>
        <a:ea typeface=""/>
        <a:cs typeface=""/>
      </a:minorFont>
    </a:fontScheme>
    <a:fmtScheme name="Semantic Analyzer Review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a4fb8a7c514d09" /><Relationship Type="http://schemas.openxmlformats.org/officeDocument/2006/relationships/notesSlide" Target="/ppt/notesSlides/notesSlide1.xml" Id="Rb03259a3290c47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35fbffd15a405c" /><Relationship Type="http://schemas.openxmlformats.org/officeDocument/2006/relationships/notesSlide" Target="/ppt/notesSlides/notesSlide2.xml" Id="R180d38a9230248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06f9e87dfc4daa" /><Relationship Type="http://schemas.openxmlformats.org/officeDocument/2006/relationships/notesSlide" Target="/ppt/notesSlides/notesSlide3.xml" Id="R755d095168ba43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18a16f999b4e0b" /><Relationship Type="http://schemas.openxmlformats.org/officeDocument/2006/relationships/notesSlide" Target="/ppt/notesSlides/notesSlide4.xml" Id="R505775ad6ad947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a4eafd7573430b" /><Relationship Type="http://schemas.openxmlformats.org/officeDocument/2006/relationships/notesSlide" Target="/ppt/notesSlides/notesSlide5.xml" Id="Rdfeee161460c4d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dcb4cf94d4492a" /><Relationship Type="http://schemas.openxmlformats.org/officeDocument/2006/relationships/notesSlide" Target="/ppt/notesSlides/notesSlide6.xml" Id="Rc5c979e2ba6449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ba41e36c734c5a" /><Relationship Type="http://schemas.openxmlformats.org/officeDocument/2006/relationships/notesSlide" Target="/ppt/notesSlides/notesSlide7.xml" Id="R071b7286a4c942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77d0febdc5453c" /><Relationship Type="http://schemas.openxmlformats.org/officeDocument/2006/relationships/notesSlide" Target="/ppt/notesSlides/notesSlide8.xml" Id="Rf39c7955c13340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e04d3f0c07b4273" /><Relationship Type="http://schemas.openxmlformats.org/officeDocument/2006/relationships/notesSlide" Target="/ppt/notesSlides/notesSlide9.xml" Id="R588d66eabaf149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a218c7d1bd4b47" /><Relationship Type="http://schemas.openxmlformats.org/officeDocument/2006/relationships/notesSlide" Target="/ppt/notesSlides/notesSlide10.xml" Id="R7412eb3bb11c4a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36dc9cc93e4c9f" /><Relationship Type="http://schemas.openxmlformats.org/officeDocument/2006/relationships/notesSlide" Target="/ppt/notesSlides/notesSlide11.xml" Id="R6ed55c62636944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fdab11def849af" /><Relationship Type="http://schemas.openxmlformats.org/officeDocument/2006/relationships/notesSlide" Target="/ppt/notesSlides/notesSlide12.xml" Id="R9cdffd37e1c34a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6dc0609105b44bf" /><Relationship Type="http://schemas.openxmlformats.org/officeDocument/2006/relationships/notesSlide" Target="/ppt/notesSlides/notesSlide13.xml" Id="R97deaaaa81124e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d7cbe08f39d4ef6" /><Relationship Type="http://schemas.openxmlformats.org/officeDocument/2006/relationships/notesSlide" Target="/ppt/notesSlides/notesSlide14.xml" Id="R822d3e5474af44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610af1d519449dc" /><Relationship Type="http://schemas.openxmlformats.org/officeDocument/2006/relationships/notesSlide" Target="/ppt/notesSlides/notesSlide15.xml" Id="R36916fb8306a4e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a197dac920d4c30" /><Relationship Type="http://schemas.openxmlformats.org/officeDocument/2006/relationships/notesSlide" Target="/ppt/notesSlides/notesSlide16.xml" Id="Rb1a3e0c3a60741f4" /></Relationships>
</file>

<file path=ppt/slides/slide1.xml><?xml version="1.0" encoding="utf-8"?>
<p:sld xmlns:p="http://schemas.openxmlformats.org/presentationml/2006/main">
  <p:cSld>
    <p:bg>
      <p:bgPr>
        <a:solidFill xmlns:a="http://schemas.openxmlformats.org/drawingml/2006/main">
          <a:srgbClr val="ACCBF9"/>
        </a:solidFill>
      </p:bgPr>
    </p:bg>
    <p:spTree>
      <p:nvGrpSpPr>
        <p:cNvPr id="1" name=""/>
        <p:cNvGrpSpPr/>
        <p:nvPr/>
      </p:nvGrpSpPr>
      <p:grpSpPr>
        <a:xfrm xmlns:a="http://schemas.openxmlformats.org/drawingml/2006/main"/>
      </p:grpSpPr>
      <p:sp>
        <p:nvSpPr>
          <p:cNvPr id="10" name="Cover title semantic">
            <a:extLst xmlns:a="http://schemas.openxmlformats.org/drawingml/2006/main">
              <a:ext uri="{FF2B5EF4-FFF2-40B4-BE49-F238E27FC236}">
                <a16:creationId xmlns:a16="http://schemas.microsoft.com/office/drawing/2014/main" id="{53B049FE-DAA8-4B15-9265-29485AAF3B0F}"/>
              </a:ext>
            </a:extLst>
          </p:cNvPr>
          <p:cNvSpPr>
            <a:spLocks xmlns:a="http://schemas.openxmlformats.org/drawingml/2006/main" noGrp="1"/>
          </p:cNvSpPr>
          <p:nvPr/>
        </p:nvSpPr>
        <p:spPr>
          <a:xfrm xmlns:a="http://schemas.openxmlformats.org/drawingml/2006/main">
            <a:off x="740664" y="333375"/>
            <a:ext cx="6477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0" b="0">
                <a:solidFill>
                  <a:srgbClr val="4A66AC"/>
                </a:solidFill>
                <a:latin typeface="Oswald SemiBold"/>
                <a:ea typeface="Oswald SemiBold"/>
                <a:cs typeface="Oswald SemiBold"/>
              </a:defRPr>
            </a:defPPr>
          </a:lstStyle>
          <a:p xmlns:a="http://schemas.openxmlformats.org/drawingml/2006/main">
            <a:pPr algn="l">
              <a:buNone/>
              <a:defRPr sz="9600" b="0">
                <a:solidFill>
                  <a:srgbClr val="4A66AC"/>
                </a:solidFill>
                <a:latin typeface="Oswald SemiBold"/>
                <a:ea typeface="Oswald SemiBold"/>
                <a:cs typeface="Oswald SemiBold"/>
              </a:defRPr>
            </a:pPr>
            <a:r>
              <a:rPr sz="9600" b="0">
                <a:solidFill>
                  <a:srgbClr val="4A66AC"/>
                </a:solidFill>
                <a:latin typeface="Oswald SemiBold"/>
                <a:ea typeface="Oswald SemiBold"/>
                <a:cs typeface="Oswald SemiBold"/>
              </a:rPr>
              <a:t>SEMANTIC</a:t>
            </a:r>
          </a:p>
        </p:txBody>
      </p:sp>
      <p:sp>
        <p:nvSpPr>
          <p:cNvPr id="2" name="Cover title analyzer">
            <a:extLst xmlns:a="http://schemas.openxmlformats.org/drawingml/2006/main">
              <a:ext uri="{FF2B5EF4-FFF2-40B4-BE49-F238E27FC236}">
                <a16:creationId xmlns:a16="http://schemas.microsoft.com/office/drawing/2014/main" id="{1305B997-1FD3-4297-B0F1-727158582590}"/>
              </a:ext>
            </a:extLst>
          </p:cNvPr>
          <p:cNvSpPr>
            <a:spLocks xmlns:a="http://schemas.openxmlformats.org/drawingml/2006/main" noGrp="1"/>
          </p:cNvSpPr>
          <p:nvPr/>
        </p:nvSpPr>
        <p:spPr>
          <a:xfrm xmlns:a="http://schemas.openxmlformats.org/drawingml/2006/main">
            <a:off x="740664" y="1503045"/>
            <a:ext cx="6477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0" b="0">
                <a:solidFill>
                  <a:srgbClr val="4A66AC"/>
                </a:solidFill>
                <a:latin typeface="Oswald SemiBold"/>
                <a:ea typeface="Oswald SemiBold"/>
                <a:cs typeface="Oswald SemiBold"/>
              </a:defRPr>
            </a:defPPr>
          </a:lstStyle>
          <a:p xmlns:a="http://schemas.openxmlformats.org/drawingml/2006/main">
            <a:pPr algn="l">
              <a:buNone/>
              <a:defRPr sz="9600" b="0">
                <a:solidFill>
                  <a:srgbClr val="4A66AC"/>
                </a:solidFill>
                <a:latin typeface="Oswald SemiBold"/>
                <a:ea typeface="Oswald SemiBold"/>
                <a:cs typeface="Oswald SemiBold"/>
              </a:defRPr>
            </a:pPr>
            <a:r>
              <a:rPr sz="9600" b="0">
                <a:solidFill>
                  <a:srgbClr val="4A66AC"/>
                </a:solidFill>
                <a:latin typeface="Oswald SemiBold"/>
                <a:ea typeface="Oswald SemiBold"/>
                <a:cs typeface="Oswald SemiBold"/>
              </a:rPr>
              <a:t>ANALYZER</a:t>
            </a:r>
          </a:p>
        </p:txBody>
      </p:sp>
      <p:sp>
        <p:nvSpPr>
          <p:cNvPr id="3" name="Review title">
            <a:extLst xmlns:a="http://schemas.openxmlformats.org/drawingml/2006/main">
              <a:ext uri="{FF2B5EF4-FFF2-40B4-BE49-F238E27FC236}">
                <a16:creationId xmlns:a16="http://schemas.microsoft.com/office/drawing/2014/main" id="{382CEC7E-5BB9-49EF-8DD6-876A0C8027DC}"/>
              </a:ext>
            </a:extLst>
          </p:cNvPr>
          <p:cNvSpPr>
            <a:spLocks xmlns:a="http://schemas.openxmlformats.org/drawingml/2006/main" noGrp="1"/>
          </p:cNvSpPr>
          <p:nvPr/>
        </p:nvSpPr>
        <p:spPr>
          <a:xfrm xmlns:a="http://schemas.openxmlformats.org/drawingml/2006/main">
            <a:off x="7781925" y="800100"/>
            <a:ext cx="3095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4404" b="0">
                <a:solidFill>
                  <a:srgbClr val="4A66AC"/>
                </a:solidFill>
                <a:latin typeface="Oswald SemiBold"/>
                <a:ea typeface="Oswald SemiBold"/>
                <a:cs typeface="Oswald SemiBold"/>
              </a:defRPr>
            </a:defPPr>
          </a:lstStyle>
          <a:p xmlns:a="http://schemas.openxmlformats.org/drawingml/2006/main">
            <a:pPr algn="r">
              <a:buNone/>
              <a:defRPr sz="4404" b="0">
                <a:solidFill>
                  <a:srgbClr val="4A66AC"/>
                </a:solidFill>
                <a:latin typeface="Oswald SemiBold"/>
                <a:ea typeface="Oswald SemiBold"/>
                <a:cs typeface="Oswald SemiBold"/>
              </a:defRPr>
            </a:pPr>
            <a:r>
              <a:rPr sz="4404" b="0">
                <a:solidFill>
                  <a:srgbClr val="4A66AC"/>
                </a:solidFill>
                <a:latin typeface="Oswald SemiBold"/>
                <a:ea typeface="Oswald SemiBold"/>
                <a:cs typeface="Oswald SemiBold"/>
              </a:rPr>
              <a:t>REVIEW II</a:t>
            </a:r>
          </a:p>
        </p:txBody>
      </p:sp>
      <p:sp>
        <p:nvSpPr>
          <p:cNvPr id="4" name="Project description line one">
            <a:extLst xmlns:a="http://schemas.openxmlformats.org/drawingml/2006/main">
              <a:ext uri="{FF2B5EF4-FFF2-40B4-BE49-F238E27FC236}">
                <a16:creationId xmlns:a16="http://schemas.microsoft.com/office/drawing/2014/main" id="{EE84D84D-59D4-47F3-AA50-F02B3AAFD3D8}"/>
              </a:ext>
            </a:extLst>
          </p:cNvPr>
          <p:cNvSpPr>
            <a:spLocks xmlns:a="http://schemas.openxmlformats.org/drawingml/2006/main" noGrp="1"/>
          </p:cNvSpPr>
          <p:nvPr/>
        </p:nvSpPr>
        <p:spPr>
          <a:xfrm xmlns:a="http://schemas.openxmlformats.org/drawingml/2006/main">
            <a:off x="1099661" y="3162300"/>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04" b="0">
                <a:solidFill>
                  <a:srgbClr val="000000"/>
                </a:solidFill>
                <a:latin typeface="Univers Condensed Light"/>
                <a:ea typeface="Univers Condensed Light"/>
                <a:cs typeface="Univers Condensed Light"/>
              </a:defRPr>
            </a:defPPr>
          </a:lstStyle>
          <a:p xmlns:a="http://schemas.openxmlformats.org/drawingml/2006/main">
            <a:pPr algn="l">
              <a:buNone/>
              <a:defRPr sz="2004" b="0">
                <a:solidFill>
                  <a:srgbClr val="000000"/>
                </a:solidFill>
                <a:latin typeface="Univers Condensed Light"/>
                <a:ea typeface="Univers Condensed Light"/>
                <a:cs typeface="Univers Condensed Light"/>
              </a:defRPr>
            </a:pPr>
            <a:r>
              <a:rPr sz="2004" b="0">
                <a:solidFill>
                  <a:srgbClr val="000000"/>
                </a:solidFill>
                <a:latin typeface="Univers Condensed Light"/>
                <a:ea typeface="Univers Condensed Light"/>
                <a:cs typeface="Univers Condensed Light"/>
              </a:rPr>
              <a:t>A compiler front end with parsing, scope resolution, static type checking,</a:t>
            </a:r>
          </a:p>
        </p:txBody>
      </p:sp>
      <p:sp>
        <p:nvSpPr>
          <p:cNvPr id="5" name="Project description line two">
            <a:extLst xmlns:a="http://schemas.openxmlformats.org/drawingml/2006/main">
              <a:ext uri="{FF2B5EF4-FFF2-40B4-BE49-F238E27FC236}">
                <a16:creationId xmlns:a16="http://schemas.microsoft.com/office/drawing/2014/main" id="{9F0FB49A-6F44-46F0-A2D7-65A4647B3945}"/>
              </a:ext>
            </a:extLst>
          </p:cNvPr>
          <p:cNvSpPr>
            <a:spLocks xmlns:a="http://schemas.openxmlformats.org/drawingml/2006/main" noGrp="1"/>
          </p:cNvSpPr>
          <p:nvPr/>
        </p:nvSpPr>
        <p:spPr>
          <a:xfrm xmlns:a="http://schemas.openxmlformats.org/drawingml/2006/main">
            <a:off x="1099661" y="3467100"/>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04" b="0">
                <a:solidFill>
                  <a:srgbClr val="000000"/>
                </a:solidFill>
                <a:latin typeface="Univers Condensed Light"/>
                <a:ea typeface="Univers Condensed Light"/>
                <a:cs typeface="Univers Condensed Light"/>
              </a:defRPr>
            </a:defPPr>
          </a:lstStyle>
          <a:p xmlns:a="http://schemas.openxmlformats.org/drawingml/2006/main">
            <a:pPr algn="l">
              <a:buNone/>
              <a:defRPr sz="2004" b="0">
                <a:solidFill>
                  <a:srgbClr val="000000"/>
                </a:solidFill>
                <a:latin typeface="Univers Condensed Light"/>
                <a:ea typeface="Univers Condensed Light"/>
                <a:cs typeface="Univers Condensed Light"/>
              </a:defRPr>
            </a:pPr>
            <a:r>
              <a:rPr sz="2004" b="0">
                <a:solidFill>
                  <a:srgbClr val="000000"/>
                </a:solidFill>
                <a:latin typeface="Univers Condensed Light"/>
                <a:ea typeface="Univers Condensed Light"/>
                <a:cs typeface="Univers Condensed Light"/>
              </a:rPr>
              <a:t>basic function checks, and explained errors. 75% completion milestone.</a:t>
            </a:r>
          </a:p>
        </p:txBody>
      </p:sp>
      <p:sp>
        <p:nvSpPr>
          <p:cNvPr id="6" name="Author 1">
            <a:extLst xmlns:a="http://schemas.openxmlformats.org/drawingml/2006/main">
              <a:ext uri="{FF2B5EF4-FFF2-40B4-BE49-F238E27FC236}">
                <a16:creationId xmlns:a16="http://schemas.microsoft.com/office/drawing/2014/main" id="{F4E311EC-62C2-490E-80B5-DAD10D64FC9E}"/>
              </a:ext>
            </a:extLst>
          </p:cNvPr>
          <p:cNvSpPr>
            <a:spLocks xmlns:a="http://schemas.openxmlformats.org/drawingml/2006/main" noGrp="1"/>
          </p:cNvSpPr>
          <p:nvPr/>
        </p:nvSpPr>
        <p:spPr>
          <a:xfrm xmlns:a="http://schemas.openxmlformats.org/drawingml/2006/main">
            <a:off x="4810125" y="4495800"/>
            <a:ext cx="5819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596" b="0">
                <a:solidFill>
                  <a:srgbClr val="408385"/>
                </a:solidFill>
                <a:latin typeface="Aptos"/>
                <a:ea typeface="Aptos"/>
                <a:cs typeface="Aptos"/>
              </a:defRPr>
            </a:defPPr>
          </a:lstStyle>
          <a:p xmlns:a="http://schemas.openxmlformats.org/drawingml/2006/main">
            <a:pPr algn="r">
              <a:buNone/>
              <a:defRPr sz="1596" b="0">
                <a:solidFill>
                  <a:srgbClr val="408385"/>
                </a:solidFill>
                <a:latin typeface="Aptos"/>
                <a:ea typeface="Aptos"/>
                <a:cs typeface="Aptos"/>
              </a:defRPr>
            </a:pPr>
            <a:r>
              <a:rPr sz="1596" b="0">
                <a:solidFill>
                  <a:srgbClr val="408385"/>
                </a:solidFill>
                <a:latin typeface="Aptos"/>
                <a:ea typeface="Aptos"/>
                <a:cs typeface="Aptos"/>
              </a:rPr>
              <a:t>SHREYAN KAUSHIK (24BCE2049)</a:t>
            </a:r>
          </a:p>
        </p:txBody>
      </p:sp>
      <p:sp>
        <p:nvSpPr>
          <p:cNvPr id="7" name="Author 2">
            <a:extLst xmlns:a="http://schemas.openxmlformats.org/drawingml/2006/main">
              <a:ext uri="{FF2B5EF4-FFF2-40B4-BE49-F238E27FC236}">
                <a16:creationId xmlns:a16="http://schemas.microsoft.com/office/drawing/2014/main" id="{0B0A086F-6923-4036-B192-32FBAC410985}"/>
              </a:ext>
            </a:extLst>
          </p:cNvPr>
          <p:cNvSpPr>
            <a:spLocks xmlns:a="http://schemas.openxmlformats.org/drawingml/2006/main" noGrp="1"/>
          </p:cNvSpPr>
          <p:nvPr/>
        </p:nvSpPr>
        <p:spPr>
          <a:xfrm xmlns:a="http://schemas.openxmlformats.org/drawingml/2006/main">
            <a:off x="4810125" y="4914900"/>
            <a:ext cx="5819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596" b="0">
                <a:solidFill>
                  <a:srgbClr val="408385"/>
                </a:solidFill>
                <a:latin typeface="Aptos"/>
                <a:ea typeface="Aptos"/>
                <a:cs typeface="Aptos"/>
              </a:defRPr>
            </a:defPPr>
          </a:lstStyle>
          <a:p xmlns:a="http://schemas.openxmlformats.org/drawingml/2006/main">
            <a:pPr algn="r">
              <a:buNone/>
              <a:defRPr sz="1596" b="0">
                <a:solidFill>
                  <a:srgbClr val="408385"/>
                </a:solidFill>
                <a:latin typeface="Aptos"/>
                <a:ea typeface="Aptos"/>
                <a:cs typeface="Aptos"/>
              </a:defRPr>
            </a:pPr>
            <a:r>
              <a:rPr sz="1596" b="0">
                <a:solidFill>
                  <a:srgbClr val="408385"/>
                </a:solidFill>
                <a:latin typeface="Aptos"/>
                <a:ea typeface="Aptos"/>
                <a:cs typeface="Aptos"/>
              </a:rPr>
              <a:t>VAIBHAV BAKSHI (24BCE2052)</a:t>
            </a:r>
          </a:p>
        </p:txBody>
      </p:sp>
      <p:sp>
        <p:nvSpPr>
          <p:cNvPr id="8" name="Author 3">
            <a:extLst xmlns:a="http://schemas.openxmlformats.org/drawingml/2006/main">
              <a:ext uri="{FF2B5EF4-FFF2-40B4-BE49-F238E27FC236}">
                <a16:creationId xmlns:a16="http://schemas.microsoft.com/office/drawing/2014/main" id="{D6AF450C-D0EF-42AE-924E-B987CDE5CECD}"/>
              </a:ext>
            </a:extLst>
          </p:cNvPr>
          <p:cNvSpPr>
            <a:spLocks xmlns:a="http://schemas.openxmlformats.org/drawingml/2006/main" noGrp="1"/>
          </p:cNvSpPr>
          <p:nvPr/>
        </p:nvSpPr>
        <p:spPr>
          <a:xfrm xmlns:a="http://schemas.openxmlformats.org/drawingml/2006/main">
            <a:off x="4810125" y="5334000"/>
            <a:ext cx="5819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596" b="0">
                <a:solidFill>
                  <a:srgbClr val="408385"/>
                </a:solidFill>
                <a:latin typeface="Aptos"/>
                <a:ea typeface="Aptos"/>
                <a:cs typeface="Aptos"/>
              </a:defRPr>
            </a:defPPr>
          </a:lstStyle>
          <a:p xmlns:a="http://schemas.openxmlformats.org/drawingml/2006/main">
            <a:pPr algn="r">
              <a:buNone/>
              <a:defRPr sz="1596" b="0">
                <a:solidFill>
                  <a:srgbClr val="408385"/>
                </a:solidFill>
                <a:latin typeface="Aptos"/>
                <a:ea typeface="Aptos"/>
                <a:cs typeface="Aptos"/>
              </a:defRPr>
            </a:pPr>
            <a:r>
              <a:rPr sz="1596" b="0">
                <a:solidFill>
                  <a:srgbClr val="408385"/>
                </a:solidFill>
                <a:latin typeface="Aptos"/>
                <a:ea typeface="Aptos"/>
                <a:cs typeface="Aptos"/>
              </a:rPr>
              <a:t>KARELIYA MEET BINDESHKUMAR (24BCE2053)</a:t>
            </a:r>
          </a:p>
        </p:txBody>
      </p:sp>
      <p:sp>
        <p:nvSpPr>
          <p:cNvPr id="9" name="Cover vertical rule">
            <a:extLst xmlns:a="http://schemas.openxmlformats.org/drawingml/2006/main">
              <a:ext uri="{FF2B5EF4-FFF2-40B4-BE49-F238E27FC236}">
                <a16:creationId xmlns:a16="http://schemas.microsoft.com/office/drawing/2014/main" id="{3B048C7C-BA77-4A2D-90BF-CB5BB0F34327}"/>
              </a:ext>
            </a:extLst>
          </p:cNvPr>
          <p:cNvSpPr>
            <a:spLocks xmlns:a="http://schemas.openxmlformats.org/drawingml/2006/main" noGrp="1"/>
          </p:cNvSpPr>
          <p:nvPr/>
        </p:nvSpPr>
        <p:spPr>
          <a:xfrm xmlns:a="http://schemas.openxmlformats.org/drawingml/2006/main">
            <a:off x="11506105" y="1038225"/>
            <a:ext cx="5239" cy="4791075"/>
          </a:xfrm>
          <a:prstGeom xmlns:a="http://schemas.openxmlformats.org/drawingml/2006/main" prst="rect">
            <a:avLst/>
          </a:prstGeom>
          <a:solidFill xmlns:a="http://schemas.openxmlformats.org/drawingml/2006/main">
            <a:srgbClr val="26255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865233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INDEX">
            <a:extLst xmlns:a="http://schemas.openxmlformats.org/drawingml/2006/main">
              <a:ext uri="{FF2B5EF4-FFF2-40B4-BE49-F238E27FC236}">
                <a16:creationId xmlns:a16="http://schemas.microsoft.com/office/drawing/2014/main" id="{917B1277-E0E2-4322-80CB-4FC2C6BC7207}"/>
              </a:ext>
            </a:extLst>
          </p:cNvPr>
          <p:cNvSpPr>
            <a:spLocks xmlns:a="http://schemas.openxmlformats.org/drawingml/2006/main" noGrp="1"/>
          </p:cNvSpPr>
          <p:nvPr/>
        </p:nvSpPr>
        <p:spPr>
          <a:xfrm xmlns:a="http://schemas.openxmlformats.org/drawingml/2006/main">
            <a:off x="694944" y="114300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INDEX</a:t>
            </a:r>
          </a:p>
        </p:txBody>
      </p:sp>
      <p:sp>
        <p:nvSpPr>
          <p:cNvPr id="2" name="Template footer rule">
            <a:extLst xmlns:a="http://schemas.openxmlformats.org/drawingml/2006/main">
              <a:ext uri="{FF2B5EF4-FFF2-40B4-BE49-F238E27FC236}">
                <a16:creationId xmlns:a16="http://schemas.microsoft.com/office/drawing/2014/main" id="{A134FAA9-3A21-45F4-BD0B-65303A21E232}"/>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Editable bullet list">
            <a:extLst xmlns:a="http://schemas.openxmlformats.org/drawingml/2006/main">
              <a:ext uri="{FF2B5EF4-FFF2-40B4-BE49-F238E27FC236}">
                <a16:creationId xmlns:a16="http://schemas.microsoft.com/office/drawing/2014/main" id="{D631D3D0-1266-4118-997D-9DE4752BC371}"/>
              </a:ext>
            </a:extLst>
          </p:cNvPr>
          <p:cNvSpPr>
            <a:spLocks xmlns:a="http://schemas.openxmlformats.org/drawingml/2006/main" noGrp="1"/>
          </p:cNvSpPr>
          <p:nvPr/>
        </p:nvSpPr>
        <p:spPr>
          <a:xfrm xmlns:a="http://schemas.openxmlformats.org/drawingml/2006/main">
            <a:off x="695325" y="2190750"/>
            <a:ext cx="10477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marL="228600" indent="-165100" algn="l">
              <a:spcAft>
                <a:spcPts val="147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Progress Since Review 1</a:t>
            </a:r>
          </a:p>
          <a:p xmlns:a="http://schemas.openxmlformats.org/drawingml/2006/main">
            <a:pPr marL="228600" indent="-165100" algn="l">
              <a:spcAft>
                <a:spcPts val="147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Integrated Project Architecture</a:t>
            </a:r>
          </a:p>
          <a:p xmlns:a="http://schemas.openxmlformats.org/drawingml/2006/main">
            <a:pPr marL="228600" indent="-165100" algn="l">
              <a:spcAft>
                <a:spcPts val="147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Parsing and Semantic Checks</a:t>
            </a:r>
          </a:p>
          <a:p xmlns:a="http://schemas.openxmlformats.org/drawingml/2006/main">
            <a:pPr marL="228600" indent="-165100" algn="l">
              <a:spcAft>
                <a:spcPts val="147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Diagnostics and Error Handling</a:t>
            </a:r>
          </a:p>
          <a:p xmlns:a="http://schemas.openxmlformats.org/drawingml/2006/main">
            <a:pPr marL="228600" indent="-165100" algn="l">
              <a:spcAft>
                <a:spcPts val="147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Verification</a:t>
            </a:r>
          </a:p>
          <a:p xmlns:a="http://schemas.openxmlformats.org/drawingml/2006/main">
            <a:pPr marL="228600" indent="-165100" algn="l">
              <a:spcAft>
                <a:spcPts val="147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Output Demonstrations</a:t>
            </a:r>
          </a:p>
          <a:p xmlns:a="http://schemas.openxmlformats.org/drawingml/2006/main">
            <a:pPr marL="228600" indent="-165100" algn="l">
              <a:spcAft>
                <a:spcPts val="147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Current Scope and Next Review</a:t>
            </a:r>
          </a:p>
        </p:txBody>
      </p:sp>
    </p:spTree>
    <p:extLst>
      <p:ext uri="{BB962C8B-B14F-4D97-AF65-F5344CB8AC3E}">
        <p14:creationId xmlns:p14="http://schemas.microsoft.com/office/powerpoint/2010/main" val="10812862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A4061E8D-A847-4446-8E19-6A69CA75BC5D}"/>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PROGRESS SINCE REVIEW 1</a:t>
            </a:r>
          </a:p>
        </p:txBody>
      </p:sp>
      <p:sp>
        <p:nvSpPr>
          <p:cNvPr id="2" name="Template footer rule">
            <a:extLst xmlns:a="http://schemas.openxmlformats.org/drawingml/2006/main">
              <a:ext uri="{FF2B5EF4-FFF2-40B4-BE49-F238E27FC236}">
                <a16:creationId xmlns:a16="http://schemas.microsoft.com/office/drawing/2014/main" id="{2DC26356-7871-46A8-851A-3C375371CECE}"/>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graphicFrame>
        <p:nvGraphicFramePr>
          <p:cNvPr id="3" name="Table 2">
            <a:extLst xmlns:a="http://schemas.openxmlformats.org/drawingml/2006/main">
              <a:ext uri="{FF2B5EF4-FFF2-40B4-BE49-F238E27FC236}">
                <a16:creationId xmlns:a16="http://schemas.microsoft.com/office/drawing/2014/main" id="{8FF34218-18CA-494C-9DC8-198C043EAC2A}"/>
              </a:ext>
            </a:extLst>
          </p:cNvPr>
          <p:cNvGraphicFramePr/>
          <p:nvPr/>
        </p:nvGraphicFramePr>
        <p:xfrm>
          <a:off xmlns:a="http://schemas.openxmlformats.org/drawingml/2006/main" x="695325" y="1876425"/>
          <a:ext xmlns:a="http://schemas.openxmlformats.org/drawingml/2006/main" cx="10791825" cy="2828925"/>
        </p:xfrm>
        <a:graphic xmlns:a="http://schemas.openxmlformats.org/drawingml/2006/main">
          <a:graphicData uri="http://schemas.openxmlformats.org/drawingml/2006/table">
            <a:tbl>
              <a:tblPr/>
              <a:tblGrid>
                <a:gridCol w="2571750"/>
                <a:gridCol w="8220075"/>
              </a:tblGrid>
              <a:tr h="590550">
                <a:tc>
                  <a:txBody>
                    <a:bodyPr/>
                    <a:lstStyle/>
                    <a:p>
                      <a:pPr algn="ctr">
                        <a:buNone/>
                      </a:pPr>
                      <a:r>
                        <a:rPr sz="2100" b="1">
                          <a:solidFill>
                            <a:srgbClr val="FFFFFF"/>
                          </a:solidFill>
                          <a:latin typeface="Univers Condensed Light"/>
                          <a:ea typeface="Univers Condensed Light"/>
                          <a:cs typeface="Univers Condensed Light"/>
                        </a:rPr>
                        <a:t>Stage</a:t>
                      </a:r>
                    </a:p>
                  </a:txBody>
                  <a:tcPr marL="91440" marR="91440" marT="45720" marB="45720" anchor="ctr">
                    <a:lnL w="12383">
                      <a:solidFill>
                        <a:srgbClr val="FFFFFF"/>
                      </a:solidFill>
                      <a:prstDash val="solid"/>
                    </a:lnL>
                    <a:lnR w="12383">
                      <a:solidFill>
                        <a:srgbClr val="FFFFFF"/>
                      </a:solidFill>
                      <a:prstDash val="solid"/>
                    </a:lnR>
                    <a:lnT w="12383">
                      <a:solidFill>
                        <a:srgbClr val="FFFFFF"/>
                      </a:solidFill>
                      <a:prstDash val="solid"/>
                    </a:lnT>
                    <a:lnB w="12383">
                      <a:solidFill>
                        <a:srgbClr val="FFFFFF"/>
                      </a:solidFill>
                      <a:prstDash val="solid"/>
                    </a:lnB>
                    <a:solidFill>
                      <a:srgbClr val="4A66AC"/>
                    </a:solidFill>
                  </a:tcPr>
                </a:tc>
                <a:tc>
                  <a:txBody>
                    <a:bodyPr/>
                    <a:lstStyle/>
                    <a:p>
                      <a:pPr algn="ctr">
                        <a:buNone/>
                      </a:pPr>
                      <a:r>
                        <a:rPr sz="2100" b="1">
                          <a:solidFill>
                            <a:srgbClr val="FFFFFF"/>
                          </a:solidFill>
                          <a:latin typeface="Univers Condensed Light"/>
                          <a:ea typeface="Univers Condensed Light"/>
                          <a:cs typeface="Univers Condensed Light"/>
                        </a:rPr>
                        <a:t>Implemented capabilities</a:t>
                      </a:r>
                    </a:p>
                  </a:txBody>
                  <a:tcPr marL="91440" marR="91440" marT="45720" marB="45720" anchor="ctr">
                    <a:lnL w="12383" cmpd="sng">
                      <a:solidFill>
                        <a:srgbClr val="FFFFFF"/>
                      </a:solidFill>
                      <a:prstDash val="solid"/>
                    </a:lnL>
                    <a:lnR w="12383">
                      <a:solidFill>
                        <a:srgbClr val="FFFFFF"/>
                      </a:solidFill>
                      <a:prstDash val="solid"/>
                    </a:lnR>
                    <a:lnT w="12383">
                      <a:solidFill>
                        <a:srgbClr val="FFFFFF"/>
                      </a:solidFill>
                      <a:prstDash val="solid"/>
                    </a:lnT>
                    <a:lnB w="12383">
                      <a:solidFill>
                        <a:srgbClr val="FFFFFF"/>
                      </a:solidFill>
                      <a:prstDash val="solid"/>
                    </a:lnB>
                    <a:solidFill>
                      <a:srgbClr val="4A66AC"/>
                    </a:solidFill>
                  </a:tcPr>
                </a:tc>
              </a:tr>
              <a:tr h="1000125">
                <a:tc>
                  <a:txBody>
                    <a:bodyPr/>
                    <a:lstStyle/>
                    <a:p>
                      <a:pPr algn="l">
                        <a:buNone/>
                      </a:pPr>
                      <a:r>
                        <a:rPr sz="2100" b="0">
                          <a:solidFill>
                            <a:srgbClr val="000000"/>
                          </a:solidFill>
                          <a:latin typeface="Univers Condensed Light"/>
                          <a:ea typeface="Univers Condensed Light"/>
                          <a:cs typeface="Univers Condensed Light"/>
                        </a:rPr>
                        <a:t>25% completion</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c>
                  <a:txBody>
                    <a:bodyPr/>
                    <a:lstStyle/>
                    <a:p>
                      <a:pPr algn="l">
                        <a:buNone/>
                      </a:pPr>
                      <a:r>
                        <a:rPr sz="2100" b="0">
                          <a:solidFill>
                            <a:srgbClr val="000000"/>
                          </a:solidFill>
                          <a:latin typeface="Univers Condensed Light"/>
                          <a:ea typeface="Univers Condensed Light"/>
                          <a:cs typeface="Univers Condensed Light"/>
                        </a:rPr>
                        <a:t>Token recognition, source positions, comment skipping, and lexical errors.</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r>
              <a:tr h="1238250">
                <a:tc>
                  <a:txBody>
                    <a:bodyPr/>
                    <a:lstStyle/>
                    <a:p>
                      <a:pPr algn="l">
                        <a:buNone/>
                      </a:pPr>
                      <a:r>
                        <a:rPr sz="2100" b="0">
                          <a:solidFill>
                            <a:srgbClr val="000000"/>
                          </a:solidFill>
                          <a:latin typeface="Univers Condensed Light"/>
                          <a:ea typeface="Univers Condensed Light"/>
                          <a:cs typeface="Univers Condensed Light"/>
                        </a:rPr>
                        <a:t>75% additions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c>
                  <a:txBody>
                    <a:bodyPr/>
                    <a:lstStyle/>
                    <a:p>
                      <a:pPr algn="l">
                        <a:buNone/>
                      </a:pPr>
                      <a:r>
                        <a:rPr sz="2100" b="0">
                          <a:solidFill>
                            <a:srgbClr val="000000"/>
                          </a:solidFill>
                          <a:latin typeface="Univers Condensed Light"/>
                          <a:ea typeface="Univers Condensed Light"/>
                          <a:cs typeface="Univers Condensed Light"/>
                        </a:rPr>
                        <a:t>Parsing, a basic AST, scoped symbols, scalar type checks, basic function checks, and explained errors.</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r>
            </a:tbl>
          </a:graphicData>
        </a:graphic>
      </p:graphicFrame>
      <p:sp>
        <p:nvSpPr>
          <p:cNvPr id="4" name="The original four files remain unchanged">
            <a:extLst xmlns:a="http://schemas.openxmlformats.org/drawingml/2006/main">
              <a:ext uri="{FF2B5EF4-FFF2-40B4-BE49-F238E27FC236}">
                <a16:creationId xmlns:a16="http://schemas.microsoft.com/office/drawing/2014/main" id="{C442BCEA-5B10-4453-81E5-49B12133C727}"/>
              </a:ext>
            </a:extLst>
          </p:cNvPr>
          <p:cNvSpPr>
            <a:spLocks xmlns:a="http://schemas.openxmlformats.org/drawingml/2006/main" noGrp="1"/>
          </p:cNvSpPr>
          <p:nvPr/>
        </p:nvSpPr>
        <p:spPr>
          <a:xfrm xmlns:a="http://schemas.openxmlformats.org/drawingml/2006/main">
            <a:off x="695325" y="50863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1">
                <a:solidFill>
                  <a:srgbClr val="262557"/>
                </a:solidFill>
                <a:latin typeface="Univers Condensed Light"/>
                <a:ea typeface="Univers Condensed Light"/>
                <a:cs typeface="Univers Condensed Light"/>
              </a:defRPr>
            </a:defPPr>
          </a:lstStyle>
          <a:p xmlns:a="http://schemas.openxmlformats.org/drawingml/2006/main">
            <a:pPr algn="l">
              <a:buNone/>
              <a:defRPr sz="2004" b="1">
                <a:solidFill>
                  <a:srgbClr val="262557"/>
                </a:solidFill>
                <a:latin typeface="Univers Condensed Light"/>
                <a:ea typeface="Univers Condensed Light"/>
                <a:cs typeface="Univers Condensed Light"/>
              </a:defRPr>
            </a:pPr>
            <a:r>
              <a:rPr sz="2004" b="1">
                <a:solidFill>
                  <a:srgbClr val="262557"/>
                </a:solidFill>
                <a:latin typeface="Univers Condensed Light"/>
                <a:ea typeface="Univers Condensed Light"/>
                <a:cs typeface="Univers Condensed Light"/>
              </a:rPr>
              <a:t>Separate drivers for each milestone</a:t>
            </a:r>
          </a:p>
        </p:txBody>
      </p:sp>
      <p:sp>
        <p:nvSpPr>
          <p:cNvPr id="5" name="main_1.cpp, Lexer.cpp, Lexer.hpp, and Token.h">
            <a:extLst xmlns:a="http://schemas.openxmlformats.org/drawingml/2006/main">
              <a:ext uri="{FF2B5EF4-FFF2-40B4-BE49-F238E27FC236}">
                <a16:creationId xmlns:a16="http://schemas.microsoft.com/office/drawing/2014/main" id="{176DE2EB-293B-4DAC-B8D6-2888BC213685}"/>
              </a:ext>
            </a:extLst>
          </p:cNvPr>
          <p:cNvSpPr>
            <a:spLocks xmlns:a="http://schemas.openxmlformats.org/drawingml/2006/main" noGrp="1"/>
          </p:cNvSpPr>
          <p:nvPr/>
        </p:nvSpPr>
        <p:spPr>
          <a:xfrm xmlns:a="http://schemas.openxmlformats.org/drawingml/2006/main">
            <a:off x="695325" y="5514975"/>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algn="l">
              <a:buNone/>
              <a:defRPr sz="2004" b="0">
                <a:solidFill>
                  <a:srgbClr val="262557"/>
                </a:solidFill>
                <a:latin typeface="Univers Condensed Light"/>
                <a:ea typeface="Univers Condensed Light"/>
                <a:cs typeface="Univers Condensed Light"/>
              </a:defRPr>
            </a:pPr>
            <a:r>
              <a:rPr sz="2004" b="0">
                <a:solidFill>
                  <a:srgbClr val="262557"/>
                </a:solidFill>
                <a:latin typeface="Univers Condensed Light"/>
                <a:ea typeface="Univers Condensed Light"/>
                <a:cs typeface="Univers Condensed Light"/>
              </a:rPr>
              <a:t>25%: main_1.cpp    75%: main_2.cpp    Final: later/src/main_3.cpp</a:t>
            </a:r>
          </a:p>
        </p:txBody>
      </p:sp>
    </p:spTree>
    <p:extLst>
      <p:ext uri="{BB962C8B-B14F-4D97-AF65-F5344CB8AC3E}">
        <p14:creationId xmlns:p14="http://schemas.microsoft.com/office/powerpoint/2010/main" val="10361530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751C15D5-02F9-4A7B-B760-D4606E9B195A}"/>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INTEGRATED PROJECT ARCHITECTURE</a:t>
            </a:r>
          </a:p>
        </p:txBody>
      </p:sp>
      <p:sp>
        <p:nvSpPr>
          <p:cNvPr id="2" name="Template footer rule">
            <a:extLst xmlns:a="http://schemas.openxmlformats.org/drawingml/2006/main">
              <a:ext uri="{FF2B5EF4-FFF2-40B4-BE49-F238E27FC236}">
                <a16:creationId xmlns:a16="http://schemas.microsoft.com/office/drawing/2014/main" id="{6CD6DF84-D7ED-4128-AD0D-F0487667676C}"/>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Editable workflow step 1">
            <a:extLst xmlns:a="http://schemas.openxmlformats.org/drawingml/2006/main">
              <a:ext uri="{FF2B5EF4-FFF2-40B4-BE49-F238E27FC236}">
                <a16:creationId xmlns:a16="http://schemas.microsoft.com/office/drawing/2014/main" id="{A587AD78-28FF-462C-8BB0-BCD90A3552FB}"/>
              </a:ext>
            </a:extLst>
          </p:cNvPr>
          <p:cNvSpPr>
            <a:spLocks xmlns:a="http://schemas.openxmlformats.org/drawingml/2006/main" noGrp="1"/>
          </p:cNvSpPr>
          <p:nvPr/>
        </p:nvSpPr>
        <p:spPr>
          <a:xfrm xmlns:a="http://schemas.openxmlformats.org/drawingml/2006/main">
            <a:off x="2133600" y="2171700"/>
            <a:ext cx="2084070" cy="1249680"/>
          </a:xfrm>
          <a:prstGeom xmlns:a="http://schemas.openxmlformats.org/drawingml/2006/main" prst="roundRect">
            <a:avLst>
              <a:gd name="adj" fmla="val 10671"/>
            </a:avLst>
          </a:prstGeom>
          <a:solidFill xmlns:a="http://schemas.openxmlformats.org/drawingml/2006/main">
            <a:srgbClr val="425C9B"/>
          </a:solidFill>
          <a:ln xmlns:a="http://schemas.openxmlformats.org/drawingml/2006/main" w="0">
            <a:noFill/>
          </a:ln>
        </p:spPr>
        <p:txBody>
          <a:bodyPr xmlns:a="http://schemas.openxmlformats.org/drawingml/2006/main" wrap="square" lIns="95250" tIns="95250" rIns="95250" bIns="95250" anchor="ctr">
            <a:noAutofit/>
          </a:bodyPr>
          <a:lstStyle xmlns:a="http://schemas.openxmlformats.org/drawingml/2006/main">
            <a:defPPr algn="ctr">
              <a:defRPr sz="2100">
                <a:solidFill>
                  <a:srgbClr val="FFFFFF"/>
                </a:solidFill>
                <a:latin typeface="Univers Condensed Light"/>
                <a:ea typeface="Univers Condensed Light"/>
                <a:cs typeface="Univers Condensed Light"/>
              </a:defRPr>
            </a:defPPr>
          </a:lstStyle>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Source Code</a:t>
            </a:r>
          </a:p>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Text File</a:t>
            </a:r>
          </a:p>
        </p:txBody>
      </p:sp>
      <p:sp>
        <p:nvSpPr>
          <p:cNvPr id="4" name="Editable workflow step 2">
            <a:extLst xmlns:a="http://schemas.openxmlformats.org/drawingml/2006/main">
              <a:ext uri="{FF2B5EF4-FFF2-40B4-BE49-F238E27FC236}">
                <a16:creationId xmlns:a16="http://schemas.microsoft.com/office/drawing/2014/main" id="{455D7940-4034-44EB-B73D-DF396150DAC6}"/>
              </a:ext>
            </a:extLst>
          </p:cNvPr>
          <p:cNvSpPr>
            <a:spLocks xmlns:a="http://schemas.openxmlformats.org/drawingml/2006/main" noGrp="1"/>
          </p:cNvSpPr>
          <p:nvPr/>
        </p:nvSpPr>
        <p:spPr>
          <a:xfrm xmlns:a="http://schemas.openxmlformats.org/drawingml/2006/main">
            <a:off x="5052060" y="2171700"/>
            <a:ext cx="2084070" cy="1249680"/>
          </a:xfrm>
          <a:prstGeom xmlns:a="http://schemas.openxmlformats.org/drawingml/2006/main" prst="roundRect">
            <a:avLst>
              <a:gd name="adj" fmla="val 10671"/>
            </a:avLst>
          </a:prstGeom>
          <a:solidFill xmlns:a="http://schemas.openxmlformats.org/drawingml/2006/main">
            <a:srgbClr val="4D67AC"/>
          </a:solidFill>
          <a:ln xmlns:a="http://schemas.openxmlformats.org/drawingml/2006/main" w="0">
            <a:noFill/>
          </a:ln>
        </p:spPr>
        <p:txBody>
          <a:bodyPr xmlns:a="http://schemas.openxmlformats.org/drawingml/2006/main" wrap="square" lIns="95250" tIns="95250" rIns="95250" bIns="95250" anchor="ctr">
            <a:noAutofit/>
          </a:bodyPr>
          <a:lstStyle xmlns:a="http://schemas.openxmlformats.org/drawingml/2006/main">
            <a:defPPr algn="ctr">
              <a:defRPr sz="2100">
                <a:solidFill>
                  <a:srgbClr val="FFFFFF"/>
                </a:solidFill>
                <a:latin typeface="Univers Condensed Light"/>
                <a:ea typeface="Univers Condensed Light"/>
                <a:cs typeface="Univers Condensed Light"/>
              </a:defRPr>
            </a:defPPr>
          </a:lstStyle>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Lexical validation</a:t>
            </a:r>
          </a:p>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and existing lexer</a:t>
            </a:r>
          </a:p>
        </p:txBody>
      </p:sp>
      <p:sp>
        <p:nvSpPr>
          <p:cNvPr id="5" name="Editable workflow step 3">
            <a:extLst xmlns:a="http://schemas.openxmlformats.org/drawingml/2006/main">
              <a:ext uri="{FF2B5EF4-FFF2-40B4-BE49-F238E27FC236}">
                <a16:creationId xmlns:a16="http://schemas.microsoft.com/office/drawing/2014/main" id="{864D4AC1-97DF-4F79-9AF4-AF64E4C0656A}"/>
              </a:ext>
            </a:extLst>
          </p:cNvPr>
          <p:cNvSpPr>
            <a:spLocks xmlns:a="http://schemas.openxmlformats.org/drawingml/2006/main" noGrp="1"/>
          </p:cNvSpPr>
          <p:nvPr/>
        </p:nvSpPr>
        <p:spPr>
          <a:xfrm xmlns:a="http://schemas.openxmlformats.org/drawingml/2006/main">
            <a:off x="7969568" y="2171700"/>
            <a:ext cx="2084070" cy="1249680"/>
          </a:xfrm>
          <a:prstGeom xmlns:a="http://schemas.openxmlformats.org/drawingml/2006/main" prst="roundRect">
            <a:avLst>
              <a:gd name="adj" fmla="val 10671"/>
            </a:avLst>
          </a:prstGeom>
          <a:solidFill xmlns:a="http://schemas.openxmlformats.org/drawingml/2006/main">
            <a:srgbClr val="6177B4"/>
          </a:solidFill>
          <a:ln xmlns:a="http://schemas.openxmlformats.org/drawingml/2006/main" w="0">
            <a:noFill/>
          </a:ln>
        </p:spPr>
        <p:txBody>
          <a:bodyPr xmlns:a="http://schemas.openxmlformats.org/drawingml/2006/main" wrap="square" lIns="95250" tIns="95250" rIns="95250" bIns="95250" anchor="ctr">
            <a:noAutofit/>
          </a:bodyPr>
          <a:lstStyle xmlns:a="http://schemas.openxmlformats.org/drawingml/2006/main">
            <a:defPPr algn="ctr">
              <a:defRPr sz="2100">
                <a:solidFill>
                  <a:srgbClr val="FFFFFF"/>
                </a:solidFill>
                <a:latin typeface="Univers Condensed Light"/>
                <a:ea typeface="Univers Condensed Light"/>
                <a:cs typeface="Univers Condensed Light"/>
              </a:defRPr>
            </a:defPPr>
          </a:lstStyle>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Parser</a:t>
            </a:r>
          </a:p>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and initial AST</a:t>
            </a:r>
          </a:p>
        </p:txBody>
      </p:sp>
      <p:sp>
        <p:nvSpPr>
          <p:cNvPr id="6" name="Editable workflow step 4">
            <a:extLst xmlns:a="http://schemas.openxmlformats.org/drawingml/2006/main">
              <a:ext uri="{FF2B5EF4-FFF2-40B4-BE49-F238E27FC236}">
                <a16:creationId xmlns:a16="http://schemas.microsoft.com/office/drawing/2014/main" id="{7EBB8485-2C00-4535-A1FC-5E5B5F1D2E88}"/>
              </a:ext>
            </a:extLst>
          </p:cNvPr>
          <p:cNvSpPr>
            <a:spLocks xmlns:a="http://schemas.openxmlformats.org/drawingml/2006/main" noGrp="1"/>
          </p:cNvSpPr>
          <p:nvPr/>
        </p:nvSpPr>
        <p:spPr>
          <a:xfrm xmlns:a="http://schemas.openxmlformats.org/drawingml/2006/main">
            <a:off x="7969568" y="4252913"/>
            <a:ext cx="2084070" cy="1250633"/>
          </a:xfrm>
          <a:prstGeom xmlns:a="http://schemas.openxmlformats.org/drawingml/2006/main" prst="roundRect">
            <a:avLst>
              <a:gd name="adj" fmla="val 10663"/>
            </a:avLst>
          </a:prstGeom>
          <a:solidFill xmlns:a="http://schemas.openxmlformats.org/drawingml/2006/main">
            <a:srgbClr val="7787BB"/>
          </a:solidFill>
          <a:ln xmlns:a="http://schemas.openxmlformats.org/drawingml/2006/main" w="0">
            <a:noFill/>
          </a:ln>
        </p:spPr>
        <p:txBody>
          <a:bodyPr xmlns:a="http://schemas.openxmlformats.org/drawingml/2006/main" wrap="square" lIns="95250" tIns="95250" rIns="95250" bIns="95250" anchor="ctr">
            <a:noAutofit/>
          </a:bodyPr>
          <a:lstStyle xmlns:a="http://schemas.openxmlformats.org/drawingml/2006/main">
            <a:defPPr algn="ctr">
              <a:defRPr sz="2100">
                <a:solidFill>
                  <a:srgbClr val="FFFFFF"/>
                </a:solidFill>
                <a:latin typeface="Univers Condensed Light"/>
                <a:ea typeface="Univers Condensed Light"/>
                <a:cs typeface="Univers Condensed Light"/>
              </a:defRPr>
            </a:defPPr>
          </a:lstStyle>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Core semantic</a:t>
            </a:r>
          </a:p>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checks</a:t>
            </a:r>
          </a:p>
        </p:txBody>
      </p:sp>
      <p:sp>
        <p:nvSpPr>
          <p:cNvPr id="7" name="Editable workflow step 5">
            <a:extLst xmlns:a="http://schemas.openxmlformats.org/drawingml/2006/main">
              <a:ext uri="{FF2B5EF4-FFF2-40B4-BE49-F238E27FC236}">
                <a16:creationId xmlns:a16="http://schemas.microsoft.com/office/drawing/2014/main" id="{48311B5B-FF4E-4743-89CF-7B87378103C1}"/>
              </a:ext>
            </a:extLst>
          </p:cNvPr>
          <p:cNvSpPr>
            <a:spLocks xmlns:a="http://schemas.openxmlformats.org/drawingml/2006/main" noGrp="1"/>
          </p:cNvSpPr>
          <p:nvPr/>
        </p:nvSpPr>
        <p:spPr>
          <a:xfrm xmlns:a="http://schemas.openxmlformats.org/drawingml/2006/main">
            <a:off x="5052060" y="4252913"/>
            <a:ext cx="2084070" cy="1250633"/>
          </a:xfrm>
          <a:prstGeom xmlns:a="http://schemas.openxmlformats.org/drawingml/2006/main" prst="roundRect">
            <a:avLst>
              <a:gd name="adj" fmla="val 10663"/>
            </a:avLst>
          </a:prstGeom>
          <a:solidFill xmlns:a="http://schemas.openxmlformats.org/drawingml/2006/main">
            <a:srgbClr val="8B98C2"/>
          </a:solidFill>
          <a:ln xmlns:a="http://schemas.openxmlformats.org/drawingml/2006/main" w="0">
            <a:noFill/>
          </a:ln>
        </p:spPr>
        <p:txBody>
          <a:bodyPr xmlns:a="http://schemas.openxmlformats.org/drawingml/2006/main" wrap="square" lIns="95250" tIns="95250" rIns="95250" bIns="95250" anchor="ctr">
            <a:noAutofit/>
          </a:bodyPr>
          <a:lstStyle xmlns:a="http://schemas.openxmlformats.org/drawingml/2006/main">
            <a:defPPr algn="ctr">
              <a:defRPr sz="2100">
                <a:solidFill>
                  <a:srgbClr val="FFFFFF"/>
                </a:solidFill>
                <a:latin typeface="Univers Condensed Light"/>
                <a:ea typeface="Univers Condensed Light"/>
                <a:cs typeface="Univers Condensed Light"/>
              </a:defRPr>
            </a:defPPr>
          </a:lstStyle>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Scoped symbol</a:t>
            </a:r>
          </a:p>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table</a:t>
            </a:r>
          </a:p>
        </p:txBody>
      </p:sp>
      <p:sp>
        <p:nvSpPr>
          <p:cNvPr id="8" name="Editable workflow step 6">
            <a:extLst xmlns:a="http://schemas.openxmlformats.org/drawingml/2006/main">
              <a:ext uri="{FF2B5EF4-FFF2-40B4-BE49-F238E27FC236}">
                <a16:creationId xmlns:a16="http://schemas.microsoft.com/office/drawing/2014/main" id="{5B5D19E9-4F23-44A7-ABC8-B32984CDA4AB}"/>
              </a:ext>
            </a:extLst>
          </p:cNvPr>
          <p:cNvSpPr>
            <a:spLocks xmlns:a="http://schemas.openxmlformats.org/drawingml/2006/main" noGrp="1"/>
          </p:cNvSpPr>
          <p:nvPr/>
        </p:nvSpPr>
        <p:spPr>
          <a:xfrm xmlns:a="http://schemas.openxmlformats.org/drawingml/2006/main">
            <a:off x="2133600" y="4252913"/>
            <a:ext cx="2084070" cy="1250633"/>
          </a:xfrm>
          <a:prstGeom xmlns:a="http://schemas.openxmlformats.org/drawingml/2006/main" prst="roundRect">
            <a:avLst>
              <a:gd name="adj" fmla="val 10663"/>
            </a:avLst>
          </a:prstGeom>
          <a:solidFill xmlns:a="http://schemas.openxmlformats.org/drawingml/2006/main">
            <a:srgbClr val="9FA8CA"/>
          </a:solidFill>
          <a:ln xmlns:a="http://schemas.openxmlformats.org/drawingml/2006/main" w="0">
            <a:noFill/>
          </a:ln>
        </p:spPr>
        <p:txBody>
          <a:bodyPr xmlns:a="http://schemas.openxmlformats.org/drawingml/2006/main" wrap="square" lIns="95250" tIns="95250" rIns="95250" bIns="95250" anchor="ctr">
            <a:noAutofit/>
          </a:bodyPr>
          <a:lstStyle xmlns:a="http://schemas.openxmlformats.org/drawingml/2006/main">
            <a:defPPr algn="ctr">
              <a:defRPr sz="2100">
                <a:solidFill>
                  <a:srgbClr val="FFFFFF"/>
                </a:solidFill>
                <a:latin typeface="Univers Condensed Light"/>
                <a:ea typeface="Univers Condensed Light"/>
                <a:cs typeface="Univers Condensed Light"/>
              </a:defRPr>
            </a:defPPr>
          </a:lstStyle>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Explained</a:t>
            </a:r>
          </a:p>
          <a:p xmlns:a="http://schemas.openxmlformats.org/drawingml/2006/main">
            <a:pPr algn="ctr">
              <a:buNone/>
              <a:defRPr sz="2100">
                <a:solidFill>
                  <a:srgbClr val="FFFFFF"/>
                </a:solidFill>
                <a:latin typeface="Univers Condensed Light"/>
                <a:ea typeface="Univers Condensed Light"/>
                <a:cs typeface="Univers Condensed Light"/>
              </a:defRPr>
            </a:pPr>
            <a:r>
              <a:rPr sz="2100">
                <a:solidFill>
                  <a:srgbClr val="FFFFFF"/>
                </a:solidFill>
                <a:latin typeface="Univers Condensed Light"/>
                <a:ea typeface="Univers Condensed Light"/>
                <a:cs typeface="Univers Condensed Light"/>
              </a:rPr>
              <a:t>diagnostics</a:t>
            </a:r>
          </a:p>
        </p:txBody>
      </p:sp>
      <p:sp>
        <p:nvSpPr>
          <p:cNvPr id="9" name="Editable workflow arrow">
            <a:extLst xmlns:a="http://schemas.openxmlformats.org/drawingml/2006/main">
              <a:ext uri="{FF2B5EF4-FFF2-40B4-BE49-F238E27FC236}">
                <a16:creationId xmlns:a16="http://schemas.microsoft.com/office/drawing/2014/main" id="{7374D6CC-8A09-42EA-9372-7AD459327E54}"/>
              </a:ext>
            </a:extLst>
          </p:cNvPr>
          <p:cNvSpPr>
            <a:spLocks xmlns:a="http://schemas.openxmlformats.org/drawingml/2006/main" noGrp="1"/>
          </p:cNvSpPr>
          <p:nvPr/>
        </p:nvSpPr>
        <p:spPr>
          <a:xfrm xmlns:a="http://schemas.openxmlformats.org/drawingml/2006/main">
            <a:off x="4360545" y="2596515"/>
            <a:ext cx="381000" cy="400050"/>
          </a:xfrm>
          <a:prstGeom xmlns:a="http://schemas.openxmlformats.org/drawingml/2006/main" prst="rightArrow">
            <a:avLst/>
          </a:prstGeom>
          <a:solidFill xmlns:a="http://schemas.openxmlformats.org/drawingml/2006/main">
            <a:srgbClr val="4D67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Editable workflow arrow">
            <a:extLst xmlns:a="http://schemas.openxmlformats.org/drawingml/2006/main">
              <a:ext uri="{FF2B5EF4-FFF2-40B4-BE49-F238E27FC236}">
                <a16:creationId xmlns:a16="http://schemas.microsoft.com/office/drawing/2014/main" id="{4A864741-2534-4A28-85C8-21FBB6360C32}"/>
              </a:ext>
            </a:extLst>
          </p:cNvPr>
          <p:cNvSpPr>
            <a:spLocks xmlns:a="http://schemas.openxmlformats.org/drawingml/2006/main" noGrp="1"/>
          </p:cNvSpPr>
          <p:nvPr/>
        </p:nvSpPr>
        <p:spPr>
          <a:xfrm xmlns:a="http://schemas.openxmlformats.org/drawingml/2006/main">
            <a:off x="7279005" y="2596515"/>
            <a:ext cx="381000" cy="400050"/>
          </a:xfrm>
          <a:prstGeom xmlns:a="http://schemas.openxmlformats.org/drawingml/2006/main" prst="rightArrow">
            <a:avLst/>
          </a:prstGeom>
          <a:solidFill xmlns:a="http://schemas.openxmlformats.org/drawingml/2006/main">
            <a:srgbClr val="6177B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1" name="Editable workflow arrow">
            <a:extLst xmlns:a="http://schemas.openxmlformats.org/drawingml/2006/main">
              <a:ext uri="{FF2B5EF4-FFF2-40B4-BE49-F238E27FC236}">
                <a16:creationId xmlns:a16="http://schemas.microsoft.com/office/drawing/2014/main" id="{BB1965BF-F9BC-44C4-867A-10DE9A22FFC8}"/>
              </a:ext>
            </a:extLst>
          </p:cNvPr>
          <p:cNvSpPr>
            <a:spLocks xmlns:a="http://schemas.openxmlformats.org/drawingml/2006/main" noGrp="1"/>
          </p:cNvSpPr>
          <p:nvPr/>
        </p:nvSpPr>
        <p:spPr>
          <a:xfrm xmlns:a="http://schemas.openxmlformats.org/drawingml/2006/main">
            <a:off x="8811578" y="3592830"/>
            <a:ext cx="400050" cy="361950"/>
          </a:xfrm>
          <a:prstGeom xmlns:a="http://schemas.openxmlformats.org/drawingml/2006/main" prst="downArrow">
            <a:avLst/>
          </a:prstGeom>
          <a:solidFill xmlns:a="http://schemas.openxmlformats.org/drawingml/2006/main">
            <a:srgbClr val="7787B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Editable workflow arrow">
            <a:extLst xmlns:a="http://schemas.openxmlformats.org/drawingml/2006/main">
              <a:ext uri="{FF2B5EF4-FFF2-40B4-BE49-F238E27FC236}">
                <a16:creationId xmlns:a16="http://schemas.microsoft.com/office/drawing/2014/main" id="{70719EF1-7291-44FB-83DC-69D9BEF6BB5B}"/>
              </a:ext>
            </a:extLst>
          </p:cNvPr>
          <p:cNvSpPr>
            <a:spLocks xmlns:a="http://schemas.openxmlformats.org/drawingml/2006/main" noGrp="1"/>
          </p:cNvSpPr>
          <p:nvPr/>
        </p:nvSpPr>
        <p:spPr>
          <a:xfrm xmlns:a="http://schemas.openxmlformats.org/drawingml/2006/main">
            <a:off x="7279005" y="4678204"/>
            <a:ext cx="381000" cy="400050"/>
          </a:xfrm>
          <a:prstGeom xmlns:a="http://schemas.openxmlformats.org/drawingml/2006/main" prst="leftArrow">
            <a:avLst/>
          </a:prstGeom>
          <a:solidFill xmlns:a="http://schemas.openxmlformats.org/drawingml/2006/main">
            <a:srgbClr val="8B98C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Editable workflow arrow">
            <a:extLst xmlns:a="http://schemas.openxmlformats.org/drawingml/2006/main">
              <a:ext uri="{FF2B5EF4-FFF2-40B4-BE49-F238E27FC236}">
                <a16:creationId xmlns:a16="http://schemas.microsoft.com/office/drawing/2014/main" id="{9B68B544-7A5E-44F3-A7C7-7A18795B63F9}"/>
              </a:ext>
            </a:extLst>
          </p:cNvPr>
          <p:cNvSpPr>
            <a:spLocks xmlns:a="http://schemas.openxmlformats.org/drawingml/2006/main" noGrp="1"/>
          </p:cNvSpPr>
          <p:nvPr/>
        </p:nvSpPr>
        <p:spPr>
          <a:xfrm xmlns:a="http://schemas.openxmlformats.org/drawingml/2006/main">
            <a:off x="4360545" y="4678204"/>
            <a:ext cx="381000" cy="400050"/>
          </a:xfrm>
          <a:prstGeom xmlns:a="http://schemas.openxmlformats.org/drawingml/2006/main" prst="leftArrow">
            <a:avLst/>
          </a:prstGeom>
          <a:solidFill xmlns:a="http://schemas.openxmlformats.org/drawingml/2006/main">
            <a:srgbClr val="9FA8CA"/>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6208021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E2246AE5-AE65-4F04-8825-A7A6880A2050}"/>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SYNTAX ANALYSIS AND AST</a:t>
            </a:r>
          </a:p>
        </p:txBody>
      </p:sp>
      <p:sp>
        <p:nvSpPr>
          <p:cNvPr id="2" name="Template footer rule">
            <a:extLst xmlns:a="http://schemas.openxmlformats.org/drawingml/2006/main">
              <a:ext uri="{FF2B5EF4-FFF2-40B4-BE49-F238E27FC236}">
                <a16:creationId xmlns:a16="http://schemas.microsoft.com/office/drawing/2014/main" id="{C41E446B-7670-4536-AF78-F86E9BDD0E21}"/>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Editable bullet list">
            <a:extLst xmlns:a="http://schemas.openxmlformats.org/drawingml/2006/main">
              <a:ext uri="{FF2B5EF4-FFF2-40B4-BE49-F238E27FC236}">
                <a16:creationId xmlns:a16="http://schemas.microsoft.com/office/drawing/2014/main" id="{6108893B-6655-49F9-B86C-0A46FF9AB37E}"/>
              </a:ext>
            </a:extLst>
          </p:cNvPr>
          <p:cNvSpPr>
            <a:spLocks xmlns:a="http://schemas.openxmlformats.org/drawingml/2006/main" noGrp="1"/>
          </p:cNvSpPr>
          <p:nvPr/>
        </p:nvSpPr>
        <p:spPr>
          <a:xfrm xmlns:a="http://schemas.openxmlformats.org/drawingml/2006/main">
            <a:off x="695325" y="1857375"/>
            <a:ext cx="107918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marL="228600" indent="-165100" algn="l">
              <a:spcAft>
                <a:spcPts val="20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A recursive-descent parser builds the program’s abstract syntax tree.</a:t>
            </a:r>
          </a:p>
          <a:p xmlns:a="http://schemas.openxmlformats.org/drawingml/2006/main">
            <a:pPr marL="228600" indent="-165100" algn="l">
              <a:spcAft>
                <a:spcPts val="20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Operator precedence preserves the structure of arithmetic and logical expressions.</a:t>
            </a:r>
          </a:p>
          <a:p xmlns:a="http://schemas.openxmlformats.org/drawingml/2006/main">
            <a:pPr marL="228600" indent="-165100" algn="l">
              <a:spcAft>
                <a:spcPts val="20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The 75% grammar supports scalar declarations, assignments, blocks, if/else, while, functions, and returns.</a:t>
            </a:r>
          </a:p>
          <a:p xmlns:a="http://schemas.openxmlformats.org/drawingml/2006/main">
            <a:pPr marL="228600" indent="-165100" algn="l">
              <a:spcAft>
                <a:spcPts val="20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Recovery from malformed statements reports syntax errors and continues at a safe boundary.</a:t>
            </a:r>
          </a:p>
          <a:p xmlns:a="http://schemas.openxmlformats.org/drawingml/2006/main">
            <a:pPr marL="228600" indent="-165100" algn="l">
              <a:spcAft>
                <a:spcPts val="20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The initial AST shows program structure before semantic checks.</a:t>
            </a:r>
          </a:p>
        </p:txBody>
      </p:sp>
    </p:spTree>
    <p:extLst>
      <p:ext uri="{BB962C8B-B14F-4D97-AF65-F5344CB8AC3E}">
        <p14:creationId xmlns:p14="http://schemas.microsoft.com/office/powerpoint/2010/main" val="10065082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DEB3BD41-F16F-4CEA-BCC0-59F59F9C5DEE}"/>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DECLARATIONS AND SCOPES</a:t>
            </a:r>
          </a:p>
        </p:txBody>
      </p:sp>
      <p:sp>
        <p:nvSpPr>
          <p:cNvPr id="2" name="Template footer rule">
            <a:extLst xmlns:a="http://schemas.openxmlformats.org/drawingml/2006/main">
              <a:ext uri="{FF2B5EF4-FFF2-40B4-BE49-F238E27FC236}">
                <a16:creationId xmlns:a16="http://schemas.microsoft.com/office/drawing/2014/main" id="{2578533E-8713-4CA8-992A-01E01085BED5}"/>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Two-pass semantic analysis">
            <a:extLst xmlns:a="http://schemas.openxmlformats.org/drawingml/2006/main">
              <a:ext uri="{FF2B5EF4-FFF2-40B4-BE49-F238E27FC236}">
                <a16:creationId xmlns:a16="http://schemas.microsoft.com/office/drawing/2014/main" id="{DBD78E87-02F7-4FB8-B4E2-C0EF4CE0DD88}"/>
              </a:ext>
            </a:extLst>
          </p:cNvPr>
          <p:cNvSpPr>
            <a:spLocks xmlns:a="http://schemas.openxmlformats.org/drawingml/2006/main" noGrp="1"/>
          </p:cNvSpPr>
          <p:nvPr/>
        </p:nvSpPr>
        <p:spPr>
          <a:xfrm xmlns:a="http://schemas.openxmlformats.org/drawingml/2006/main">
            <a:off x="695325" y="18478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1">
                <a:solidFill>
                  <a:srgbClr val="262557"/>
                </a:solidFill>
                <a:latin typeface="Univers Condensed Light"/>
                <a:ea typeface="Univers Condensed Light"/>
                <a:cs typeface="Univers Condensed Light"/>
              </a:defRPr>
            </a:defPPr>
          </a:lstStyle>
          <a:p xmlns:a="http://schemas.openxmlformats.org/drawingml/2006/main">
            <a:pPr algn="l">
              <a:buNone/>
              <a:defRPr sz="2004" b="1">
                <a:solidFill>
                  <a:srgbClr val="262557"/>
                </a:solidFill>
                <a:latin typeface="Univers Condensed Light"/>
                <a:ea typeface="Univers Condensed Light"/>
                <a:cs typeface="Univers Condensed Light"/>
              </a:defRPr>
            </a:pPr>
            <a:r>
              <a:rPr sz="2004" b="1">
                <a:solidFill>
                  <a:srgbClr val="262557"/>
                </a:solidFill>
                <a:latin typeface="Univers Condensed Light"/>
                <a:ea typeface="Univers Condensed Light"/>
                <a:cs typeface="Univers Condensed Light"/>
              </a:rPr>
              <a:t>Declarations before use</a:t>
            </a:r>
          </a:p>
        </p:txBody>
      </p:sp>
      <p:sp>
        <p:nvSpPr>
          <p:cNvPr id="4" name="Pass 1 registers globals and function signatu">
            <a:extLst xmlns:a="http://schemas.openxmlformats.org/drawingml/2006/main">
              <a:ext uri="{FF2B5EF4-FFF2-40B4-BE49-F238E27FC236}">
                <a16:creationId xmlns:a16="http://schemas.microsoft.com/office/drawing/2014/main" id="{05887734-5C30-43CA-9AE7-8A5E9920D901}"/>
              </a:ext>
            </a:extLst>
          </p:cNvPr>
          <p:cNvSpPr>
            <a:spLocks xmlns:a="http://schemas.openxmlformats.org/drawingml/2006/main" noGrp="1"/>
          </p:cNvSpPr>
          <p:nvPr/>
        </p:nvSpPr>
        <p:spPr>
          <a:xfrm xmlns:a="http://schemas.openxmlformats.org/drawingml/2006/main">
            <a:off x="695325" y="23145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algn="l">
              <a:buNone/>
              <a:defRPr sz="2004" b="0">
                <a:solidFill>
                  <a:srgbClr val="262557"/>
                </a:solidFill>
                <a:latin typeface="Univers Condensed Light"/>
                <a:ea typeface="Univers Condensed Light"/>
                <a:cs typeface="Univers Condensed Light"/>
              </a:defRPr>
            </a:pPr>
            <a:r>
              <a:rPr sz="2004" b="0">
                <a:solidFill>
                  <a:srgbClr val="262557"/>
                </a:solidFill>
                <a:latin typeface="Univers Condensed Light"/>
                <a:ea typeface="Univers Condensed Light"/>
                <a:cs typeface="Univers Condensed Light"/>
              </a:rPr>
              <a:t>The 75% analyzer visits declarations in source order and checks each function body.</a:t>
            </a:r>
          </a:p>
        </p:txBody>
      </p:sp>
      <p:sp>
        <p:nvSpPr>
          <p:cNvPr id="5" name="Editable bullet list">
            <a:extLst xmlns:a="http://schemas.openxmlformats.org/drawingml/2006/main">
              <a:ext uri="{FF2B5EF4-FFF2-40B4-BE49-F238E27FC236}">
                <a16:creationId xmlns:a16="http://schemas.microsoft.com/office/drawing/2014/main" id="{D8D635D6-8BD8-4AFF-9F90-266758A95AAE}"/>
              </a:ext>
            </a:extLst>
          </p:cNvPr>
          <p:cNvSpPr>
            <a:spLocks xmlns:a="http://schemas.openxmlformats.org/drawingml/2006/main" noGrp="1"/>
          </p:cNvSpPr>
          <p:nvPr/>
        </p:nvSpPr>
        <p:spPr>
          <a:xfrm xmlns:a="http://schemas.openxmlformats.org/drawingml/2006/main">
            <a:off x="695325" y="3267075"/>
            <a:ext cx="107918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Parent-scope lookup resolves names in nested blocks.</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Inner declarations can shadow outer names. Duplicate names in one scope are errors.</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Leaving a block makes its local declarations inaccessible.</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An undeclared name causes an error. Function definitions must appear before calls.</a:t>
            </a:r>
          </a:p>
        </p:txBody>
      </p:sp>
    </p:spTree>
    <p:extLst>
      <p:ext uri="{BB962C8B-B14F-4D97-AF65-F5344CB8AC3E}">
        <p14:creationId xmlns:p14="http://schemas.microsoft.com/office/powerpoint/2010/main" val="1715181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5BAA39F0-EC4F-4B70-B4F4-C62199BF6147}"/>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STATIC TYPE CHECKING</a:t>
            </a:r>
          </a:p>
        </p:txBody>
      </p:sp>
      <p:sp>
        <p:nvSpPr>
          <p:cNvPr id="2" name="Template footer rule">
            <a:extLst xmlns:a="http://schemas.openxmlformats.org/drawingml/2006/main">
              <a:ext uri="{FF2B5EF4-FFF2-40B4-BE49-F238E27FC236}">
                <a16:creationId xmlns:a16="http://schemas.microsoft.com/office/drawing/2014/main" id="{C9601370-0808-4529-A4E3-E3A5B694E45B}"/>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graphicFrame>
        <p:nvGraphicFramePr>
          <p:cNvPr id="3" name="Table 2">
            <a:extLst xmlns:a="http://schemas.openxmlformats.org/drawingml/2006/main">
              <a:ext uri="{FF2B5EF4-FFF2-40B4-BE49-F238E27FC236}">
                <a16:creationId xmlns:a16="http://schemas.microsoft.com/office/drawing/2014/main" id="{F9D1701B-1BD5-4B52-B6D9-2A08A316AA12}"/>
              </a:ext>
            </a:extLst>
          </p:cNvPr>
          <p:cNvGraphicFramePr/>
          <p:nvPr/>
        </p:nvGraphicFramePr>
        <p:xfrm>
          <a:off xmlns:a="http://schemas.openxmlformats.org/drawingml/2006/main" x="695325" y="1838325"/>
          <a:ext xmlns:a="http://schemas.openxmlformats.org/drawingml/2006/main" cx="10791825" cy="4114800"/>
        </p:xfrm>
        <a:graphic xmlns:a="http://schemas.openxmlformats.org/drawingml/2006/main">
          <a:graphicData uri="http://schemas.openxmlformats.org/drawingml/2006/table">
            <a:tbl>
              <a:tblPr/>
              <a:tblGrid>
                <a:gridCol w="3286125"/>
                <a:gridCol w="7505700"/>
              </a:tblGrid>
              <a:tr h="542925">
                <a:tc>
                  <a:txBody>
                    <a:bodyPr/>
                    <a:lstStyle/>
                    <a:p>
                      <a:pPr algn="ctr">
                        <a:buNone/>
                      </a:pPr>
                      <a:r>
                        <a:rPr sz="2004" b="1">
                          <a:solidFill>
                            <a:srgbClr val="FFFFFF"/>
                          </a:solidFill>
                          <a:latin typeface="Univers Condensed Light"/>
                          <a:ea typeface="Univers Condensed Light"/>
                          <a:cs typeface="Univers Condensed Light"/>
                        </a:rPr>
                        <a:t>Check</a:t>
                      </a:r>
                    </a:p>
                  </a:txBody>
                  <a:tcPr marL="91440" marR="91440" marT="45720" marB="45720" anchor="ctr">
                    <a:lnL w="12383">
                      <a:solidFill>
                        <a:srgbClr val="FFFFFF"/>
                      </a:solidFill>
                      <a:prstDash val="solid"/>
                    </a:lnL>
                    <a:lnR w="12383">
                      <a:solidFill>
                        <a:srgbClr val="FFFFFF"/>
                      </a:solidFill>
                      <a:prstDash val="solid"/>
                    </a:lnR>
                    <a:lnT w="12383">
                      <a:solidFill>
                        <a:srgbClr val="FFFFFF"/>
                      </a:solidFill>
                      <a:prstDash val="solid"/>
                    </a:lnT>
                    <a:lnB w="12383">
                      <a:solidFill>
                        <a:srgbClr val="FFFFFF"/>
                      </a:solidFill>
                      <a:prstDash val="solid"/>
                    </a:lnB>
                    <a:solidFill>
                      <a:srgbClr val="4A66AC"/>
                    </a:solidFill>
                  </a:tcPr>
                </a:tc>
                <a:tc>
                  <a:txBody>
                    <a:bodyPr/>
                    <a:lstStyle/>
                    <a:p>
                      <a:pPr algn="ctr">
                        <a:buNone/>
                      </a:pPr>
                      <a:r>
                        <a:rPr sz="2004" b="1">
                          <a:solidFill>
                            <a:srgbClr val="FFFFFF"/>
                          </a:solidFill>
                          <a:latin typeface="Univers Condensed Light"/>
                          <a:ea typeface="Univers Condensed Light"/>
                          <a:cs typeface="Univers Condensed Light"/>
                        </a:rPr>
                        <a:t>Type rule</a:t>
                      </a:r>
                    </a:p>
                  </a:txBody>
                  <a:tcPr marL="91440" marR="91440" marT="45720" marB="45720" anchor="ctr">
                    <a:lnL w="12383" cmpd="sng">
                      <a:solidFill>
                        <a:srgbClr val="FFFFFF"/>
                      </a:solidFill>
                      <a:prstDash val="solid"/>
                    </a:lnL>
                    <a:lnR w="12383">
                      <a:solidFill>
                        <a:srgbClr val="FFFFFF"/>
                      </a:solidFill>
                      <a:prstDash val="solid"/>
                    </a:lnR>
                    <a:lnT w="12383">
                      <a:solidFill>
                        <a:srgbClr val="FFFFFF"/>
                      </a:solidFill>
                      <a:prstDash val="solid"/>
                    </a:lnT>
                    <a:lnB w="12383">
                      <a:solidFill>
                        <a:srgbClr val="FFFFFF"/>
                      </a:solidFill>
                      <a:prstDash val="solid"/>
                    </a:lnB>
                    <a:solidFill>
                      <a:srgbClr val="4A66AC"/>
                    </a:solidFill>
                  </a:tcPr>
                </a:tc>
              </a:tr>
              <a:tr h="714375">
                <a:tc>
                  <a:txBody>
                    <a:bodyPr/>
                    <a:lstStyle/>
                    <a:p>
                      <a:pPr algn="l">
                        <a:buNone/>
                      </a:pPr>
                      <a:r>
                        <a:rPr sz="2004" b="0">
                          <a:solidFill>
                            <a:srgbClr val="000000"/>
                          </a:solidFill>
                          <a:latin typeface="Univers Condensed Light"/>
                          <a:ea typeface="Univers Condensed Light"/>
                          <a:cs typeface="Univers Condensed Light"/>
                        </a:rPr>
                        <a:t>Value types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c>
                  <a:txBody>
                    <a:bodyPr/>
                    <a:lstStyle/>
                    <a:p>
                      <a:pPr algn="l">
                        <a:buNone/>
                      </a:pPr>
                      <a:r>
                        <a:rPr sz="2004" b="0">
                          <a:solidFill>
                            <a:srgbClr val="000000"/>
                          </a:solidFill>
                          <a:latin typeface="Univers Condensed Light"/>
                          <a:ea typeface="Univers Condensed Light"/>
                          <a:cs typeface="Univers Condensed Light"/>
                        </a:rPr>
                        <a:t>int, float, bool, and char. void is used for function returns.</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r>
              <a:tr h="714375">
                <a:tc>
                  <a:txBody>
                    <a:bodyPr/>
                    <a:lstStyle/>
                    <a:p>
                      <a:pPr algn="l">
                        <a:buNone/>
                      </a:pPr>
                      <a:r>
                        <a:rPr sz="2004" b="0">
                          <a:solidFill>
                            <a:srgbClr val="000000"/>
                          </a:solidFill>
                          <a:latin typeface="Univers Condensed Light"/>
                          <a:ea typeface="Univers Condensed Light"/>
                          <a:cs typeface="Univers Condensed Light"/>
                        </a:rPr>
                        <a:t>Assignments and arguments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c>
                  <a:txBody>
                    <a:bodyPr/>
                    <a:lstStyle/>
                    <a:p>
                      <a:pPr algn="l">
                        <a:buNone/>
                      </a:pPr>
                      <a:r>
                        <a:rPr sz="2004" b="0">
                          <a:solidFill>
                            <a:srgbClr val="000000"/>
                          </a:solidFill>
                          <a:latin typeface="Univers Condensed Light"/>
                          <a:ea typeface="Univers Condensed Light"/>
                          <a:cs typeface="Univers Condensed Light"/>
                        </a:rPr>
                        <a:t>Exact type matches or implicit int-to-float widening.</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r>
              <a:tr h="714375">
                <a:tc>
                  <a:txBody>
                    <a:bodyPr/>
                    <a:lstStyle/>
                    <a:p>
                      <a:pPr algn="l">
                        <a:buNone/>
                      </a:pPr>
                      <a:r>
                        <a:rPr sz="2004" b="0">
                          <a:solidFill>
                            <a:srgbClr val="000000"/>
                          </a:solidFill>
                          <a:latin typeface="Univers Condensed Light"/>
                          <a:ea typeface="Univers Condensed Light"/>
                          <a:cs typeface="Univers Condensed Light"/>
                        </a:rPr>
                        <a:t>Arithmetic operators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c>
                  <a:txBody>
                    <a:bodyPr/>
                    <a:lstStyle/>
                    <a:p>
                      <a:pPr algn="l">
                        <a:buNone/>
                      </a:pPr>
                      <a:r>
                        <a:rPr sz="2004" b="0">
                          <a:solidFill>
                            <a:srgbClr val="000000"/>
                          </a:solidFill>
                          <a:latin typeface="Univers Condensed Light"/>
                          <a:ea typeface="Univers Condensed Light"/>
                          <a:cs typeface="Univers Condensed Light"/>
                        </a:rPr>
                        <a:t>Numeric operands. Modulo requires two integers.</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r>
              <a:tr h="714375">
                <a:tc>
                  <a:txBody>
                    <a:bodyPr/>
                    <a:lstStyle/>
                    <a:p>
                      <a:pPr algn="l">
                        <a:buNone/>
                      </a:pPr>
                      <a:r>
                        <a:rPr sz="2004" b="0">
                          <a:solidFill>
                            <a:srgbClr val="000000"/>
                          </a:solidFill>
                          <a:latin typeface="Univers Condensed Light"/>
                          <a:ea typeface="Univers Condensed Light"/>
                          <a:cs typeface="Univers Condensed Light"/>
                        </a:rPr>
                        <a:t>Logical operators and conditions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c>
                  <a:txBody>
                    <a:bodyPr/>
                    <a:lstStyle/>
                    <a:p>
                      <a:pPr algn="l">
                        <a:buNone/>
                      </a:pPr>
                      <a:r>
                        <a:rPr sz="2004" b="0">
                          <a:solidFill>
                            <a:srgbClr val="000000"/>
                          </a:solidFill>
                          <a:latin typeface="Univers Condensed Light"/>
                          <a:ea typeface="Univers Condensed Light"/>
                          <a:cs typeface="Univers Condensed Light"/>
                        </a:rPr>
                        <a:t>Boolean operands and Boolean if/while conditions.</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r>
              <a:tr h="714375">
                <a:tc>
                  <a:txBody>
                    <a:bodyPr/>
                    <a:lstStyle/>
                    <a:p>
                      <a:pPr algn="l">
                        <a:buNone/>
                      </a:pPr>
                      <a:r>
                        <a:rPr sz="2004" b="0">
                          <a:solidFill>
                            <a:srgbClr val="000000"/>
                          </a:solidFill>
                          <a:latin typeface="Univers Condensed Light"/>
                          <a:ea typeface="Univers Condensed Light"/>
                          <a:cs typeface="Univers Condensed Light"/>
                        </a:rPr>
                        <a:t>Relational and equality checks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c>
                  <a:txBody>
                    <a:bodyPr/>
                    <a:lstStyle/>
                    <a:p>
                      <a:pPr algn="l">
                        <a:buNone/>
                      </a:pPr>
                      <a:r>
                        <a:rPr sz="2004" b="0">
                          <a:solidFill>
                            <a:srgbClr val="000000"/>
                          </a:solidFill>
                          <a:latin typeface="Univers Condensed Light"/>
                          <a:ea typeface="Univers Condensed Light"/>
                          <a:cs typeface="Univers Condensed Light"/>
                        </a:rPr>
                        <a:t>Compatible operand types. Comparisons produce a Boolean value.</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r>
            </a:tbl>
          </a:graphicData>
        </a:graphic>
      </p:graphicFrame>
    </p:spTree>
    <p:extLst>
      <p:ext uri="{BB962C8B-B14F-4D97-AF65-F5344CB8AC3E}">
        <p14:creationId xmlns:p14="http://schemas.microsoft.com/office/powerpoint/2010/main" val="91968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301C53A5-FA10-4630-972E-1AB7FF0F9D92}"/>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BASIC FUNCTION CHECKS</a:t>
            </a:r>
          </a:p>
        </p:txBody>
      </p:sp>
      <p:sp>
        <p:nvSpPr>
          <p:cNvPr id="2" name="Template footer rule">
            <a:extLst xmlns:a="http://schemas.openxmlformats.org/drawingml/2006/main">
              <a:ext uri="{FF2B5EF4-FFF2-40B4-BE49-F238E27FC236}">
                <a16:creationId xmlns:a16="http://schemas.microsoft.com/office/drawing/2014/main" id="{19E486FC-456C-4AEB-B9EB-339765421481}"/>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Editable bullet list">
            <a:extLst xmlns:a="http://schemas.openxmlformats.org/drawingml/2006/main">
              <a:ext uri="{FF2B5EF4-FFF2-40B4-BE49-F238E27FC236}">
                <a16:creationId xmlns:a16="http://schemas.microsoft.com/office/drawing/2014/main" id="{7425AC93-1760-4888-BF1F-EADD38C0533A}"/>
              </a:ext>
            </a:extLst>
          </p:cNvPr>
          <p:cNvSpPr>
            <a:spLocks xmlns:a="http://schemas.openxmlformats.org/drawingml/2006/main" noGrp="1"/>
          </p:cNvSpPr>
          <p:nvPr/>
        </p:nvSpPr>
        <p:spPr>
          <a:xfrm xmlns:a="http://schemas.openxmlformats.org/drawingml/2006/main">
            <a:off x="695325" y="1857375"/>
            <a:ext cx="107918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Function calls must match the declared argument count and parameter types.</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Explicit return values must match the function return type, with int-to-float widening allowed.</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A void function can use return without a value. A non-void return statement needs a value.</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Parameters belong to the function scope. Function definitions appear before calls.</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The analyzer rejects returns outside functions and assignment to a function name.</a:t>
            </a:r>
          </a:p>
        </p:txBody>
      </p:sp>
    </p:spTree>
    <p:extLst>
      <p:ext uri="{BB962C8B-B14F-4D97-AF65-F5344CB8AC3E}">
        <p14:creationId xmlns:p14="http://schemas.microsoft.com/office/powerpoint/2010/main" val="11603431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3D16B03F-9C05-4A0E-9175-0A7CED6F81FC}"/>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DIAGNOSTICS AND ERROR HANDLING</a:t>
            </a:r>
          </a:p>
        </p:txBody>
      </p:sp>
      <p:sp>
        <p:nvSpPr>
          <p:cNvPr id="2" name="Template footer rule">
            <a:extLst xmlns:a="http://schemas.openxmlformats.org/drawingml/2006/main">
              <a:ext uri="{FF2B5EF4-FFF2-40B4-BE49-F238E27FC236}">
                <a16:creationId xmlns:a16="http://schemas.microsoft.com/office/drawing/2014/main" id="{AEDC91B3-60DB-4B2A-8416-A24E8559C462}"/>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Editable bullet list">
            <a:extLst xmlns:a="http://schemas.openxmlformats.org/drawingml/2006/main">
              <a:ext uri="{FF2B5EF4-FFF2-40B4-BE49-F238E27FC236}">
                <a16:creationId xmlns:a16="http://schemas.microsoft.com/office/drawing/2014/main" id="{913117AC-89E1-404C-A9D8-6759D77AFE28}"/>
              </a:ext>
            </a:extLst>
          </p:cNvPr>
          <p:cNvSpPr>
            <a:spLocks xmlns:a="http://schemas.openxmlformats.org/drawingml/2006/main" noGrp="1"/>
          </p:cNvSpPr>
          <p:nvPr/>
        </p:nvSpPr>
        <p:spPr>
          <a:xfrm xmlns:a="http://schemas.openxmlformats.org/drawingml/2006/main">
            <a:off x="695325" y="1857375"/>
            <a:ext cx="107918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Each diagnostic identifies the lexical, syntax, or semantic phase.</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The report shows line and column, the source excerpt, and a caret at the error.</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The reason explains the violated rule, such as an incompatible assignment type.</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Added lexical validation rejects malformed character literals, unfinished block comments, and unsupported ++/-- operators.</a:t>
            </a:r>
          </a:p>
          <a:p xmlns:a="http://schemas.openxmlformats.org/drawingml/2006/main">
            <a:pPr marL="228600" indent="-165100" algn="l">
              <a:spcAft>
                <a:spcPts val="17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An internal error type suppresses secondary type errors caused by an invalid expression.</a:t>
            </a:r>
          </a:p>
        </p:txBody>
      </p:sp>
    </p:spTree>
    <p:extLst>
      <p:ext uri="{BB962C8B-B14F-4D97-AF65-F5344CB8AC3E}">
        <p14:creationId xmlns:p14="http://schemas.microsoft.com/office/powerpoint/2010/main" val="1778279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2FCB0043-2D1A-4856-9BFC-74A8B7F1BE30}"/>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VERIFICATION</a:t>
            </a:r>
          </a:p>
        </p:txBody>
      </p:sp>
      <p:sp>
        <p:nvSpPr>
          <p:cNvPr id="2" name="Template footer rule">
            <a:extLst xmlns:a="http://schemas.openxmlformats.org/drawingml/2006/main">
              <a:ext uri="{FF2B5EF4-FFF2-40B4-BE49-F238E27FC236}">
                <a16:creationId xmlns:a16="http://schemas.microsoft.com/office/drawing/2014/main" id="{60C8CAFA-357F-4C27-B538-7CA5EFD68126}"/>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graphicFrame>
        <p:nvGraphicFramePr>
          <p:cNvPr id="3" name="Table 2">
            <a:extLst xmlns:a="http://schemas.openxmlformats.org/drawingml/2006/main">
              <a:ext uri="{FF2B5EF4-FFF2-40B4-BE49-F238E27FC236}">
                <a16:creationId xmlns:a16="http://schemas.microsoft.com/office/drawing/2014/main" id="{CDC4C486-4C01-4ECE-83DA-BB9222E8C625}"/>
              </a:ext>
            </a:extLst>
          </p:cNvPr>
          <p:cNvGraphicFramePr/>
          <p:nvPr/>
        </p:nvGraphicFramePr>
        <p:xfrm>
          <a:off xmlns:a="http://schemas.openxmlformats.org/drawingml/2006/main" x="695325" y="1809750"/>
          <a:ext xmlns:a="http://schemas.openxmlformats.org/drawingml/2006/main" cx="7048500" cy="3019425"/>
        </p:xfrm>
        <a:graphic xmlns:a="http://schemas.openxmlformats.org/drawingml/2006/main">
          <a:graphicData uri="http://schemas.openxmlformats.org/drawingml/2006/table">
            <a:tbl>
              <a:tblPr/>
              <a:tblGrid>
                <a:gridCol w="5143500"/>
                <a:gridCol w="1905000"/>
              </a:tblGrid>
              <a:tr h="542925">
                <a:tc>
                  <a:txBody>
                    <a:bodyPr/>
                    <a:lstStyle/>
                    <a:p>
                      <a:pPr algn="ctr">
                        <a:buNone/>
                      </a:pPr>
                      <a:r>
                        <a:rPr sz="2100" b="1">
                          <a:solidFill>
                            <a:srgbClr val="FFFFFF"/>
                          </a:solidFill>
                          <a:latin typeface="Univers Condensed Light"/>
                          <a:ea typeface="Univers Condensed Light"/>
                          <a:cs typeface="Univers Condensed Light"/>
                        </a:rPr>
                        <a:t>Review II test group</a:t>
                      </a:r>
                    </a:p>
                  </a:txBody>
                  <a:tcPr marL="91440" marR="91440" marT="45720" marB="45720" anchor="ctr">
                    <a:lnL w="12383">
                      <a:solidFill>
                        <a:srgbClr val="FFFFFF"/>
                      </a:solidFill>
                      <a:prstDash val="solid"/>
                    </a:lnL>
                    <a:lnR w="12383">
                      <a:solidFill>
                        <a:srgbClr val="FFFFFF"/>
                      </a:solidFill>
                      <a:prstDash val="solid"/>
                    </a:lnR>
                    <a:lnT w="12383">
                      <a:solidFill>
                        <a:srgbClr val="FFFFFF"/>
                      </a:solidFill>
                      <a:prstDash val="solid"/>
                    </a:lnT>
                    <a:lnB w="12383">
                      <a:solidFill>
                        <a:srgbClr val="FFFFFF"/>
                      </a:solidFill>
                      <a:prstDash val="solid"/>
                    </a:lnB>
                    <a:solidFill>
                      <a:srgbClr val="4A66AC"/>
                    </a:solidFill>
                  </a:tcPr>
                </a:tc>
                <a:tc>
                  <a:txBody>
                    <a:bodyPr/>
                    <a:lstStyle/>
                    <a:p>
                      <a:pPr algn="ctr">
                        <a:buNone/>
                      </a:pPr>
                      <a:r>
                        <a:rPr sz="2100" b="1">
                          <a:solidFill>
                            <a:srgbClr val="FFFFFF"/>
                          </a:solidFill>
                          <a:latin typeface="Univers Condensed Light"/>
                          <a:ea typeface="Univers Condensed Light"/>
                          <a:cs typeface="Univers Condensed Light"/>
                        </a:rPr>
                        <a:t>Cases</a:t>
                      </a:r>
                    </a:p>
                  </a:txBody>
                  <a:tcPr marL="91440" marR="91440" marT="45720" marB="45720" anchor="ctr">
                    <a:lnL w="12383" cmpd="sng">
                      <a:solidFill>
                        <a:srgbClr val="FFFFFF"/>
                      </a:solidFill>
                      <a:prstDash val="solid"/>
                    </a:lnL>
                    <a:lnR w="12383">
                      <a:solidFill>
                        <a:srgbClr val="FFFFFF"/>
                      </a:solidFill>
                      <a:prstDash val="solid"/>
                    </a:lnR>
                    <a:lnT w="12383">
                      <a:solidFill>
                        <a:srgbClr val="FFFFFF"/>
                      </a:solidFill>
                      <a:prstDash val="solid"/>
                    </a:lnT>
                    <a:lnB w="12383">
                      <a:solidFill>
                        <a:srgbClr val="FFFFFF"/>
                      </a:solidFill>
                      <a:prstDash val="solid"/>
                    </a:lnB>
                    <a:solidFill>
                      <a:srgbClr val="4A66AC"/>
                    </a:solidFill>
                  </a:tcPr>
                </a:tc>
              </a:tr>
              <a:tr h="619125">
                <a:tc>
                  <a:txBody>
                    <a:bodyPr/>
                    <a:lstStyle/>
                    <a:p>
                      <a:pPr algn="l">
                        <a:buNone/>
                      </a:pPr>
                      <a:r>
                        <a:rPr sz="2100" b="0">
                          <a:solidFill>
                            <a:srgbClr val="000000"/>
                          </a:solidFill>
                          <a:latin typeface="Univers Condensed Light"/>
                          <a:ea typeface="Univers Condensed Light"/>
                          <a:cs typeface="Univers Condensed Light"/>
                        </a:rPr>
                        <a:t>Valid basic, scope, and function inputs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c>
                  <a:txBody>
                    <a:bodyPr/>
                    <a:lstStyle/>
                    <a:p>
                      <a:pPr algn="l">
                        <a:buNone/>
                      </a:pPr>
                      <a:r>
                        <a:rPr sz="2100" b="0">
                          <a:solidFill>
                            <a:srgbClr val="000000"/>
                          </a:solidFill>
                          <a:latin typeface="Univers Condensed Light"/>
                          <a:ea typeface="Univers Condensed Light"/>
                          <a:cs typeface="Univers Condensed Light"/>
                        </a:rPr>
                        <a:t>3</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r>
              <a:tr h="619125">
                <a:tc>
                  <a:txBody>
                    <a:bodyPr/>
                    <a:lstStyle/>
                    <a:p>
                      <a:pPr algn="l">
                        <a:buNone/>
                      </a:pPr>
                      <a:r>
                        <a:rPr sz="2100" b="0">
                          <a:solidFill>
                            <a:srgbClr val="000000"/>
                          </a:solidFill>
                          <a:latin typeface="Univers Condensed Light"/>
                          <a:ea typeface="Univers Condensed Light"/>
                          <a:cs typeface="Univers Condensed Light"/>
                        </a:rPr>
                        <a:t>Undeclared, duplicate, type, argument, return errors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c>
                  <a:txBody>
                    <a:bodyPr/>
                    <a:lstStyle/>
                    <a:p>
                      <a:pPr algn="l">
                        <a:buNone/>
                      </a:pPr>
                      <a:r>
                        <a:rPr sz="2100" b="0">
                          <a:solidFill>
                            <a:srgbClr val="000000"/>
                          </a:solidFill>
                          <a:latin typeface="Univers Condensed Light"/>
                          <a:ea typeface="Univers Condensed Light"/>
                          <a:cs typeface="Univers Condensed Light"/>
                        </a:rPr>
                        <a:t>5</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r>
              <a:tr h="619125">
                <a:tc>
                  <a:txBody>
                    <a:bodyPr/>
                    <a:lstStyle/>
                    <a:p>
                      <a:pPr algn="l">
                        <a:buNone/>
                      </a:pPr>
                      <a:r>
                        <a:rPr sz="2100" b="0">
                          <a:solidFill>
                            <a:srgbClr val="000000"/>
                          </a:solidFill>
                          <a:latin typeface="Univers Condensed Light"/>
                          <a:ea typeface="Univers Condensed Light"/>
                          <a:cs typeface="Univers Condensed Light"/>
                        </a:rPr>
                        <a:t>Total focused review inputs</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c>
                  <a:txBody>
                    <a:bodyPr/>
                    <a:lstStyle/>
                    <a:p>
                      <a:pPr algn="l">
                        <a:buNone/>
                      </a:pPr>
                      <a:r>
                        <a:rPr sz="2100" b="0">
                          <a:solidFill>
                            <a:srgbClr val="000000"/>
                          </a:solidFill>
                          <a:latin typeface="Univers Condensed Light"/>
                          <a:ea typeface="Univers Condensed Light"/>
                          <a:cs typeface="Univers Condensed Light"/>
                        </a:rPr>
                        <a:t>8</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D0D3E3"/>
                    </a:solidFill>
                  </a:tcPr>
                </a:tc>
              </a:tr>
              <a:tr h="619125">
                <a:tc>
                  <a:txBody>
                    <a:bodyPr/>
                    <a:lstStyle/>
                    <a:p>
                      <a:pPr algn="l">
                        <a:buNone/>
                      </a:pPr>
                      <a:r>
                        <a:rPr sz="2100" b="0">
                          <a:solidFill>
                            <a:srgbClr val="000000"/>
                          </a:solidFill>
                          <a:latin typeface="Univers Condensed Light"/>
                          <a:ea typeface="Univers Condensed Light"/>
                          <a:cs typeface="Univers Condensed Light"/>
                        </a:rPr>
                        <a:t>Expected outcomes matched</a:t>
                      </a:r>
                    </a:p>
                  </a:txBody>
                  <a:tcPr marL="91440" marR="91440" marT="45720" marB="45720" anchor="ctr">
                    <a:lnL w="12383">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c>
                  <a:txBody>
                    <a:bodyPr/>
                    <a:lstStyle/>
                    <a:p>
                      <a:pPr algn="l">
                        <a:buNone/>
                      </a:pPr>
                      <a:r>
                        <a:rPr sz="2100" b="0">
                          <a:solidFill>
                            <a:srgbClr val="000000"/>
                          </a:solidFill>
                          <a:latin typeface="Univers Condensed Light"/>
                          <a:ea typeface="Univers Condensed Light"/>
                          <a:cs typeface="Univers Condensed Light"/>
                        </a:rPr>
                        <a:t>8</a:t>
                      </a:r>
                    </a:p>
                  </a:txBody>
                  <a:tcPr marL="91440" marR="91440" marT="45720" marB="45720" anchor="ctr">
                    <a:lnL w="12383" cmpd="sng">
                      <a:solidFill>
                        <a:srgbClr val="FFFFFF"/>
                      </a:solidFill>
                      <a:prstDash val="solid"/>
                    </a:lnL>
                    <a:lnR w="12383">
                      <a:solidFill>
                        <a:srgbClr val="FFFFFF"/>
                      </a:solidFill>
                      <a:prstDash val="solid"/>
                    </a:lnR>
                    <a:lnT w="12383" cmpd="sng">
                      <a:solidFill>
                        <a:srgbClr val="FFFFFF"/>
                      </a:solidFill>
                      <a:prstDash val="solid"/>
                    </a:lnT>
                    <a:lnB w="12383">
                      <a:solidFill>
                        <a:srgbClr val="FFFFFF"/>
                      </a:solidFill>
                      <a:prstDash val="solid"/>
                    </a:lnB>
                    <a:solidFill>
                      <a:srgbClr val="E9EAF1"/>
                    </a:solidFill>
                  </a:tcPr>
                </a:tc>
              </a:tr>
            </a:tbl>
          </a:graphicData>
        </a:graphic>
      </p:graphicFrame>
      <p:sp>
        <p:nvSpPr>
          <p:cNvPr id="4" name="48 passed&#10;0 failed">
            <a:extLst xmlns:a="http://schemas.openxmlformats.org/drawingml/2006/main">
              <a:ext uri="{FF2B5EF4-FFF2-40B4-BE49-F238E27FC236}">
                <a16:creationId xmlns:a16="http://schemas.microsoft.com/office/drawing/2014/main" id="{4E4C45E8-18F4-4C60-AEDC-8071A31DBA5D}"/>
              </a:ext>
            </a:extLst>
          </p:cNvPr>
          <p:cNvSpPr>
            <a:spLocks xmlns:a="http://schemas.openxmlformats.org/drawingml/2006/main" noGrp="1"/>
          </p:cNvSpPr>
          <p:nvPr/>
        </p:nvSpPr>
        <p:spPr>
          <a:xfrm xmlns:a="http://schemas.openxmlformats.org/drawingml/2006/main">
            <a:off x="8239125" y="2324100"/>
            <a:ext cx="309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404" b="0">
                <a:solidFill>
                  <a:srgbClr val="4A66AC"/>
                </a:solidFill>
                <a:latin typeface="Oswald SemiBold"/>
                <a:ea typeface="Oswald SemiBold"/>
                <a:cs typeface="Oswald SemiBold"/>
              </a:defRPr>
            </a:defPPr>
          </a:lstStyle>
          <a:p xmlns:a="http://schemas.openxmlformats.org/drawingml/2006/main">
            <a:pPr algn="ctr">
              <a:buNone/>
              <a:defRPr sz="4404" b="0">
                <a:solidFill>
                  <a:srgbClr val="4A66AC"/>
                </a:solidFill>
                <a:latin typeface="Oswald SemiBold"/>
                <a:ea typeface="Oswald SemiBold"/>
                <a:cs typeface="Oswald SemiBold"/>
              </a:defRPr>
            </a:pPr>
            <a:r>
              <a:rPr sz="4404" b="0">
                <a:solidFill>
                  <a:srgbClr val="4A66AC"/>
                </a:solidFill>
                <a:latin typeface="Oswald SemiBold"/>
                <a:ea typeface="Oswald SemiBold"/>
                <a:cs typeface="Oswald SemiBold"/>
              </a:rPr>
              <a:t>8 matched</a:t>
            </a:r>
          </a:p>
          <a:p xmlns:a="http://schemas.openxmlformats.org/drawingml/2006/main">
            <a:pPr algn="ctr">
              <a:buNone/>
              <a:defRPr sz="4404" b="0">
                <a:solidFill>
                  <a:srgbClr val="4A66AC"/>
                </a:solidFill>
                <a:latin typeface="Oswald SemiBold"/>
                <a:ea typeface="Oswald SemiBold"/>
                <a:cs typeface="Oswald SemiBold"/>
              </a:defRPr>
            </a:pPr>
            <a:r>
              <a:rPr sz="4404" b="0">
                <a:solidFill>
                  <a:srgbClr val="4A66AC"/>
                </a:solidFill>
                <a:latin typeface="Oswald SemiBold"/>
                <a:ea typeface="Oswald SemiBold"/>
                <a:cs typeface="Oswald SemiBold"/>
              </a:rPr>
              <a:t>0 failed</a:t>
            </a:r>
          </a:p>
        </p:txBody>
      </p:sp>
      <p:sp>
        <p:nvSpPr>
          <p:cNvPr id="5" name="Negative tests verify the error phase, count,">
            <a:extLst xmlns:a="http://schemas.openxmlformats.org/drawingml/2006/main">
              <a:ext uri="{FF2B5EF4-FFF2-40B4-BE49-F238E27FC236}">
                <a16:creationId xmlns:a16="http://schemas.microsoft.com/office/drawing/2014/main" id="{A02AAB47-13BC-40B2-AF2C-3B9935FCB26F}"/>
              </a:ext>
            </a:extLst>
          </p:cNvPr>
          <p:cNvSpPr>
            <a:spLocks xmlns:a="http://schemas.openxmlformats.org/drawingml/2006/main" noGrp="1"/>
          </p:cNvSpPr>
          <p:nvPr/>
        </p:nvSpPr>
        <p:spPr>
          <a:xfrm xmlns:a="http://schemas.openxmlformats.org/drawingml/2006/main">
            <a:off x="695325" y="5314950"/>
            <a:ext cx="10791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algn="l">
              <a:buNone/>
              <a:defRPr sz="2004" b="0">
                <a:solidFill>
                  <a:srgbClr val="262557"/>
                </a:solidFill>
                <a:latin typeface="Univers Condensed Light"/>
                <a:ea typeface="Univers Condensed Light"/>
                <a:cs typeface="Univers Condensed Light"/>
              </a:defRPr>
            </a:pPr>
            <a:r>
              <a:rPr sz="2004" b="0">
                <a:solidFill>
                  <a:srgbClr val="262557"/>
                </a:solidFill>
                <a:latin typeface="Univers Condensed Light"/>
                <a:ea typeface="Univers Condensed Light"/>
                <a:cs typeface="Univers Condensed Light"/>
              </a:rPr>
              <a:t>Three valid inputs pass. Five invalid inputs report the expected semantic errors.</a:t>
            </a:r>
          </a:p>
        </p:txBody>
      </p:sp>
    </p:spTree>
    <p:extLst>
      <p:ext uri="{BB962C8B-B14F-4D97-AF65-F5344CB8AC3E}">
        <p14:creationId xmlns:p14="http://schemas.microsoft.com/office/powerpoint/2010/main" val="1037840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49676501-7E81-4680-A376-55C2BF1D0F28}"/>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OUTPUT I</a:t>
            </a:r>
          </a:p>
        </p:txBody>
      </p:sp>
      <p:sp>
        <p:nvSpPr>
          <p:cNvPr id="2" name="Slide subtitle">
            <a:extLst xmlns:a="http://schemas.openxmlformats.org/drawingml/2006/main">
              <a:ext uri="{FF2B5EF4-FFF2-40B4-BE49-F238E27FC236}">
                <a16:creationId xmlns:a16="http://schemas.microsoft.com/office/drawing/2014/main" id="{1C9FA938-37C5-4DBF-B2B2-71C786D5D4E8}"/>
              </a:ext>
            </a:extLst>
          </p:cNvPr>
          <p:cNvSpPr>
            <a:spLocks xmlns:a="http://schemas.openxmlformats.org/drawingml/2006/main" noGrp="1"/>
          </p:cNvSpPr>
          <p:nvPr/>
        </p:nvSpPr>
        <p:spPr>
          <a:xfrm xmlns:a="http://schemas.openxmlformats.org/drawingml/2006/main">
            <a:off x="694944" y="15144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5AA2AE"/>
                </a:solidFill>
                <a:latin typeface="Oswald SemiBold"/>
                <a:ea typeface="Oswald SemiBold"/>
                <a:cs typeface="Oswald SemiBold"/>
              </a:defRPr>
            </a:defPPr>
          </a:lstStyle>
          <a:p xmlns:a="http://schemas.openxmlformats.org/drawingml/2006/main">
            <a:pPr algn="l">
              <a:buNone/>
              <a:defRPr sz="2100" b="0">
                <a:solidFill>
                  <a:srgbClr val="5AA2AE"/>
                </a:solidFill>
                <a:latin typeface="Oswald SemiBold"/>
                <a:ea typeface="Oswald SemiBold"/>
                <a:cs typeface="Oswald SemiBold"/>
              </a:defRPr>
            </a:pPr>
            <a:r>
              <a:rPr sz="2100" b="0">
                <a:solidFill>
                  <a:srgbClr val="5AA2AE"/>
                </a:solidFill>
                <a:latin typeface="Oswald SemiBold"/>
                <a:ea typeface="Oswald SemiBold"/>
                <a:cs typeface="Oswald SemiBold"/>
              </a:rPr>
              <a:t>TOKENS AND INITIAL AST</a:t>
            </a:r>
            <a:endParaRPr sz="2100" b="0">
              <a:solidFill>
                <a:srgbClr val="5AA2AE"/>
              </a:solidFill>
              <a:latin typeface="Oswald SemiBold"/>
              <a:ea typeface="Oswald SemiBold"/>
              <a:cs typeface="Oswald SemiBold"/>
            </a:endParaRPr>
          </a:p>
        </p:txBody>
      </p:sp>
      <p:sp>
        <p:nvSpPr>
          <p:cNvPr id="3" name="Template footer rule">
            <a:extLst xmlns:a="http://schemas.openxmlformats.org/drawingml/2006/main">
              <a:ext uri="{FF2B5EF4-FFF2-40B4-BE49-F238E27FC236}">
                <a16:creationId xmlns:a16="http://schemas.microsoft.com/office/drawing/2014/main" id="{46881EC5-C792-46E0-8578-768F6F0AC3B8}"/>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Editable actual console output">
            <a:extLst xmlns:a="http://schemas.openxmlformats.org/drawingml/2006/main">
              <a:ext uri="{FF2B5EF4-FFF2-40B4-BE49-F238E27FC236}">
                <a16:creationId xmlns:a16="http://schemas.microsoft.com/office/drawing/2014/main" id="{7E25D07E-020C-4A0C-BB93-A24C389E81FF}"/>
              </a:ext>
            </a:extLst>
          </p:cNvPr>
          <p:cNvSpPr>
            <a:spLocks xmlns:a="http://schemas.openxmlformats.org/drawingml/2006/main" noGrp="1"/>
          </p:cNvSpPr>
          <p:nvPr/>
        </p:nvSpPr>
        <p:spPr>
          <a:xfrm xmlns:a="http://schemas.openxmlformats.org/drawingml/2006/main">
            <a:off x="695325" y="2076450"/>
            <a:ext cx="5543550" cy="3914775"/>
          </a:xfrm>
          <a:prstGeom xmlns:a="http://schemas.openxmlformats.org/drawingml/2006/main" prst="rect">
            <a:avLst/>
          </a:prstGeom>
          <a:solidFill xmlns:a="http://schemas.openxmlformats.org/drawingml/2006/main">
            <a:srgbClr val="1F1F1F"/>
          </a:solidFill>
          <a:ln xmlns:a="http://schemas.openxmlformats.org/drawingml/2006/main" w="0">
            <a:noFill/>
          </a:ln>
        </p:spPr>
        <p:txBody>
          <a:bodyPr xmlns:a="http://schemas.openxmlformats.org/drawingml/2006/main" wrap="none" lIns="171450" tIns="133350" rIns="171450" bIns="133350">
            <a:noAutofit/>
          </a:bodyPr>
          <a:lstStyle xmlns:a="http://schemas.openxmlformats.org/drawingml/2006/main">
            <a:defPPr>
              <a:defRPr sz="1500">
                <a:solidFill>
                  <a:srgbClr val="F0F0F0"/>
                </a:solidFill>
                <a:latin typeface="Consolas"/>
                <a:ea typeface="Consolas"/>
                <a:cs typeface="Consolas"/>
              </a:defRPr>
            </a:defPPr>
          </a:lstStyle>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Line    Column  Token               Lexeme</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2       1       KEYWORD_INT         int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2       5       IDENTIFIER          main</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2       9       (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2       10      )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2       12      {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5       KEYWORD_INT         int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9       IDENTIFIER          count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15      =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17      INT_LITERAL         2</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19      +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21      INT_LITERAL         3</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23      *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25      INT_LITERAL         4</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3       26      ;                   ;</a:t>
            </a:r>
          </a:p>
        </p:txBody>
      </p:sp>
      <p:sp>
        <p:nvSpPr>
          <p:cNvPr id="6" name="Editable actual console output">
            <a:extLst xmlns:a="http://schemas.openxmlformats.org/drawingml/2006/main">
              <a:ext uri="{FF2B5EF4-FFF2-40B4-BE49-F238E27FC236}">
                <a16:creationId xmlns:a16="http://schemas.microsoft.com/office/drawing/2014/main" id="{D5F94152-E934-4AD2-887D-6449FC52F6AA}"/>
              </a:ext>
            </a:extLst>
          </p:cNvPr>
          <p:cNvSpPr>
            <a:spLocks xmlns:a="http://schemas.openxmlformats.org/drawingml/2006/main" noGrp="1"/>
          </p:cNvSpPr>
          <p:nvPr/>
        </p:nvSpPr>
        <p:spPr>
          <a:xfrm xmlns:a="http://schemas.openxmlformats.org/drawingml/2006/main">
            <a:off x="6419850" y="2076450"/>
            <a:ext cx="5067300" cy="3914775"/>
          </a:xfrm>
          <a:prstGeom xmlns:a="http://schemas.openxmlformats.org/drawingml/2006/main" prst="rect">
            <a:avLst/>
          </a:prstGeom>
          <a:solidFill xmlns:a="http://schemas.openxmlformats.org/drawingml/2006/main">
            <a:srgbClr val="1F1F1F"/>
          </a:solidFill>
          <a:ln xmlns:a="http://schemas.openxmlformats.org/drawingml/2006/main" w="0">
            <a:noFill/>
          </a:ln>
        </p:spPr>
        <p:txBody>
          <a:bodyPr xmlns:a="http://schemas.openxmlformats.org/drawingml/2006/main" wrap="none" lIns="171450" tIns="133350" rIns="171450" bIns="133350">
            <a:noAutofit/>
          </a:bodyPr>
          <a:lstStyle xmlns:a="http://schemas.openxmlformats.org/drawingml/2006/main">
            <a:defPPr>
              <a:defRPr sz="1500">
                <a:solidFill>
                  <a:srgbClr val="F0F0F0"/>
                </a:solidFill>
                <a:latin typeface="Consolas"/>
                <a:ea typeface="Consolas"/>
                <a:cs typeface="Consolas"/>
              </a:defRPr>
            </a:defPPr>
          </a:lstStyle>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Program</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FunctionDecl(int main)</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Block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VarDecl(int count)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BinaryExpr(+)</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LiteralExpr(2)</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BinaryExpr(*)</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LiteralExpr(3)</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LiteralExpr(4)</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a:t>
            </a:r>
          </a:p>
          <a:p xmlns:a="http://schemas.openxmlformats.org/drawingml/2006/main">
            <a:r>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Semantic analysis passed</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with 0 error(s).</a:t>
            </a:r>
          </a:p>
        </p:txBody>
      </p:sp>
    </p:spTree>
    <p:extLst>
      <p:ext uri="{BB962C8B-B14F-4D97-AF65-F5344CB8AC3E}">
        <p14:creationId xmlns:p14="http://schemas.microsoft.com/office/powerpoint/2010/main" val="12956386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6FE88E90-2559-46B8-8972-B1895C08BF2E}"/>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OUTPUT II</a:t>
            </a:r>
          </a:p>
        </p:txBody>
      </p:sp>
      <p:sp>
        <p:nvSpPr>
          <p:cNvPr id="2" name="Slide subtitle">
            <a:extLst xmlns:a="http://schemas.openxmlformats.org/drawingml/2006/main">
              <a:ext uri="{FF2B5EF4-FFF2-40B4-BE49-F238E27FC236}">
                <a16:creationId xmlns:a16="http://schemas.microsoft.com/office/drawing/2014/main" id="{A22ACE2F-DD4A-4537-9E72-08B5C15D69A6}"/>
              </a:ext>
            </a:extLst>
          </p:cNvPr>
          <p:cNvSpPr>
            <a:spLocks xmlns:a="http://schemas.openxmlformats.org/drawingml/2006/main" noGrp="1"/>
          </p:cNvSpPr>
          <p:nvPr/>
        </p:nvSpPr>
        <p:spPr>
          <a:xfrm xmlns:a="http://schemas.openxmlformats.org/drawingml/2006/main">
            <a:off x="694944" y="15144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5AA2AE"/>
                </a:solidFill>
                <a:latin typeface="Oswald SemiBold"/>
                <a:ea typeface="Oswald SemiBold"/>
                <a:cs typeface="Oswald SemiBold"/>
              </a:defRPr>
            </a:defPPr>
          </a:lstStyle>
          <a:p xmlns:a="http://schemas.openxmlformats.org/drawingml/2006/main">
            <a:pPr algn="l">
              <a:buNone/>
              <a:defRPr sz="2100" b="0">
                <a:solidFill>
                  <a:srgbClr val="5AA2AE"/>
                </a:solidFill>
                <a:latin typeface="Oswald SemiBold"/>
                <a:ea typeface="Oswald SemiBold"/>
                <a:cs typeface="Oswald SemiBold"/>
              </a:defRPr>
            </a:pPr>
            <a:r>
              <a:rPr sz="2100" b="0">
                <a:solidFill>
                  <a:srgbClr val="5AA2AE"/>
                </a:solidFill>
                <a:latin typeface="Oswald SemiBold"/>
                <a:ea typeface="Oswald SemiBold"/>
                <a:cs typeface="Oswald SemiBold"/>
              </a:rPr>
              <a:t>BASIC FUNCTION AST</a:t>
            </a:r>
            <a:endParaRPr sz="2100" b="0">
              <a:solidFill>
                <a:srgbClr val="5AA2AE"/>
              </a:solidFill>
              <a:latin typeface="Oswald SemiBold"/>
              <a:ea typeface="Oswald SemiBold"/>
              <a:cs typeface="Oswald SemiBold"/>
            </a:endParaRPr>
          </a:p>
        </p:txBody>
      </p:sp>
      <p:sp>
        <p:nvSpPr>
          <p:cNvPr id="3" name="Template footer rule">
            <a:extLst xmlns:a="http://schemas.openxmlformats.org/drawingml/2006/main">
              <a:ext uri="{FF2B5EF4-FFF2-40B4-BE49-F238E27FC236}">
                <a16:creationId xmlns:a16="http://schemas.microsoft.com/office/drawing/2014/main" id="{A9199392-9126-4B3B-BCF8-7AAA081D1934}"/>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Editable actual console output">
            <a:extLst xmlns:a="http://schemas.openxmlformats.org/drawingml/2006/main">
              <a:ext uri="{FF2B5EF4-FFF2-40B4-BE49-F238E27FC236}">
                <a16:creationId xmlns:a16="http://schemas.microsoft.com/office/drawing/2014/main" id="{4B2286ED-0293-44B3-B1C6-639746C7EFEC}"/>
              </a:ext>
            </a:extLst>
          </p:cNvPr>
          <p:cNvSpPr>
            <a:spLocks xmlns:a="http://schemas.openxmlformats.org/drawingml/2006/main" noGrp="1"/>
          </p:cNvSpPr>
          <p:nvPr/>
        </p:nvSpPr>
        <p:spPr>
          <a:xfrm xmlns:a="http://schemas.openxmlformats.org/drawingml/2006/main">
            <a:off x="695325" y="2076450"/>
            <a:ext cx="5172075" cy="3914775"/>
          </a:xfrm>
          <a:prstGeom xmlns:a="http://schemas.openxmlformats.org/drawingml/2006/main" prst="rect">
            <a:avLst/>
          </a:prstGeom>
          <a:solidFill xmlns:a="http://schemas.openxmlformats.org/drawingml/2006/main">
            <a:srgbClr val="1F1F1F"/>
          </a:solidFill>
          <a:ln xmlns:a="http://schemas.openxmlformats.org/drawingml/2006/main" w="0">
            <a:noFill/>
          </a:ln>
        </p:spPr>
        <p:txBody>
          <a:bodyPr xmlns:a="http://schemas.openxmlformats.org/drawingml/2006/main" wrap="none" lIns="171450" tIns="133350" rIns="171450" bIns="133350">
            <a:noAutofit/>
          </a:bodyPr>
          <a:lstStyle xmlns:a="http://schemas.openxmlformats.org/drawingml/2006/main">
            <a:defPPr>
              <a:defRPr sz="1500">
                <a:solidFill>
                  <a:srgbClr val="F0F0F0"/>
                </a:solidFill>
                <a:latin typeface="Consolas"/>
                <a:ea typeface="Consolas"/>
                <a:cs typeface="Consolas"/>
              </a:defRPr>
            </a:defPPr>
          </a:lstStyle>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Program</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FunctionDecl(int add)</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Params:</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Param(int left)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Param(int right)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Block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ReturnStmt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BinaryExpr(+)</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VariableExpr(left)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VariableExpr(right)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a:t>
            </a:r>
          </a:p>
          <a:p xmlns:a="http://schemas.openxmlformats.org/drawingml/2006/main">
            <a:r>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Function definition excerpt</a:t>
            </a:r>
          </a:p>
        </p:txBody>
      </p:sp>
      <p:sp>
        <p:nvSpPr>
          <p:cNvPr id="6" name="Editable actual console output">
            <a:extLst xmlns:a="http://schemas.openxmlformats.org/drawingml/2006/main">
              <a:ext uri="{FF2B5EF4-FFF2-40B4-BE49-F238E27FC236}">
                <a16:creationId xmlns:a16="http://schemas.microsoft.com/office/drawing/2014/main" id="{DC75E2FE-DEB5-4EBA-BD4D-9546D9D18AD9}"/>
              </a:ext>
            </a:extLst>
          </p:cNvPr>
          <p:cNvSpPr>
            <a:spLocks xmlns:a="http://schemas.openxmlformats.org/drawingml/2006/main" noGrp="1"/>
          </p:cNvSpPr>
          <p:nvPr/>
        </p:nvSpPr>
        <p:spPr>
          <a:xfrm xmlns:a="http://schemas.openxmlformats.org/drawingml/2006/main">
            <a:off x="6096000" y="2076450"/>
            <a:ext cx="5391150" cy="3914775"/>
          </a:xfrm>
          <a:prstGeom xmlns:a="http://schemas.openxmlformats.org/drawingml/2006/main" prst="rect">
            <a:avLst/>
          </a:prstGeom>
          <a:solidFill xmlns:a="http://schemas.openxmlformats.org/drawingml/2006/main">
            <a:srgbClr val="1F1F1F"/>
          </a:solidFill>
          <a:ln xmlns:a="http://schemas.openxmlformats.org/drawingml/2006/main" w="0">
            <a:noFill/>
          </a:ln>
        </p:spPr>
        <p:txBody>
          <a:bodyPr xmlns:a="http://schemas.openxmlformats.org/drawingml/2006/main" wrap="none" lIns="171450" tIns="133350" rIns="171450" bIns="133350">
            <a:noAutofit/>
          </a:bodyPr>
          <a:lstStyle xmlns:a="http://schemas.openxmlformats.org/drawingml/2006/main">
            <a:defPPr>
              <a:defRPr sz="1500">
                <a:solidFill>
                  <a:srgbClr val="F0F0F0"/>
                </a:solidFill>
                <a:latin typeface="Consolas"/>
                <a:ea typeface="Consolas"/>
                <a:cs typeface="Consolas"/>
              </a:defRPr>
            </a:defPPr>
          </a:lstStyle>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FunctionDecl(int main)</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Block {</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VarDecl(int result)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CallExpr(add)</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LiteralExpr(2)</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LiteralExpr(3)</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VarDecl(float total)</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CallExpr(scale)</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VariableExpr(result)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LiteralExpr(2)</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ExprStmt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CallExpr(finish)</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ReturnStmt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VariableExpr(result)</a:t>
            </a:r>
          </a:p>
          <a:p xmlns:a="http://schemas.openxmlformats.org/drawingml/2006/main">
            <a:pPr>
              <a:lnSpc>
                <a:spcPct val="105000"/>
              </a:lnSpc>
              <a:buNone/>
              <a:defRPr sz="1500">
                <a:solidFill>
                  <a:srgbClr val="F0F0F0"/>
                </a:solidFill>
                <a:latin typeface="Consolas"/>
                <a:ea typeface="Consolas"/>
                <a:cs typeface="Consolas"/>
              </a:defRPr>
            </a:pPr>
            <a:r>
              <a:rPr sz="1500">
                <a:solidFill>
                  <a:srgbClr val="F0F0F0"/>
                </a:solidFill>
                <a:latin typeface="Consolas"/>
                <a:ea typeface="Consolas"/>
                <a:cs typeface="Consolas"/>
              </a:rPr>
              <a:t>    }</a:t>
            </a:r>
          </a:p>
        </p:txBody>
      </p:sp>
    </p:spTree>
    <p:extLst>
      <p:ext uri="{BB962C8B-B14F-4D97-AF65-F5344CB8AC3E}">
        <p14:creationId xmlns:p14="http://schemas.microsoft.com/office/powerpoint/2010/main" val="1097533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7469AE2A-F890-415B-8EA1-D72568CC523F}"/>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OUTPUT III</a:t>
            </a:r>
          </a:p>
        </p:txBody>
      </p:sp>
      <p:sp>
        <p:nvSpPr>
          <p:cNvPr id="2" name="Slide subtitle">
            <a:extLst xmlns:a="http://schemas.openxmlformats.org/drawingml/2006/main">
              <a:ext uri="{FF2B5EF4-FFF2-40B4-BE49-F238E27FC236}">
                <a16:creationId xmlns:a16="http://schemas.microsoft.com/office/drawing/2014/main" id="{6F1C263F-C232-45B9-B26B-560783235BB9}"/>
              </a:ext>
            </a:extLst>
          </p:cNvPr>
          <p:cNvSpPr>
            <a:spLocks xmlns:a="http://schemas.openxmlformats.org/drawingml/2006/main" noGrp="1"/>
          </p:cNvSpPr>
          <p:nvPr/>
        </p:nvSpPr>
        <p:spPr>
          <a:xfrm xmlns:a="http://schemas.openxmlformats.org/drawingml/2006/main">
            <a:off x="694944" y="15144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5AA2AE"/>
                </a:solidFill>
                <a:latin typeface="Oswald SemiBold"/>
                <a:ea typeface="Oswald SemiBold"/>
                <a:cs typeface="Oswald SemiBold"/>
              </a:defRPr>
            </a:defPPr>
          </a:lstStyle>
          <a:p xmlns:a="http://schemas.openxmlformats.org/drawingml/2006/main">
            <a:pPr algn="l">
              <a:buNone/>
              <a:defRPr sz="2100" b="0">
                <a:solidFill>
                  <a:srgbClr val="5AA2AE"/>
                </a:solidFill>
                <a:latin typeface="Oswald SemiBold"/>
                <a:ea typeface="Oswald SemiBold"/>
                <a:cs typeface="Oswald SemiBold"/>
              </a:defRPr>
            </a:pPr>
            <a:r>
              <a:rPr sz="2100" b="0">
                <a:solidFill>
                  <a:srgbClr val="5AA2AE"/>
                </a:solidFill>
                <a:latin typeface="Oswald SemiBold"/>
                <a:ea typeface="Oswald SemiBold"/>
                <a:cs typeface="Oswald SemiBold"/>
              </a:rPr>
              <a:t>SYMBOL TABLE AND SCOPES</a:t>
            </a:r>
            <a:endParaRPr sz="2100" b="0">
              <a:solidFill>
                <a:srgbClr val="5AA2AE"/>
              </a:solidFill>
              <a:latin typeface="Oswald SemiBold"/>
              <a:ea typeface="Oswald SemiBold"/>
              <a:cs typeface="Oswald SemiBold"/>
            </a:endParaRPr>
          </a:p>
        </p:txBody>
      </p:sp>
      <p:sp>
        <p:nvSpPr>
          <p:cNvPr id="3" name="Template footer rule">
            <a:extLst xmlns:a="http://schemas.openxmlformats.org/drawingml/2006/main">
              <a:ext uri="{FF2B5EF4-FFF2-40B4-BE49-F238E27FC236}">
                <a16:creationId xmlns:a16="http://schemas.microsoft.com/office/drawing/2014/main" id="{97390BFF-C600-4E1D-B038-78D801AFD937}"/>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graphicFrame>
        <p:nvGraphicFramePr>
          <p:cNvPr id="5" name="">
            <a:extLst xmlns:a="http://schemas.openxmlformats.org/drawingml/2006/main">
              <a:ext uri="{FF2B5EF4-FFF2-40B4-BE49-F238E27FC236}">
                <a16:creationId xmlns:a16="http://schemas.microsoft.com/office/drawing/2014/main" id="{7D0E0263-E7AE-42A0-BC7A-39625BC9E1A7}"/>
              </a:ext>
            </a:extLst>
          </p:cNvPr>
          <p:cNvGraphicFramePr/>
          <p:nvPr/>
        </p:nvGraphicFramePr>
        <p:xfrm>
          <a:off xmlns:a="http://schemas.openxmlformats.org/drawingml/2006/main" x="695325" y="2171700"/>
          <a:ext xmlns:a="http://schemas.openxmlformats.org/drawingml/2006/main" cx="10791825" cy="3181350"/>
        </p:xfrm>
        <a:graphic xmlns:a="http://schemas.openxmlformats.org/drawingml/2006/main">
          <a:graphicData uri="http://schemas.openxmlformats.org/drawingml/2006/table">
            <a:tbl>
              <a:tblPr/>
              <a:tblGrid>
                <a:gridCol w="3810000"/>
                <a:gridCol w="2190750"/>
                <a:gridCol w="1809750"/>
                <a:gridCol w="1381125"/>
                <a:gridCol w="1600200"/>
              </a:tblGrid>
              <a:tr h="454479">
                <a:tc>
                  <a:txBody>
                    <a:bodyPr lIns="85725" tIns="85725" rIns="85725" bIns="85725">
                      <a:noAutofit/>
                    </a:bodyPr>
                    <a:lstStyle/>
                    <a:p>
                      <a:pPr algn="l">
                        <a:buNone/>
                      </a:pPr>
                      <a:r>
                        <a:rPr sz="2004">
                          <a:solidFill>
                            <a:srgbClr val="FFFFFF"/>
                          </a:solidFill>
                          <a:latin typeface="Univers Condensed Light"/>
                          <a:ea typeface="Univers Condensed Light"/>
                          <a:cs typeface="Univers Condensed Light"/>
                        </a:rPr>
                        <a:t>Scope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A66AC"/>
                    </a:solidFill>
                  </a:tcPr>
                </a:tc>
                <a:tc>
                  <a:txBody>
                    <a:bodyPr lIns="85725" tIns="85725" rIns="85725" bIns="85725">
                      <a:noAutofit/>
                    </a:bodyPr>
                    <a:lstStyle/>
                    <a:p>
                      <a:pPr algn="l">
                        <a:buNone/>
                      </a:pPr>
                      <a:r>
                        <a:rPr sz="2004">
                          <a:solidFill>
                            <a:srgbClr val="FFFFFF"/>
                          </a:solidFill>
                          <a:latin typeface="Univers Condensed Light"/>
                          <a:ea typeface="Univers Condensed Light"/>
                          <a:cs typeface="Univers Condensed Light"/>
                        </a:rPr>
                        <a:t>Symbol</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4A66AC"/>
                    </a:solidFill>
                  </a:tcPr>
                </a:tc>
                <a:tc>
                  <a:txBody>
                    <a:bodyPr lIns="85725" tIns="85725" rIns="85725" bIns="85725">
                      <a:noAutofit/>
                    </a:bodyPr>
                    <a:lstStyle/>
                    <a:p>
                      <a:pPr algn="l">
                        <a:buNone/>
                      </a:pPr>
                      <a:r>
                        <a:rPr sz="2004">
                          <a:solidFill>
                            <a:srgbClr val="FFFFFF"/>
                          </a:solidFill>
                          <a:latin typeface="Univers Condensed Light"/>
                          <a:ea typeface="Univers Condensed Light"/>
                          <a:cs typeface="Univers Condensed Light"/>
                        </a:rPr>
                        <a:t>Type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4A66AC"/>
                    </a:solidFill>
                  </a:tcPr>
                </a:tc>
                <a:tc>
                  <a:txBody>
                    <a:bodyPr lIns="85725" tIns="85725" rIns="85725" bIns="85725">
                      <a:noAutofit/>
                    </a:bodyPr>
                    <a:lstStyle/>
                    <a:p>
                      <a:pPr algn="l">
                        <a:buNone/>
                      </a:pPr>
                      <a:r>
                        <a:rPr sz="2004">
                          <a:solidFill>
                            <a:srgbClr val="FFFFFF"/>
                          </a:solidFill>
                          <a:latin typeface="Univers Condensed Light"/>
                          <a:ea typeface="Univers Condensed Light"/>
                          <a:cs typeface="Univers Condensed Light"/>
                        </a:rPr>
                        <a:t>Kind</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4A66AC"/>
                    </a:solidFill>
                  </a:tcPr>
                </a:tc>
                <a:tc>
                  <a:txBody>
                    <a:bodyPr lIns="85725" tIns="85725" rIns="85725" bIns="85725">
                      <a:noAutofit/>
                    </a:bodyPr>
                    <a:lstStyle/>
                    <a:p>
                      <a:pPr algn="l">
                        <a:buNone/>
                      </a:pPr>
                      <a:r>
                        <a:rPr sz="2004">
                          <a:solidFill>
                            <a:srgbClr val="FFFFFF"/>
                          </a:solidFill>
                          <a:latin typeface="Univers Condensed Light"/>
                          <a:ea typeface="Univers Condensed Light"/>
                          <a:cs typeface="Univers Condensed Light"/>
                        </a:rPr>
                        <a:t>Line / Col</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4A66AC"/>
                    </a:solidFill>
                  </a:tcPr>
                </a:tc>
              </a:tr>
              <a:tr h="454479">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Global</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main</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int()</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Function</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4 / 5</a:t>
                      </a:r>
                    </a:p>
                  </a:txBody>
                  <a:tcPr marL="91440" marR="91440" marT="45720" marB="45720" anchor="ctr">
                    <a:lnR w="9525">
                      <a:solidFill>
                        <a:srgbClr val="FFFFFF"/>
                      </a:solidFill>
                      <a:prstDash val="solid"/>
                    </a:lnR>
                    <a:lnB w="9525">
                      <a:solidFill>
                        <a:srgbClr val="FFFFFF"/>
                      </a:solidFill>
                      <a:prstDash val="solid"/>
                    </a:lnB>
                    <a:solidFill>
                      <a:srgbClr val="D3D5E3"/>
                    </a:solidFill>
                  </a:tcPr>
                </a:tc>
              </a:tr>
              <a:tr h="454479">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Global</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value</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int</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Variable</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2 / 5</a:t>
                      </a:r>
                    </a:p>
                  </a:txBody>
                  <a:tcPr marL="91440" marR="91440" marT="45720" marB="45720" anchor="ctr">
                    <a:lnR w="9525">
                      <a:solidFill>
                        <a:srgbClr val="FFFFFF"/>
                      </a:solidFill>
                      <a:prstDash val="solid"/>
                    </a:lnR>
                    <a:lnB w="9525">
                      <a:solidFill>
                        <a:srgbClr val="FFFFFF"/>
                      </a:solidFill>
                      <a:prstDash val="solid"/>
                    </a:lnB>
                    <a:solidFill>
                      <a:srgbClr val="E8E9EF"/>
                    </a:solidFill>
                  </a:tcPr>
                </a:tc>
              </a:tr>
              <a:tr h="454479">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Function main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result</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int</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Variable</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6 / 9</a:t>
                      </a:r>
                    </a:p>
                  </a:txBody>
                  <a:tcPr marL="91440" marR="91440" marT="45720" marB="45720" anchor="ctr">
                    <a:lnR w="9525">
                      <a:solidFill>
                        <a:srgbClr val="FFFFFF"/>
                      </a:solidFill>
                      <a:prstDash val="solid"/>
                    </a:lnR>
                    <a:lnB w="9525">
                      <a:solidFill>
                        <a:srgbClr val="FFFFFF"/>
                      </a:solidFill>
                      <a:prstDash val="solid"/>
                    </a:lnB>
                    <a:solidFill>
                      <a:srgbClr val="D3D5E3"/>
                    </a:solidFill>
                  </a:tcPr>
                </a:tc>
              </a:tr>
              <a:tr h="454479">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Function main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value</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int</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Variable</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5 / 9</a:t>
                      </a:r>
                    </a:p>
                  </a:txBody>
                  <a:tcPr marL="91440" marR="91440" marT="45720" marB="45720" anchor="ctr">
                    <a:lnR w="9525">
                      <a:solidFill>
                        <a:srgbClr val="FFFFFF"/>
                      </a:solidFill>
                      <a:prstDash val="solid"/>
                    </a:lnR>
                    <a:lnB w="9525">
                      <a:solidFill>
                        <a:srgbClr val="FFFFFF"/>
                      </a:solidFill>
                      <a:prstDash val="solid"/>
                    </a:lnB>
                    <a:solidFill>
                      <a:srgbClr val="E8E9EF"/>
                    </a:solidFill>
                  </a:tcPr>
                </a:tc>
              </a:tr>
              <a:tr h="454479">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Block@L7</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value</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int</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Variable</a:t>
                      </a:r>
                    </a:p>
                  </a:txBody>
                  <a:tcPr marL="91440" marR="91440" marT="45720" marB="45720" anchor="ctr">
                    <a:lnR w="9525">
                      <a:solidFill>
                        <a:srgbClr val="FFFFFF"/>
                      </a:solidFill>
                      <a:prstDash val="solid"/>
                    </a:lnR>
                    <a:lnB w="9525">
                      <a:solidFill>
                        <a:srgbClr val="FFFFFF"/>
                      </a:solidFill>
                      <a:prstDash val="solid"/>
                    </a:lnB>
                    <a:solidFill>
                      <a:srgbClr val="D3D5E3"/>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8 / 13</a:t>
                      </a:r>
                    </a:p>
                  </a:txBody>
                  <a:tcPr marL="91440" marR="91440" marT="45720" marB="45720" anchor="ctr">
                    <a:lnR w="9525">
                      <a:solidFill>
                        <a:srgbClr val="FFFFFF"/>
                      </a:solidFill>
                      <a:prstDash val="solid"/>
                    </a:lnR>
                    <a:lnB w="9525">
                      <a:solidFill>
                        <a:srgbClr val="FFFFFF"/>
                      </a:solidFill>
                      <a:prstDash val="solid"/>
                    </a:lnB>
                    <a:solidFill>
                      <a:srgbClr val="D3D5E3"/>
                    </a:solidFill>
                  </a:tcPr>
                </a:tc>
              </a:tr>
              <a:tr h="454479">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Result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pPr algn="l">
                        <a:buNone/>
                      </a:pPr>
                      <a:r>
                        <a:rPr sz="2004">
                          <a:solidFill>
                            <a:srgbClr val="000000"/>
                          </a:solidFill>
                          <a:latin typeface="Univers Condensed Light"/>
                          <a:ea typeface="Univers Condensed Light"/>
                          <a:cs typeface="Univers Condensed Light"/>
                        </a:rPr>
                        <a:t>0 semantic errors</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r>
                        <a:rPr sz="2004">
                          <a:solidFill>
                            <a:srgbClr val="000000"/>
                          </a:solidFill>
                          <a:latin typeface="Univers Condensed Light"/>
                          <a:ea typeface="Univers Condensed Light"/>
                          <a:cs typeface="Univers Condensed Light"/>
                        </a:rPr>
                        <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r>
                        <a:rPr sz="2004">
                          <a:solidFill>
                            <a:srgbClr val="000000"/>
                          </a:solidFill>
                          <a:latin typeface="Univers Condensed Light"/>
                          <a:ea typeface="Univers Condensed Light"/>
                          <a:cs typeface="Univers Condensed Light"/>
                        </a:rPr>
                        <a:t/>
                      </a:r>
                    </a:p>
                  </a:txBody>
                  <a:tcPr marL="91440" marR="91440" marT="45720" marB="45720" anchor="ctr">
                    <a:lnR w="9525">
                      <a:solidFill>
                        <a:srgbClr val="FFFFFF"/>
                      </a:solidFill>
                      <a:prstDash val="solid"/>
                    </a:lnR>
                    <a:lnB w="9525">
                      <a:solidFill>
                        <a:srgbClr val="FFFFFF"/>
                      </a:solidFill>
                      <a:prstDash val="solid"/>
                    </a:lnB>
                    <a:solidFill>
                      <a:srgbClr val="E8E9EF"/>
                    </a:solidFill>
                  </a:tcPr>
                </a:tc>
                <a:tc>
                  <a:txBody>
                    <a:bodyPr lIns="85725" tIns="85725" rIns="85725" bIns="85725">
                      <a:noAutofit/>
                    </a:bodyPr>
                    <a:lstStyle/>
                    <a:p>
                      <a:r>
                        <a:rPr sz="2004">
                          <a:solidFill>
                            <a:srgbClr val="000000"/>
                          </a:solidFill>
                          <a:latin typeface="Univers Condensed Light"/>
                          <a:ea typeface="Univers Condensed Light"/>
                          <a:cs typeface="Univers Condensed Light"/>
                        </a:rPr>
                        <a:t/>
                      </a:r>
                    </a:p>
                  </a:txBody>
                  <a:tcPr marL="91440" marR="91440" marT="45720" marB="45720" anchor="ctr">
                    <a:lnR w="9525">
                      <a:solidFill>
                        <a:srgbClr val="FFFFFF"/>
                      </a:solidFill>
                      <a:prstDash val="solid"/>
                    </a:lnR>
                    <a:lnB w="9525">
                      <a:solidFill>
                        <a:srgbClr val="FFFFFF"/>
                      </a:solidFill>
                      <a:prstDash val="solid"/>
                    </a:lnB>
                    <a:solidFill>
                      <a:srgbClr val="E8E9EF"/>
                    </a:solidFill>
                  </a:tcPr>
                </a:tc>
              </a:tr>
            </a:tbl>
          </a:graphicData>
        </a:graphic>
      </p:graphicFrame>
    </p:spTree>
    <p:extLst>
      <p:ext uri="{BB962C8B-B14F-4D97-AF65-F5344CB8AC3E}">
        <p14:creationId xmlns:p14="http://schemas.microsoft.com/office/powerpoint/2010/main" val="1249605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F0DB4A9C-F4CD-4377-A0C3-1BDDB7AE6A98}"/>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OUTPUT IV</a:t>
            </a:r>
          </a:p>
        </p:txBody>
      </p:sp>
      <p:sp>
        <p:nvSpPr>
          <p:cNvPr id="2" name="Slide subtitle">
            <a:extLst xmlns:a="http://schemas.openxmlformats.org/drawingml/2006/main">
              <a:ext uri="{FF2B5EF4-FFF2-40B4-BE49-F238E27FC236}">
                <a16:creationId xmlns:a16="http://schemas.microsoft.com/office/drawing/2014/main" id="{4F7DFEF6-EFDA-493B-B502-8417DFCF2197}"/>
              </a:ext>
            </a:extLst>
          </p:cNvPr>
          <p:cNvSpPr>
            <a:spLocks xmlns:a="http://schemas.openxmlformats.org/drawingml/2006/main" noGrp="1"/>
          </p:cNvSpPr>
          <p:nvPr/>
        </p:nvSpPr>
        <p:spPr>
          <a:xfrm xmlns:a="http://schemas.openxmlformats.org/drawingml/2006/main">
            <a:off x="694944" y="15144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5AA2AE"/>
                </a:solidFill>
                <a:latin typeface="Oswald SemiBold"/>
                <a:ea typeface="Oswald SemiBold"/>
                <a:cs typeface="Oswald SemiBold"/>
              </a:defRPr>
            </a:defPPr>
          </a:lstStyle>
          <a:p xmlns:a="http://schemas.openxmlformats.org/drawingml/2006/main">
            <a:pPr algn="l">
              <a:buNone/>
              <a:defRPr sz="2100" b="0">
                <a:solidFill>
                  <a:srgbClr val="5AA2AE"/>
                </a:solidFill>
                <a:latin typeface="Oswald SemiBold"/>
                <a:ea typeface="Oswald SemiBold"/>
                <a:cs typeface="Oswald SemiBold"/>
              </a:defRPr>
            </a:pPr>
            <a:r>
              <a:rPr sz="2100" b="0">
                <a:solidFill>
                  <a:srgbClr val="5AA2AE"/>
                </a:solidFill>
                <a:latin typeface="Oswald SemiBold"/>
                <a:ea typeface="Oswald SemiBold"/>
                <a:cs typeface="Oswald SemiBold"/>
              </a:rPr>
              <a:t>EXPLAINED SEMANTIC ERRORS</a:t>
            </a:r>
            <a:endParaRPr sz="2100" b="0">
              <a:solidFill>
                <a:srgbClr val="5AA2AE"/>
              </a:solidFill>
              <a:latin typeface="Oswald SemiBold"/>
              <a:ea typeface="Oswald SemiBold"/>
              <a:cs typeface="Oswald SemiBold"/>
            </a:endParaRPr>
          </a:p>
        </p:txBody>
      </p:sp>
      <p:sp>
        <p:nvSpPr>
          <p:cNvPr id="3" name="Template footer rule">
            <a:extLst xmlns:a="http://schemas.openxmlformats.org/drawingml/2006/main">
              <a:ext uri="{FF2B5EF4-FFF2-40B4-BE49-F238E27FC236}">
                <a16:creationId xmlns:a16="http://schemas.microsoft.com/office/drawing/2014/main" id="{A281FEF1-1A27-475E-802D-329CF2249FBB}"/>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Editable actual console output">
            <a:extLst xmlns:a="http://schemas.openxmlformats.org/drawingml/2006/main">
              <a:ext uri="{FF2B5EF4-FFF2-40B4-BE49-F238E27FC236}">
                <a16:creationId xmlns:a16="http://schemas.microsoft.com/office/drawing/2014/main" id="{F6281E80-3CF5-4362-A89B-D6D6E6B725AD}"/>
              </a:ext>
            </a:extLst>
          </p:cNvPr>
          <p:cNvSpPr>
            <a:spLocks xmlns:a="http://schemas.openxmlformats.org/drawingml/2006/main" noGrp="1"/>
          </p:cNvSpPr>
          <p:nvPr/>
        </p:nvSpPr>
        <p:spPr>
          <a:xfrm xmlns:a="http://schemas.openxmlformats.org/drawingml/2006/main">
            <a:off x="695325" y="2076450"/>
            <a:ext cx="10791825" cy="3914775"/>
          </a:xfrm>
          <a:prstGeom xmlns:a="http://schemas.openxmlformats.org/drawingml/2006/main" prst="rect">
            <a:avLst/>
          </a:prstGeom>
          <a:solidFill xmlns:a="http://schemas.openxmlformats.org/drawingml/2006/main">
            <a:srgbClr val="1F1F1F"/>
          </a:solidFill>
          <a:ln xmlns:a="http://schemas.openxmlformats.org/drawingml/2006/main" w="0">
            <a:noFill/>
          </a:ln>
        </p:spPr>
        <p:txBody>
          <a:bodyPr xmlns:a="http://schemas.openxmlformats.org/drawingml/2006/main" wrap="none" lIns="171450" tIns="133350" rIns="171450" bIns="133350">
            <a:noAutofit/>
          </a:bodyPr>
          <a:lstStyle xmlns:a="http://schemas.openxmlformats.org/drawingml/2006/main">
            <a:defPPr>
              <a:defRPr sz="1650">
                <a:solidFill>
                  <a:srgbClr val="F0F0F0"/>
                </a:solidFill>
                <a:latin typeface="Consolas"/>
                <a:ea typeface="Consolas"/>
                <a:cs typeface="Consolas"/>
              </a:defRPr>
            </a:defPPr>
          </a:lstStyle>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[SEMANTIC ERROR] line 3, col 9</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        int count = 2.5;</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            ^</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Reason: Type mismatch in variable initialization:</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  cannot assign 'float' to variable 'count' of type 'int'</a:t>
            </a:r>
          </a:p>
          <a:p xmlns:a="http://schemas.openxmlformats.org/drawingml/2006/main">
            <a:r>
              <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[SEMANTIC ERROR] line 5, col 5</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        count = ready;</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        ^</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Reason: Type mismatch in assignment:</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  cannot assign 'bool' to variable 'count' of type 'int'</a:t>
            </a:r>
          </a:p>
          <a:p xmlns:a="http://schemas.openxmlformats.org/drawingml/2006/main">
            <a:r>
              <a:t/>
            </a:r>
          </a:p>
          <a:p xmlns:a="http://schemas.openxmlformats.org/drawingml/2006/main">
            <a:pPr>
              <a:lnSpc>
                <a:spcPct val="105000"/>
              </a:lnSpc>
              <a:buNone/>
              <a:defRPr sz="1650">
                <a:solidFill>
                  <a:srgbClr val="F0F0F0"/>
                </a:solidFill>
                <a:latin typeface="Consolas"/>
                <a:ea typeface="Consolas"/>
                <a:cs typeface="Consolas"/>
              </a:defRPr>
            </a:pPr>
            <a:r>
              <a:rPr sz="1650">
                <a:solidFill>
                  <a:srgbClr val="F0F0F0"/>
                </a:solidFill>
                <a:latin typeface="Consolas"/>
                <a:ea typeface="Consolas"/>
                <a:cs typeface="Consolas"/>
              </a:rPr>
              <a:t>Semantic analysis failed with 3 error(s).</a:t>
            </a:r>
          </a:p>
        </p:txBody>
      </p:sp>
    </p:spTree>
    <p:extLst>
      <p:ext uri="{BB962C8B-B14F-4D97-AF65-F5344CB8AC3E}">
        <p14:creationId xmlns:p14="http://schemas.microsoft.com/office/powerpoint/2010/main" val="14600520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E854E1F0-D1CD-4E49-9ED1-EB6F3254FC14}"/>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CURRENT SCOPE</a:t>
            </a:r>
          </a:p>
        </p:txBody>
      </p:sp>
      <p:sp>
        <p:nvSpPr>
          <p:cNvPr id="2" name="Template footer rule">
            <a:extLst xmlns:a="http://schemas.openxmlformats.org/drawingml/2006/main">
              <a:ext uri="{FF2B5EF4-FFF2-40B4-BE49-F238E27FC236}">
                <a16:creationId xmlns:a16="http://schemas.microsoft.com/office/drawing/2014/main" id="{D9BEFC8F-E13D-4CA7-9909-AAD2BABE4B56}"/>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Editable bullet list">
            <a:extLst xmlns:a="http://schemas.openxmlformats.org/drawingml/2006/main">
              <a:ext uri="{FF2B5EF4-FFF2-40B4-BE49-F238E27FC236}">
                <a16:creationId xmlns:a16="http://schemas.microsoft.com/office/drawing/2014/main" id="{3F3B48C3-E1D7-4067-81CB-D29C2DCAE738}"/>
              </a:ext>
            </a:extLst>
          </p:cNvPr>
          <p:cNvSpPr>
            <a:spLocks xmlns:a="http://schemas.openxmlformats.org/drawingml/2006/main" noGrp="1"/>
          </p:cNvSpPr>
          <p:nvPr/>
        </p:nvSpPr>
        <p:spPr>
          <a:xfrm xmlns:a="http://schemas.openxmlformats.org/drawingml/2006/main">
            <a:off x="695325" y="1857375"/>
            <a:ext cx="10791825"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marL="228600" indent="-165100" algn="l">
              <a:spcAft>
                <a:spcPts val="18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A small, statically typed, C-like language with a working compiler front end.</a:t>
            </a:r>
          </a:p>
          <a:p xmlns:a="http://schemas.openxmlformats.org/drawingml/2006/main">
            <a:pPr marL="228600" indent="-165100" algn="l">
              <a:spcAft>
                <a:spcPts val="18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The 75% build checks scalar declarations, expressions, scopes, and basic function rules.</a:t>
            </a:r>
          </a:p>
          <a:p xmlns:a="http://schemas.openxmlformats.org/drawingml/2006/main">
            <a:pPr marL="228600" indent="-165100" algn="l">
              <a:spcAft>
                <a:spcPts val="18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It reports errors with their source position, caret, and reason.</a:t>
            </a:r>
          </a:p>
          <a:p xmlns:a="http://schemas.openxmlformats.org/drawingml/2006/main">
            <a:pPr marL="228600" indent="-165100" algn="l">
              <a:spcAft>
                <a:spcPts val="18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Arrays, forward calls, missing-return paths, typed AST output, and suggestions belong to the final build.</a:t>
            </a:r>
          </a:p>
          <a:p xmlns:a="http://schemas.openxmlformats.org/drawingml/2006/main">
            <a:pPr marL="228600" indent="-165100" algn="l">
              <a:spcAft>
                <a:spcPts val="18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Source analysis does not execute programs or generate machine code.</a:t>
            </a:r>
          </a:p>
        </p:txBody>
      </p:sp>
    </p:spTree>
    <p:extLst>
      <p:ext uri="{BB962C8B-B14F-4D97-AF65-F5344CB8AC3E}">
        <p14:creationId xmlns:p14="http://schemas.microsoft.com/office/powerpoint/2010/main" val="163720406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84C27140-7BBC-4C7C-91FB-92083EEBDEA6}"/>
              </a:ext>
            </a:extLst>
          </p:cNvPr>
          <p:cNvSpPr>
            <a:spLocks xmlns:a="http://schemas.openxmlformats.org/drawingml/2006/main" noGrp="1"/>
          </p:cNvSpPr>
          <p:nvPr/>
        </p:nvSpPr>
        <p:spPr>
          <a:xfrm xmlns:a="http://schemas.openxmlformats.org/drawingml/2006/main">
            <a:off x="694944" y="7524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04" b="0">
                <a:solidFill>
                  <a:srgbClr val="5AA2AE"/>
                </a:solidFill>
                <a:latin typeface="Oswald SemiBold"/>
                <a:ea typeface="Oswald SemiBold"/>
                <a:cs typeface="Oswald SemiBold"/>
              </a:defRPr>
            </a:defPPr>
          </a:lstStyle>
          <a:p xmlns:a="http://schemas.openxmlformats.org/drawingml/2006/main">
            <a:pPr algn="l">
              <a:buNone/>
              <a:defRPr sz="4404" b="0">
                <a:solidFill>
                  <a:srgbClr val="5AA2AE"/>
                </a:solidFill>
                <a:latin typeface="Oswald SemiBold"/>
                <a:ea typeface="Oswald SemiBold"/>
                <a:cs typeface="Oswald SemiBold"/>
              </a:defRPr>
            </a:pPr>
            <a:r>
              <a:rPr sz="4404" b="0">
                <a:solidFill>
                  <a:srgbClr val="5AA2AE"/>
                </a:solidFill>
                <a:latin typeface="Oswald SemiBold"/>
                <a:ea typeface="Oswald SemiBold"/>
                <a:cs typeface="Oswald SemiBold"/>
              </a:rPr>
              <a:t>WORK TOWARD THE FINAL REVIEW</a:t>
            </a:r>
          </a:p>
        </p:txBody>
      </p:sp>
      <p:sp>
        <p:nvSpPr>
          <p:cNvPr id="2" name="Template footer rule">
            <a:extLst xmlns:a="http://schemas.openxmlformats.org/drawingml/2006/main">
              <a:ext uri="{FF2B5EF4-FFF2-40B4-BE49-F238E27FC236}">
                <a16:creationId xmlns:a16="http://schemas.microsoft.com/office/drawing/2014/main" id="{BC5969B2-9612-48D6-9AE1-18B8AB087C11}"/>
              </a:ext>
            </a:extLst>
          </p:cNvPr>
          <p:cNvSpPr>
            <a:spLocks xmlns:a="http://schemas.openxmlformats.org/drawingml/2006/main" noGrp="1"/>
          </p:cNvSpPr>
          <p:nvPr/>
        </p:nvSpPr>
        <p:spPr>
          <a:xfrm xmlns:a="http://schemas.openxmlformats.org/drawingml/2006/main">
            <a:off x="726758" y="6215063"/>
            <a:ext cx="10802303" cy="6191"/>
          </a:xfrm>
          <a:prstGeom xmlns:a="http://schemas.openxmlformats.org/drawingml/2006/main" prst="rect">
            <a:avLst/>
          </a:prstGeom>
          <a:solidFill xmlns:a="http://schemas.openxmlformats.org/drawingml/2006/main">
            <a:srgbClr val="4A66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Editable bullet list">
            <a:extLst xmlns:a="http://schemas.openxmlformats.org/drawingml/2006/main">
              <a:ext uri="{FF2B5EF4-FFF2-40B4-BE49-F238E27FC236}">
                <a16:creationId xmlns:a16="http://schemas.microsoft.com/office/drawing/2014/main" id="{20CEC394-4A32-4862-80AB-B797DC63B9AC}"/>
              </a:ext>
            </a:extLst>
          </p:cNvPr>
          <p:cNvSpPr>
            <a:spLocks xmlns:a="http://schemas.openxmlformats.org/drawingml/2006/main" noGrp="1"/>
          </p:cNvSpPr>
          <p:nvPr/>
        </p:nvSpPr>
        <p:spPr>
          <a:xfrm xmlns:a="http://schemas.openxmlformats.org/drawingml/2006/main">
            <a:off x="695325" y="1857375"/>
            <a:ext cx="107918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4" b="0">
                <a:solidFill>
                  <a:srgbClr val="262557"/>
                </a:solidFill>
                <a:latin typeface="Univers Condensed Light"/>
                <a:ea typeface="Univers Condensed Light"/>
                <a:cs typeface="Univers Condensed Light"/>
              </a:defRPr>
            </a:defPPr>
          </a:lstStyle>
          <a:p xmlns:a="http://schemas.openxmlformats.org/drawingml/2006/main">
            <a:pPr marL="228600" indent="-165100" algn="l">
              <a:spcAft>
                <a:spcPts val="24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Implemented for the final review: arrays, forward calls, mutual recursion, and missing-return path checks.</a:t>
            </a:r>
          </a:p>
          <a:p xmlns:a="http://schemas.openxmlformats.org/drawingml/2006/main">
            <a:pPr marL="228600" indent="-165100" algn="l">
              <a:spcAft>
                <a:spcPts val="24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The final build also includes typed AST output and correction suggestions, stored in later/src.</a:t>
            </a:r>
          </a:p>
          <a:p xmlns:a="http://schemas.openxmlformats.org/drawingml/2006/main">
            <a:pPr marL="228600" indent="-165100" algn="l">
              <a:spcAft>
                <a:spcPts val="24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Planned additions: uninitialized use, unused variables, unreachable code, and constant array bounds.</a:t>
            </a:r>
          </a:p>
          <a:p xmlns:a="http://schemas.openxmlformats.org/drawingml/2006/main">
            <a:pPr marL="228600" indent="-165100" algn="l">
              <a:spcAft>
                <a:spcPts val="2400"/>
              </a:spcAft>
              <a:buChar char="•"/>
              <a:defRPr sz="2004" b="0">
                <a:solidFill>
                  <a:srgbClr val="262557"/>
                </a:solidFill>
                <a:latin typeface="Univers Condensed Light"/>
                <a:ea typeface="Univers Condensed Light"/>
                <a:cs typeface="Univers Condensed Light"/>
              </a:defRPr>
            </a:pPr>
            <a:r>
              <a:rPr sz="2004">
                <a:solidFill>
                  <a:srgbClr val="262557"/>
                </a:solidFill>
                <a:latin typeface="Univers Condensed Light"/>
                <a:ea typeface="Univers Condensed Light"/>
                <a:cs typeface="Univers Condensed Light"/>
              </a:rPr>
              <a:t>Complete final validation, the report, and the final presentation.</a:t>
            </a:r>
          </a:p>
        </p:txBody>
      </p:sp>
    </p:spTree>
    <p:extLst>
      <p:ext uri="{BB962C8B-B14F-4D97-AF65-F5344CB8AC3E}">
        <p14:creationId xmlns:p14="http://schemas.microsoft.com/office/powerpoint/2010/main" val="384353856"/>
      </p:ext>
    </p:extLst>
  </p:cSld>
</p:sld>
</file>

<file path=ppt/theme/theme1.xml><?xml version="1.0" encoding="utf-8"?>
<a:theme xmlns:a="http://schemas.openxmlformats.org/drawingml/2006/main" name="ChatGPT">
  <a:themeElements>
    <a:clrScheme name="Semantic Analyzer Review Theme">
      <a:dk1>
        <a:srgbClr val="000000"/>
      </a:dk1>
      <a:lt1>
        <a:srgbClr val="FFFFFF"/>
      </a:lt1>
      <a:dk2>
        <a:srgbClr val="262557"/>
      </a:dk2>
      <a:lt2>
        <a:srgbClr val="E9EAF1"/>
      </a:lt2>
      <a:accent1>
        <a:srgbClr val="4A66AC"/>
      </a:accent1>
      <a:accent2>
        <a:srgbClr val="5AA2AE"/>
      </a:accent2>
      <a:accent3>
        <a:srgbClr val="6077B4"/>
      </a:accent3>
      <a:accent4>
        <a:srgbClr val="8B98C2"/>
      </a:accent4>
      <a:accent5>
        <a:srgbClr val="9FA8CC"/>
      </a:accent5>
      <a:accent6>
        <a:srgbClr val="408385"/>
      </a:accent6>
      <a:hlink>
        <a:srgbClr val="4A66AC"/>
      </a:hlink>
      <a:folHlink>
        <a:srgbClr val="5AA2AE"/>
      </a:folHlink>
    </a:clrScheme>
    <a:fontScheme name="">
      <a:majorFont>
        <a:latin typeface="Univers Condensed Light"/>
        <a:ea typeface=""/>
        <a:cs typeface=""/>
      </a:majorFont>
      <a:minorFont>
        <a:latin typeface="Univers Condensed Light"/>
        <a:ea typeface=""/>
        <a:cs typeface=""/>
      </a:minorFont>
    </a:fontScheme>
    <a:fmtScheme name="Semantic Analyzer Review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2026-10-14T06:49:03.3960000Z</dcterms:created>
  <dcterms:modified xsi:type="dcterms:W3CDTF">2026-10-14T06:49:03.3960000Z</dcterms:modified>
</coreProperties>
</file>