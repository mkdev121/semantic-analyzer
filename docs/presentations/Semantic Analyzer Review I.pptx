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2696f7b46084b75" /><Relationship Type="http://schemas.openxmlformats.org/officeDocument/2006/relationships/extended-properties" Target="/docProps/app.xml" Id="Ra95be2208a98476f" /><Relationship Type="http://schemas.openxmlformats.org/officeDocument/2006/relationships/officeDocument" Target="/ppt/presentation.xml" Id="Rd98235fb9ae246ad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c4064e23d84149ec"/>
  </p:sldMasterIdLst>
  <p:notesMasterIdLst>
    <p:notesMasterId xmlns:r="http://schemas.openxmlformats.org/officeDocument/2006/relationships" r:id="Rb4a539907fbe4edd"/>
  </p:notesMasterIdLst>
  <p:sldIdLst>
    <p:sldId xmlns:r="http://schemas.openxmlformats.org/officeDocument/2006/relationships" id="256" r:id="R7cbb0063d8064eb7"/>
    <p:sldId xmlns:r="http://schemas.openxmlformats.org/officeDocument/2006/relationships" id="257" r:id="R160ebcfa802e4cd2"/>
    <p:sldId xmlns:r="http://schemas.openxmlformats.org/officeDocument/2006/relationships" id="258" r:id="R70027c0433ee43b4"/>
    <p:sldId xmlns:r="http://schemas.openxmlformats.org/officeDocument/2006/relationships" id="259" r:id="Rfa68923958f94ba1"/>
    <p:sldId xmlns:r="http://schemas.openxmlformats.org/officeDocument/2006/relationships" id="260" r:id="R2381af49978c46b9"/>
    <p:sldId xmlns:r="http://schemas.openxmlformats.org/officeDocument/2006/relationships" id="261" r:id="Rf0202f2ddf0e480a"/>
    <p:sldId xmlns:r="http://schemas.openxmlformats.org/officeDocument/2006/relationships" id="262" r:id="R4f58e083146c41e7"/>
    <p:sldId xmlns:r="http://schemas.openxmlformats.org/officeDocument/2006/relationships" id="263" r:id="R29614f6d9dc74b38"/>
    <p:sldId xmlns:r="http://schemas.openxmlformats.org/officeDocument/2006/relationships" id="264" r:id="R2b516caf5ca544b9"/>
    <p:sldId xmlns:r="http://schemas.openxmlformats.org/officeDocument/2006/relationships" id="265" r:id="R32a312d7aee24084"/>
    <p:sldId xmlns:r="http://schemas.openxmlformats.org/officeDocument/2006/relationships" id="266" r:id="Rbb850c0f240d4aa6"/>
    <p:sldId xmlns:r="http://schemas.openxmlformats.org/officeDocument/2006/relationships" id="267" r:id="R8c23fd3435934558"/>
    <p:sldId xmlns:r="http://schemas.openxmlformats.org/officeDocument/2006/relationships" id="268" r:id="R92e689f76a6b4daa"/>
    <p:sldId xmlns:r="http://schemas.openxmlformats.org/officeDocument/2006/relationships" id="269" r:id="Rba04dc49d41a42db"/>
  </p:sldIdLst>
  <p:sldSz cx="12192000" cy="6858000"/>
  <p:notesSz cx="6858000" cy="9144000"/>
  <p:embeddedFontLst>
    <p:embeddedFont>
      <p:font typeface="Oswald SemiBold"/>
      <p:regular xmlns:r="http://schemas.openxmlformats.org/officeDocument/2006/relationships" r:id="Rc743f1daf21a479e"/>
      <p:bold xmlns:r="http://schemas.openxmlformats.org/officeDocument/2006/relationships" r:id="R13391f7878d9442e"/>
    </p:embeddedFont>
    <p:embeddedFont>
      <p:font typeface="Univers Condensed Light"/>
      <p:regular xmlns:r="http://schemas.openxmlformats.org/officeDocument/2006/relationships" r:id="R5f2b8abd90704b16"/>
    </p:embeddedFont>
  </p:embeddedFontLst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c51aaf7d2cd4714" /><Relationship Type="http://schemas.openxmlformats.org/officeDocument/2006/relationships/slideMaster" Target="/ppt/slideMasters/slideMaster1.xml" Id="Rc4064e23d84149ec" /><Relationship Type="http://schemas.openxmlformats.org/officeDocument/2006/relationships/notesMaster" Target="/ppt/notesMasters/notesMaster1.xml" Id="Rb4a539907fbe4edd" /><Relationship Type="http://schemas.openxmlformats.org/officeDocument/2006/relationships/presProps" Target="/ppt/presProps.xml" Id="R9c14545740534435" /><Relationship Type="http://schemas.openxmlformats.org/officeDocument/2006/relationships/viewProps" Target="/ppt/viewProps.xml" Id="R6dda44d543974956" /><Relationship Type="http://schemas.openxmlformats.org/officeDocument/2006/relationships/tableStyles" Target="/ppt/tableStyles.xml" Id="R254fcbaedb2d4a96" /><Relationship Type="http://schemas.openxmlformats.org/officeDocument/2006/relationships/font" Target="/ppt/fonts/font.dat" Id="Rc743f1daf21a479e" /><Relationship Type="http://schemas.openxmlformats.org/officeDocument/2006/relationships/font" Target="/ppt/fonts/font2.dat" Id="R13391f7878d9442e" /><Relationship Type="http://schemas.openxmlformats.org/officeDocument/2006/relationships/font" Target="/ppt/fonts/font3.dat" Id="R5f2b8abd90704b16" /><Relationship Type="http://schemas.openxmlformats.org/officeDocument/2006/relationships/slide" Target="/ppt/slides/slide1.xml" Id="R7cbb0063d8064eb7" /><Relationship Type="http://schemas.openxmlformats.org/officeDocument/2006/relationships/slide" Target="/ppt/slides/slide2.xml" Id="R160ebcfa802e4cd2" /><Relationship Type="http://schemas.openxmlformats.org/officeDocument/2006/relationships/slide" Target="/ppt/slides/slide3.xml" Id="R70027c0433ee43b4" /><Relationship Type="http://schemas.openxmlformats.org/officeDocument/2006/relationships/slide" Target="/ppt/slides/slide4.xml" Id="Rfa68923958f94ba1" /><Relationship Type="http://schemas.openxmlformats.org/officeDocument/2006/relationships/slide" Target="/ppt/slides/slide5.xml" Id="R2381af49978c46b9" /><Relationship Type="http://schemas.openxmlformats.org/officeDocument/2006/relationships/slide" Target="/ppt/slides/slide6.xml" Id="Rf0202f2ddf0e480a" /><Relationship Type="http://schemas.openxmlformats.org/officeDocument/2006/relationships/slide" Target="/ppt/slides/slide7.xml" Id="R4f58e083146c41e7" /><Relationship Type="http://schemas.openxmlformats.org/officeDocument/2006/relationships/slide" Target="/ppt/slides/slide8.xml" Id="R29614f6d9dc74b38" /><Relationship Type="http://schemas.openxmlformats.org/officeDocument/2006/relationships/slide" Target="/ppt/slides/slide9.xml" Id="R2b516caf5ca544b9" /><Relationship Type="http://schemas.openxmlformats.org/officeDocument/2006/relationships/slide" Target="/ppt/slides/slide10.xml" Id="R32a312d7aee24084" /><Relationship Type="http://schemas.openxmlformats.org/officeDocument/2006/relationships/slide" Target="/ppt/slides/slide11.xml" Id="Rbb850c0f240d4aa6" /><Relationship Type="http://schemas.openxmlformats.org/officeDocument/2006/relationships/slide" Target="/ppt/slides/slide12.xml" Id="R8c23fd3435934558" /><Relationship Type="http://schemas.openxmlformats.org/officeDocument/2006/relationships/slide" Target="/ppt/slides/slide13.xml" Id="R92e689f76a6b4daa" /><Relationship Type="http://schemas.openxmlformats.org/officeDocument/2006/relationships/slide" Target="/ppt/slides/slide14.xml" Id="Rba04dc49d41a42d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b63aecbda454ca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Semantic Analyzer Review Theme">
      <a:dk1>
        <a:srgbClr val="000000"/>
      </a:dk1>
      <a:lt1>
        <a:srgbClr val="FFFFFF"/>
      </a:lt1>
      <a:dk2>
        <a:srgbClr val="262557"/>
      </a:dk2>
      <a:lt2>
        <a:srgbClr val="E9EAF1"/>
      </a:lt2>
      <a:accent1>
        <a:srgbClr val="4A66AC"/>
      </a:accent1>
      <a:accent2>
        <a:srgbClr val="5AA2AE"/>
      </a:accent2>
      <a:accent3>
        <a:srgbClr val="6077B4"/>
      </a:accent3>
      <a:accent4>
        <a:srgbClr val="8B98C2"/>
      </a:accent4>
      <a:accent5>
        <a:srgbClr val="9FA8CC"/>
      </a:accent5>
      <a:accent6>
        <a:srgbClr val="408385"/>
      </a:accent6>
      <a:hlink>
        <a:srgbClr val="4A66AC"/>
      </a:hlink>
      <a:folHlink>
        <a:srgbClr val="5AA2AE"/>
      </a:folHlink>
    </a:clrScheme>
    <a:fontScheme name="">
      <a:majorFont>
        <a:latin typeface="Univers Condensed Light"/>
        <a:ea typeface=""/>
        <a:cs typeface=""/>
      </a:majorFont>
      <a:minorFont>
        <a:latin typeface="Univers Condensed Light"/>
        <a:ea typeface=""/>
        <a:cs typeface=""/>
      </a:minorFont>
    </a:fontScheme>
    <a:fmtScheme name="Semantic Analyzer Review Them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5cde1ffb5d84ab3" /><Relationship Type="http://schemas.openxmlformats.org/officeDocument/2006/relationships/notesMaster" Target="/ppt/notesMasters/notesMaster1.xml" Id="R513fc8f2b5ac4ef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092656f52ce4495" /><Relationship Type="http://schemas.openxmlformats.org/officeDocument/2006/relationships/notesMaster" Target="/ppt/notesMasters/notesMaster1.xml" Id="R9ec3181b75a6446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fca4e4328b5410e" /><Relationship Type="http://schemas.openxmlformats.org/officeDocument/2006/relationships/notesMaster" Target="/ppt/notesMasters/notesMaster1.xml" Id="R785acc95cdd74d3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af2b36f36024120" /><Relationship Type="http://schemas.openxmlformats.org/officeDocument/2006/relationships/notesMaster" Target="/ppt/notesMasters/notesMaster1.xml" Id="Rec4ddb549cdd406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eefe6937934422c" /><Relationship Type="http://schemas.openxmlformats.org/officeDocument/2006/relationships/notesMaster" Target="/ppt/notesMasters/notesMaster1.xml" Id="R55bc5f5db23044d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46648cae79e4a50" /><Relationship Type="http://schemas.openxmlformats.org/officeDocument/2006/relationships/notesMaster" Target="/ppt/notesMasters/notesMaster1.xml" Id="R60c3b8a0aa71409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15450c5b25446dc" /><Relationship Type="http://schemas.openxmlformats.org/officeDocument/2006/relationships/notesMaster" Target="/ppt/notesMasters/notesMaster1.xml" Id="R7744e9cdadb2454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ab20a39f44b4f13" /><Relationship Type="http://schemas.openxmlformats.org/officeDocument/2006/relationships/notesMaster" Target="/ppt/notesMasters/notesMaster1.xml" Id="Rc6a462570a59405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e13a9ed7ec945a7" /><Relationship Type="http://schemas.openxmlformats.org/officeDocument/2006/relationships/notesMaster" Target="/ppt/notesMasters/notesMaster1.xml" Id="R56c18aa459684ae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b72926e8a864a86" /><Relationship Type="http://schemas.openxmlformats.org/officeDocument/2006/relationships/notesMaster" Target="/ppt/notesMasters/notesMaster1.xml" Id="R458ed8d6ce144aa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92147a7a3414b19" /><Relationship Type="http://schemas.openxmlformats.org/officeDocument/2006/relationships/notesMaster" Target="/ppt/notesMasters/notesMaster1.xml" Id="Ra6d2586856b34c0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ab2793454b34e94" /><Relationship Type="http://schemas.openxmlformats.org/officeDocument/2006/relationships/notesMaster" Target="/ppt/notesMasters/notesMaster1.xml" Id="Rbe48004294504b5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e8398fb27e34df3" /><Relationship Type="http://schemas.openxmlformats.org/officeDocument/2006/relationships/notesMaster" Target="/ppt/notesMasters/notesMaster1.xml" Id="R4fdb0f4e944d4c4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62f39782d684ed3" /><Relationship Type="http://schemas.openxmlformats.org/officeDocument/2006/relationships/notesMaster" Target="/ppt/notesMasters/notesMaster1.xml" Id="Raea32a32d93f488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Review 1: original 25% milestone presentation. Original project descriptions and screenshots reflect this earlier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Historical Review 1 scope. These future compiler stages are implemented in the separate Review II presentation. The old archive and filenames reflect the original PDF snapshot.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444a3802ab4cf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f1f9e14da1487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8542baef8842e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10f1730a8a420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51a9643a324d5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6ea4010b1c482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1A830D0-2D6A-492B-A606-166777892B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505BF1F-90F9-4DA6-9E11-6DB3457D821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367DED2-9C39-4A8D-A64C-D132801344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7B0CEBB-9145-4696-BC63-094F9371F1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B0E355C-BBCD-4103-A3BB-3C859E9F4E0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1CAE3F8-9674-435C-A9C6-25F50177B9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17A0ACD-CDF2-4E05-A399-1E2C156462F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99C1B30-189B-447D-870E-9C8AB0AF51F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949283C-73C9-47C0-9C83-A4EE351933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790FE1A-236C-4CD2-A0EA-62552DDC2D1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e4b268cb91f4fed" /><Relationship Type="http://schemas.openxmlformats.org/officeDocument/2006/relationships/slideLayout" Target="/ppt/slideLayouts/slideLayout1.xml" Id="R5d5d59ee17014a34" /><Relationship Type="http://schemas.openxmlformats.org/officeDocument/2006/relationships/slideLayout" Target="/ppt/slideLayouts/slideLayout2.xml" Id="R2c0c939f21fc4234" /><Relationship Type="http://schemas.openxmlformats.org/officeDocument/2006/relationships/slideLayout" Target="/ppt/slideLayouts/slideLayout3.xml" Id="R5aa3ef90dfdb4394" /><Relationship Type="http://schemas.openxmlformats.org/officeDocument/2006/relationships/slideLayout" Target="/ppt/slideLayouts/slideLayout4.xml" Id="Rb3c9e361e540496c" /><Relationship Type="http://schemas.openxmlformats.org/officeDocument/2006/relationships/slideLayout" Target="/ppt/slideLayouts/slideLayout5.xml" Id="Rd29533a51e724624" /><Relationship Type="http://schemas.openxmlformats.org/officeDocument/2006/relationships/slideLayout" Target="/ppt/slideLayouts/slideLayout6.xml" Id="Rf5bb07175f9e40a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d5d59ee17014a34"/>
    <p:sldLayoutId xmlns:r="http://schemas.openxmlformats.org/officeDocument/2006/relationships" id="2147483650" r:id="R2c0c939f21fc4234"/>
    <p:sldLayoutId xmlns:r="http://schemas.openxmlformats.org/officeDocument/2006/relationships" id="2147483651" r:id="R5aa3ef90dfdb4394"/>
    <p:sldLayoutId xmlns:r="http://schemas.openxmlformats.org/officeDocument/2006/relationships" id="2147483652" r:id="Rb3c9e361e540496c"/>
    <p:sldLayoutId xmlns:r="http://schemas.openxmlformats.org/officeDocument/2006/relationships" id="2147483653" r:id="Rd29533a51e724624"/>
    <p:sldLayoutId xmlns:r="http://schemas.openxmlformats.org/officeDocument/2006/relationships" id="2147483654" r:id="Rf5bb07175f9e40a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Semantic Analyzer Review Theme">
      <a:dk1>
        <a:srgbClr val="000000"/>
      </a:dk1>
      <a:lt1>
        <a:srgbClr val="FFFFFF"/>
      </a:lt1>
      <a:dk2>
        <a:srgbClr val="262557"/>
      </a:dk2>
      <a:lt2>
        <a:srgbClr val="E9EAF1"/>
      </a:lt2>
      <a:accent1>
        <a:srgbClr val="4A66AC"/>
      </a:accent1>
      <a:accent2>
        <a:srgbClr val="5AA2AE"/>
      </a:accent2>
      <a:accent3>
        <a:srgbClr val="6077B4"/>
      </a:accent3>
      <a:accent4>
        <a:srgbClr val="8B98C2"/>
      </a:accent4>
      <a:accent5>
        <a:srgbClr val="9FA8CC"/>
      </a:accent5>
      <a:accent6>
        <a:srgbClr val="408385"/>
      </a:accent6>
      <a:hlink>
        <a:srgbClr val="4A66AC"/>
      </a:hlink>
      <a:folHlink>
        <a:srgbClr val="5AA2AE"/>
      </a:folHlink>
    </a:clrScheme>
    <a:fontScheme name="">
      <a:majorFont>
        <a:latin typeface="Univers Condensed Light"/>
        <a:ea typeface=""/>
        <a:cs typeface=""/>
      </a:majorFont>
      <a:minorFont>
        <a:latin typeface="Univers Condensed Light"/>
        <a:ea typeface=""/>
        <a:cs typeface=""/>
      </a:minorFont>
    </a:fontScheme>
    <a:fmtScheme name="Semantic Analyzer Review Them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44d0ea651d41b7" /><Relationship Type="http://schemas.openxmlformats.org/officeDocument/2006/relationships/notesSlide" Target="/ppt/notesSlides/notesSlide1.xml" Id="R8c9be34734b8439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99aa303d8a4bb6" /><Relationship Type="http://schemas.openxmlformats.org/officeDocument/2006/relationships/notesSlide" Target="/ppt/notesSlides/notesSlide2.xml" Id="Re2708f7d3c6b4df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fda4417e6b41d7" /><Relationship Type="http://schemas.openxmlformats.org/officeDocument/2006/relationships/notesSlide" Target="/ppt/notesSlides/notesSlide3.xml" Id="R3cb3949859414f5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65c668934343cc" /><Relationship Type="http://schemas.openxmlformats.org/officeDocument/2006/relationships/image" Target="/ppt/media/image.png" Id="R651717d2f3a54e19" /><Relationship Type="http://schemas.openxmlformats.org/officeDocument/2006/relationships/notesSlide" Target="/ppt/notesSlides/notesSlide4.xml" Id="Rb547fb9e2b7c4fa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925f0a61004c53" /><Relationship Type="http://schemas.openxmlformats.org/officeDocument/2006/relationships/notesSlide" Target="/ppt/notesSlides/notesSlide5.xml" Id="R7ba4cfd5fe2f4aa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10fec957f34799" /><Relationship Type="http://schemas.openxmlformats.org/officeDocument/2006/relationships/notesSlide" Target="/ppt/notesSlides/notesSlide6.xml" Id="R7e00800494214de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ff5e12c6964ab9" /><Relationship Type="http://schemas.openxmlformats.org/officeDocument/2006/relationships/notesSlide" Target="/ppt/notesSlides/notesSlide7.xml" Id="R886fc2edcb1147b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4e38352a8f43cb" /><Relationship Type="http://schemas.openxmlformats.org/officeDocument/2006/relationships/notesSlide" Target="/ppt/notesSlides/notesSlide8.xml" Id="R019e532261da4b4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73eec1bf8f4c15" /><Relationship Type="http://schemas.openxmlformats.org/officeDocument/2006/relationships/notesSlide" Target="/ppt/notesSlides/notesSlide9.xml" Id="R275d586775bf4ee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654baf81854210" /><Relationship Type="http://schemas.openxmlformats.org/officeDocument/2006/relationships/notesSlide" Target="/ppt/notesSlides/notesSlide10.xml" Id="R75edc8f0931d4dc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66933f1c2f4b51" /><Relationship Type="http://schemas.openxmlformats.org/officeDocument/2006/relationships/image" Target="/ppt/media/image.jpeg" Id="R739733959e274c62" /><Relationship Type="http://schemas.openxmlformats.org/officeDocument/2006/relationships/image" Target="/ppt/media/image2.jpeg" Id="R7fe6d4ec075c4e09" /><Relationship Type="http://schemas.openxmlformats.org/officeDocument/2006/relationships/notesSlide" Target="/ppt/notesSlides/notesSlide11.xml" Id="Re66bc7cd85f64f6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9f052fc73f4fdf" /><Relationship Type="http://schemas.openxmlformats.org/officeDocument/2006/relationships/image" Target="/ppt/media/image3.jpeg" Id="Rec9fe941df9b4f99" /><Relationship Type="http://schemas.openxmlformats.org/officeDocument/2006/relationships/image" Target="/ppt/media/image4.jpeg" Id="R5dd01de4b1fe40eb" /><Relationship Type="http://schemas.openxmlformats.org/officeDocument/2006/relationships/notesSlide" Target="/ppt/notesSlides/notesSlide12.xml" Id="R62019ab10a5b4dd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35771da42f457e" /><Relationship Type="http://schemas.openxmlformats.org/officeDocument/2006/relationships/image" Target="/ppt/media/image5.jpeg" Id="R26bc7f4856ec42df" /><Relationship Type="http://schemas.openxmlformats.org/officeDocument/2006/relationships/image" Target="/ppt/media/image6.jpeg" Id="Rdba2735a8acc461c" /><Relationship Type="http://schemas.openxmlformats.org/officeDocument/2006/relationships/notesSlide" Target="/ppt/notesSlides/notesSlide13.xml" Id="R97fa3888545446f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d2e6863ca84b3f" /><Relationship Type="http://schemas.openxmlformats.org/officeDocument/2006/relationships/notesSlide" Target="/ppt/notesSlides/notesSlide14.xml" Id="R58a1c09feb554cb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ACCB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over title semantic">
            <a:extLst xmlns:a="http://schemas.openxmlformats.org/drawingml/2006/main">
              <a:ext uri="{FF2B5EF4-FFF2-40B4-BE49-F238E27FC236}">
                <a16:creationId xmlns:a16="http://schemas.microsoft.com/office/drawing/2014/main" id="{53575818-DFBE-4CFC-AF61-9CC41EBAD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333375"/>
            <a:ext cx="6477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600" b="0">
                <a:solidFill>
                  <a:srgbClr val="4A66AC"/>
                </a:solidFill>
                <a:latin typeface="Oswald SemiBold"/>
                <a:ea typeface="Oswald SemiBold"/>
                <a:cs typeface="Oswald SemiBold"/>
              </a:defRPr>
            </a:defPPr>
          </a:lstStyle>
          <a:p xmlns:a="http://schemas.openxmlformats.org/drawingml/2006/main">
            <a:pPr algn="l">
              <a:buNone/>
              <a:defRPr sz="9600" b="0">
                <a:solidFill>
                  <a:srgbClr val="4A66AC"/>
                </a:solidFill>
                <a:latin typeface="Oswald SemiBold"/>
                <a:ea typeface="Oswald SemiBold"/>
                <a:cs typeface="Oswald SemiBold"/>
              </a:defRPr>
            </a:pPr>
            <a:r>
              <a:rPr sz="9600" b="0">
                <a:solidFill>
                  <a:srgbClr val="4A66AC"/>
                </a:solidFill>
                <a:latin typeface="Oswald SemiBold"/>
                <a:ea typeface="Oswald SemiBold"/>
                <a:cs typeface="Oswald SemiBold"/>
              </a:rPr>
              <a:t>SEMANTIC</a:t>
            </a:r>
          </a:p>
        </p:txBody>
      </p:sp>
      <p:sp>
        <p:nvSpPr>
          <p:cNvPr id="2" name="Cover title analyzer">
            <a:extLst xmlns:a="http://schemas.openxmlformats.org/drawingml/2006/main">
              <a:ext uri="{FF2B5EF4-FFF2-40B4-BE49-F238E27FC236}">
                <a16:creationId xmlns:a16="http://schemas.microsoft.com/office/drawing/2014/main" id="{02A11543-C169-4910-B4CC-B3EE08DE3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1503045"/>
            <a:ext cx="6477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600" b="0">
                <a:solidFill>
                  <a:srgbClr val="4A66AC"/>
                </a:solidFill>
                <a:latin typeface="Oswald SemiBold"/>
                <a:ea typeface="Oswald SemiBold"/>
                <a:cs typeface="Oswald SemiBold"/>
              </a:defRPr>
            </a:defPPr>
          </a:lstStyle>
          <a:p xmlns:a="http://schemas.openxmlformats.org/drawingml/2006/main">
            <a:pPr algn="l">
              <a:buNone/>
              <a:defRPr sz="9600" b="0">
                <a:solidFill>
                  <a:srgbClr val="4A66AC"/>
                </a:solidFill>
                <a:latin typeface="Oswald SemiBold"/>
                <a:ea typeface="Oswald SemiBold"/>
                <a:cs typeface="Oswald SemiBold"/>
              </a:defRPr>
            </a:pPr>
            <a:r>
              <a:rPr sz="9600" b="0">
                <a:solidFill>
                  <a:srgbClr val="4A66AC"/>
                </a:solidFill>
                <a:latin typeface="Oswald SemiBold"/>
                <a:ea typeface="Oswald SemiBold"/>
                <a:cs typeface="Oswald SemiBold"/>
              </a:rPr>
              <a:t>ANALYZER</a:t>
            </a:r>
          </a:p>
        </p:txBody>
      </p:sp>
      <p:sp>
        <p:nvSpPr>
          <p:cNvPr id="3" name="Review title">
            <a:extLst xmlns:a="http://schemas.openxmlformats.org/drawingml/2006/main">
              <a:ext uri="{FF2B5EF4-FFF2-40B4-BE49-F238E27FC236}">
                <a16:creationId xmlns:a16="http://schemas.microsoft.com/office/drawing/2014/main" id="{DC5B6DC9-5C71-4BE0-933B-2423E7736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800100"/>
            <a:ext cx="3095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4404" b="0">
                <a:solidFill>
                  <a:srgbClr val="4A66AC"/>
                </a:solidFill>
                <a:latin typeface="Oswald SemiBold"/>
                <a:ea typeface="Oswald SemiBold"/>
                <a:cs typeface="Oswald SemiBold"/>
              </a:defRPr>
            </a:defPPr>
          </a:lstStyle>
          <a:p xmlns:a="http://schemas.openxmlformats.org/drawingml/2006/main">
            <a:pPr algn="r">
              <a:buNone/>
              <a:defRPr sz="4404" b="0">
                <a:solidFill>
                  <a:srgbClr val="4A66AC"/>
                </a:solidFill>
                <a:latin typeface="Oswald SemiBold"/>
                <a:ea typeface="Oswald SemiBold"/>
                <a:cs typeface="Oswald SemiBold"/>
              </a:defRPr>
            </a:pPr>
            <a:r>
              <a:rPr sz="4404" b="0">
                <a:solidFill>
                  <a:srgbClr val="4A66AC"/>
                </a:solidFill>
                <a:latin typeface="Oswald SemiBold"/>
                <a:ea typeface="Oswald SemiBold"/>
                <a:cs typeface="Oswald SemiBold"/>
              </a:rPr>
              <a:t>REVIEW 1</a:t>
            </a:r>
          </a:p>
        </p:txBody>
      </p:sp>
      <p:sp>
        <p:nvSpPr>
          <p:cNvPr id="4" name="Project description line one">
            <a:extLst xmlns:a="http://schemas.openxmlformats.org/drawingml/2006/main">
              <a:ext uri="{FF2B5EF4-FFF2-40B4-BE49-F238E27FC236}">
                <a16:creationId xmlns:a16="http://schemas.microsoft.com/office/drawing/2014/main" id="{FBAD25F6-615B-40D5-840C-DC6C8CE9A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661" y="3162300"/>
            <a:ext cx="9810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4" b="0">
                <a:solidFill>
                  <a:srgbClr val="000000"/>
                </a:solidFill>
                <a:latin typeface="Univers Condensed Light"/>
                <a:ea typeface="Univers Condensed Light"/>
                <a:cs typeface="Univers Condensed Light"/>
              </a:defRPr>
            </a:defPPr>
          </a:lstStyle>
          <a:p xmlns:a="http://schemas.openxmlformats.org/drawingml/2006/main">
            <a:pPr algn="l">
              <a:buNone/>
              <a:defRPr sz="2004" b="0">
                <a:solidFill>
                  <a:srgbClr val="000000"/>
                </a:solidFill>
                <a:latin typeface="Univers Condensed Light"/>
                <a:ea typeface="Univers Condensed Light"/>
                <a:cs typeface="Univers Condensed Light"/>
              </a:defRPr>
            </a:pPr>
            <a:r>
              <a:rPr sz="2004" b="0">
                <a:solidFill>
                  <a:srgbClr val="000000"/>
                </a:solidFill>
                <a:latin typeface="Univers Condensed Light"/>
                <a:ea typeface="Univers Condensed Light"/>
                <a:cs typeface="Univers Condensed Light"/>
              </a:rPr>
              <a:t>Developing a semantic analyzer for a simple programming language that performs type checking,</a:t>
            </a:r>
          </a:p>
        </p:txBody>
      </p:sp>
      <p:sp>
        <p:nvSpPr>
          <p:cNvPr id="5" name="Project description line two">
            <a:extLst xmlns:a="http://schemas.openxmlformats.org/drawingml/2006/main">
              <a:ext uri="{FF2B5EF4-FFF2-40B4-BE49-F238E27FC236}">
                <a16:creationId xmlns:a16="http://schemas.microsoft.com/office/drawing/2014/main" id="{621A08A9-CBC5-4363-8AB3-2CD68E284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661" y="3467100"/>
            <a:ext cx="9810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4" b="0">
                <a:solidFill>
                  <a:srgbClr val="000000"/>
                </a:solidFill>
                <a:latin typeface="Univers Condensed Light"/>
                <a:ea typeface="Univers Condensed Light"/>
                <a:cs typeface="Univers Condensed Light"/>
              </a:defRPr>
            </a:defPPr>
          </a:lstStyle>
          <a:p xmlns:a="http://schemas.openxmlformats.org/drawingml/2006/main">
            <a:pPr algn="l">
              <a:buNone/>
              <a:defRPr sz="2004" b="0">
                <a:solidFill>
                  <a:srgbClr val="000000"/>
                </a:solidFill>
                <a:latin typeface="Univers Condensed Light"/>
                <a:ea typeface="Univers Condensed Light"/>
                <a:cs typeface="Univers Condensed Light"/>
              </a:defRPr>
            </a:pPr>
            <a:r>
              <a:rPr sz="2004" b="0">
                <a:solidFill>
                  <a:srgbClr val="000000"/>
                </a:solidFill>
                <a:latin typeface="Univers Condensed Light"/>
                <a:ea typeface="Univers Condensed Light"/>
                <a:cs typeface="Univers Condensed Light"/>
              </a:rPr>
              <a:t>declaration checking, scope checking, and validation of assignment and expression statements.</a:t>
            </a:r>
          </a:p>
        </p:txBody>
      </p:sp>
      <p:sp>
        <p:nvSpPr>
          <p:cNvPr id="6" name="Author 1">
            <a:extLst xmlns:a="http://schemas.openxmlformats.org/drawingml/2006/main">
              <a:ext uri="{FF2B5EF4-FFF2-40B4-BE49-F238E27FC236}">
                <a16:creationId xmlns:a16="http://schemas.microsoft.com/office/drawing/2014/main" id="{DA6172AA-EBC5-4437-8149-0791BA088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495800"/>
            <a:ext cx="5819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96" b="0">
                <a:solidFill>
                  <a:srgbClr val="40838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buNone/>
              <a:defRPr sz="1596" b="0">
                <a:solidFill>
                  <a:srgbClr val="408385"/>
                </a:solidFill>
                <a:latin typeface="Aptos"/>
                <a:ea typeface="Aptos"/>
                <a:cs typeface="Aptos"/>
              </a:defRPr>
            </a:pPr>
            <a:r>
              <a:rPr sz="1596" b="0">
                <a:solidFill>
                  <a:srgbClr val="408385"/>
                </a:solidFill>
                <a:latin typeface="Aptos"/>
                <a:ea typeface="Aptos"/>
                <a:cs typeface="Aptos"/>
              </a:rPr>
              <a:t>SHREYAN KAUSHIK (24BCE2049)</a:t>
            </a:r>
          </a:p>
        </p:txBody>
      </p:sp>
      <p:sp>
        <p:nvSpPr>
          <p:cNvPr id="7" name="Author 2">
            <a:extLst xmlns:a="http://schemas.openxmlformats.org/drawingml/2006/main">
              <a:ext uri="{FF2B5EF4-FFF2-40B4-BE49-F238E27FC236}">
                <a16:creationId xmlns:a16="http://schemas.microsoft.com/office/drawing/2014/main" id="{0556B20A-2FE1-4D4C-BF41-AC64DA59C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914900"/>
            <a:ext cx="5819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96" b="0">
                <a:solidFill>
                  <a:srgbClr val="40838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buNone/>
              <a:defRPr sz="1596" b="0">
                <a:solidFill>
                  <a:srgbClr val="408385"/>
                </a:solidFill>
                <a:latin typeface="Aptos"/>
                <a:ea typeface="Aptos"/>
                <a:cs typeface="Aptos"/>
              </a:defRPr>
            </a:pPr>
            <a:r>
              <a:rPr sz="1596" b="0">
                <a:solidFill>
                  <a:srgbClr val="408385"/>
                </a:solidFill>
                <a:latin typeface="Aptos"/>
                <a:ea typeface="Aptos"/>
                <a:cs typeface="Aptos"/>
              </a:rPr>
              <a:t>VAIBHAV BAKSHI (24BCE2052)</a:t>
            </a:r>
          </a:p>
        </p:txBody>
      </p:sp>
      <p:sp>
        <p:nvSpPr>
          <p:cNvPr id="8" name="Author 3">
            <a:extLst xmlns:a="http://schemas.openxmlformats.org/drawingml/2006/main">
              <a:ext uri="{FF2B5EF4-FFF2-40B4-BE49-F238E27FC236}">
                <a16:creationId xmlns:a16="http://schemas.microsoft.com/office/drawing/2014/main" id="{29F20E27-A8F7-4094-8C92-B0A9E4668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5334000"/>
            <a:ext cx="5819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96" b="0">
                <a:solidFill>
                  <a:srgbClr val="40838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buNone/>
              <a:defRPr sz="1596" b="0">
                <a:solidFill>
                  <a:srgbClr val="408385"/>
                </a:solidFill>
                <a:latin typeface="Aptos"/>
                <a:ea typeface="Aptos"/>
                <a:cs typeface="Aptos"/>
              </a:defRPr>
            </a:pPr>
            <a:r>
              <a:rPr sz="1596" b="0">
                <a:solidFill>
                  <a:srgbClr val="408385"/>
                </a:solidFill>
                <a:latin typeface="Aptos"/>
                <a:ea typeface="Aptos"/>
                <a:cs typeface="Aptos"/>
              </a:rPr>
              <a:t>KARELIYA MEET BINDESHKUMAR (24BCE2053)</a:t>
            </a:r>
          </a:p>
        </p:txBody>
      </p:sp>
      <p:sp>
        <p:nvSpPr>
          <p:cNvPr id="9" name="Cover vertical rule">
            <a:extLst xmlns:a="http://schemas.openxmlformats.org/drawingml/2006/main">
              <a:ext uri="{FF2B5EF4-FFF2-40B4-BE49-F238E27FC236}">
                <a16:creationId xmlns:a16="http://schemas.microsoft.com/office/drawing/2014/main" id="{ADABF98B-DACA-4FF4-A1B7-A761CB898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105" y="1038225"/>
            <a:ext cx="5239" cy="479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557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7938009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INDEX">
            <a:extLst xmlns:a="http://schemas.openxmlformats.org/drawingml/2006/main">
              <a:ext uri="{FF2B5EF4-FFF2-40B4-BE49-F238E27FC236}">
                <a16:creationId xmlns:a16="http://schemas.microsoft.com/office/drawing/2014/main" id="{8D9DF07C-3E87-4575-AF31-20FFE0063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1143000"/>
            <a:ext cx="1081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404" b="0">
                <a:solidFill>
                  <a:srgbClr val="5AA2AE"/>
                </a:solidFill>
                <a:latin typeface="Oswald SemiBold"/>
                <a:ea typeface="Oswald SemiBold"/>
                <a:cs typeface="Oswald SemiBold"/>
              </a:defRPr>
            </a:defPPr>
          </a:lstStyle>
          <a:p xmlns:a="http://schemas.openxmlformats.org/drawingml/2006/main">
            <a:pPr algn="l">
              <a:buNone/>
              <a:defRPr sz="4404" b="0">
                <a:solidFill>
                  <a:srgbClr val="5AA2AE"/>
                </a:solidFill>
                <a:latin typeface="Oswald SemiBold"/>
                <a:ea typeface="Oswald SemiBold"/>
                <a:cs typeface="Oswald SemiBold"/>
              </a:defRPr>
            </a:pPr>
            <a:r>
              <a:rPr sz="4404" b="0">
                <a:solidFill>
                  <a:srgbClr val="5AA2AE"/>
                </a:solidFill>
                <a:latin typeface="Oswald SemiBold"/>
                <a:ea typeface="Oswald SemiBold"/>
                <a:cs typeface="Oswald SemiBold"/>
              </a:rPr>
              <a:t>INDEX</a:t>
            </a:r>
          </a:p>
        </p:txBody>
      </p:sp>
      <p:sp>
        <p:nvSpPr>
          <p:cNvPr id="2" name="Template footer rule">
            <a:extLst xmlns:a="http://schemas.openxmlformats.org/drawingml/2006/main">
              <a:ext uri="{FF2B5EF4-FFF2-40B4-BE49-F238E27FC236}">
                <a16:creationId xmlns:a16="http://schemas.microsoft.com/office/drawing/2014/main" id="{B693C6DC-6EF8-4FBF-AFDC-69623F2F4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8" y="6215063"/>
            <a:ext cx="10802303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66A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Editable bullet list">
            <a:extLst xmlns:a="http://schemas.openxmlformats.org/drawingml/2006/main">
              <a:ext uri="{FF2B5EF4-FFF2-40B4-BE49-F238E27FC236}">
                <a16:creationId xmlns:a16="http://schemas.microsoft.com/office/drawing/2014/main" id="{BC55DF0D-3050-467A-AE15-AEA31DBAA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90750"/>
            <a:ext cx="104775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04" b="0">
                <a:solidFill>
                  <a:srgbClr val="262557"/>
                </a:solidFill>
                <a:latin typeface="Univers Condensed Light"/>
                <a:ea typeface="Univers Condensed Light"/>
                <a:cs typeface="Univers Condensed Light"/>
              </a:defRPr>
            </a:defPPr>
          </a:lstStyle>
          <a:p xmlns:a="http://schemas.openxmlformats.org/drawingml/2006/main">
            <a:pPr marL="228600" indent="-165100" algn="l">
              <a:spcAft>
                <a:spcPts val="1470"/>
              </a:spcAft>
              <a:buChar char="•"/>
              <a:defRPr sz="2004" b="0">
                <a:solidFill>
                  <a:srgbClr val="262557"/>
                </a:solidFill>
                <a:latin typeface="Univers Condensed Light"/>
                <a:ea typeface="Univers Condensed Light"/>
                <a:cs typeface="Univers Condensed Light"/>
              </a:defRPr>
            </a:pPr>
            <a:r>
              <a:rPr sz="2004">
                <a:solidFill>
                  <a:srgbClr val="262557"/>
                </a:solidFill>
                <a:latin typeface="Univers Condensed Light"/>
                <a:ea typeface="Univers Condensed Light"/>
                <a:cs typeface="Univers Condensed Light"/>
              </a:rPr>
              <a:t>Objective</a:t>
            </a:r>
          </a:p>
          <a:p xmlns:a="http://schemas.openxmlformats.org/drawingml/2006/main">
            <a:pPr marL="228600" indent="-165100" algn="l">
              <a:spcAft>
                <a:spcPts val="1470"/>
              </a:spcAft>
              <a:buChar char="•"/>
              <a:defRPr sz="2004" b="0">
                <a:solidFill>
                  <a:srgbClr val="262557"/>
                </a:solidFill>
                <a:latin typeface="Univers Condensed Light"/>
                <a:ea typeface="Univers Condensed Light"/>
                <a:cs typeface="Univers Condensed Light"/>
              </a:defRPr>
            </a:pPr>
            <a:r>
              <a:rPr sz="2004">
                <a:solidFill>
                  <a:srgbClr val="262557"/>
                </a:solidFill>
                <a:latin typeface="Univers Condensed Light"/>
                <a:ea typeface="Univers Condensed Light"/>
                <a:cs typeface="Univers Condensed Light"/>
              </a:rPr>
              <a:t>Overview</a:t>
            </a:r>
          </a:p>
          <a:p xmlns:a="http://schemas.openxmlformats.org/drawingml/2006/main">
            <a:pPr marL="228600" indent="-165100" algn="l">
              <a:spcAft>
                <a:spcPts val="1470"/>
              </a:spcAft>
              <a:buChar char="•"/>
              <a:defRPr sz="2004" b="0">
                <a:solidFill>
                  <a:srgbClr val="262557"/>
                </a:solidFill>
                <a:latin typeface="Univers Condensed Light"/>
                <a:ea typeface="Univers Condensed Light"/>
                <a:cs typeface="Univers Condensed Light"/>
              </a:defRPr>
            </a:pPr>
            <a:r>
              <a:rPr sz="2004">
                <a:solidFill>
                  <a:srgbClr val="262557"/>
                </a:solidFill>
                <a:latin typeface="Univers Condensed Light"/>
                <a:ea typeface="Univers Condensed Light"/>
                <a:cs typeface="Univers Condensed Light"/>
              </a:rPr>
              <a:t>Project Architecture</a:t>
            </a:r>
          </a:p>
          <a:p xmlns:a="http://schemas.openxmlformats.org/drawingml/2006/main">
            <a:pPr marL="228600" indent="-165100" algn="l">
              <a:spcAft>
                <a:spcPts val="1470"/>
              </a:spcAft>
              <a:buChar char="•"/>
              <a:defRPr sz="2004" b="0">
                <a:solidFill>
                  <a:srgbClr val="262557"/>
                </a:solidFill>
                <a:latin typeface="Univers Condensed Light"/>
                <a:ea typeface="Univers Condensed Light"/>
                <a:cs typeface="Univers Condensed Light"/>
              </a:defRPr>
            </a:pPr>
            <a:r>
              <a:rPr sz="2004">
                <a:solidFill>
                  <a:srgbClr val="262557"/>
                </a:solidFill>
                <a:latin typeface="Univers Condensed Light"/>
                <a:ea typeface="Univers Condensed Light"/>
                <a:cs typeface="Univers Condensed Light"/>
              </a:rPr>
              <a:t>Key Features &amp; Functions</a:t>
            </a:r>
          </a:p>
          <a:p xmlns:a="http://schemas.openxmlformats.org/drawingml/2006/main">
            <a:pPr marL="228600" indent="-165100" algn="l">
              <a:spcAft>
                <a:spcPts val="1470"/>
              </a:spcAft>
              <a:buChar char="•"/>
              <a:defRPr sz="2004" b="0">
                <a:solidFill>
                  <a:srgbClr val="262557"/>
                </a:solidFill>
                <a:latin typeface="Univers Condensed Light"/>
                <a:ea typeface="Univers Condensed Light"/>
                <a:cs typeface="Univers Condensed Light"/>
              </a:defRPr>
            </a:pPr>
            <a:r>
              <a:rPr sz="2004">
                <a:solidFill>
                  <a:srgbClr val="262557"/>
                </a:solidFill>
                <a:latin typeface="Univers Condensed Light"/>
                <a:ea typeface="Univers Condensed Light"/>
                <a:cs typeface="Univers Condensed Light"/>
              </a:rPr>
              <a:t>Working of the Program</a:t>
            </a:r>
          </a:p>
          <a:p xmlns:a="http://schemas.openxmlformats.org/drawingml/2006/main">
            <a:pPr marL="228600" indent="-165100" algn="l">
              <a:spcAft>
                <a:spcPts val="1470"/>
              </a:spcAft>
              <a:buChar char="•"/>
              <a:defRPr sz="2004" b="0">
                <a:solidFill>
                  <a:srgbClr val="262557"/>
                </a:solidFill>
                <a:latin typeface="Univers Condensed Light"/>
                <a:ea typeface="Univers Condensed Light"/>
                <a:cs typeface="Univers Condensed Light"/>
              </a:defRPr>
            </a:pPr>
            <a:r>
              <a:rPr sz="2004">
                <a:solidFill>
                  <a:srgbClr val="262557"/>
                </a:solidFill>
                <a:latin typeface="Univers Condensed Light"/>
                <a:ea typeface="Univers Condensed Light"/>
                <a:cs typeface="Univers Condensed Light"/>
              </a:rPr>
              <a:t>Example Test Cases</a:t>
            </a:r>
          </a:p>
          <a:p xmlns:a="http://schemas.openxmlformats.org/drawingml/2006/main">
            <a:pPr marL="228600" indent="-165100" algn="l">
              <a:spcAft>
                <a:spcPts val="1470"/>
              </a:spcAft>
              <a:buChar char="•"/>
              <a:defRPr sz="2004" b="0">
                <a:solidFill>
                  <a:srgbClr val="262557"/>
                </a:solidFill>
                <a:latin typeface="Univers Condensed Light"/>
                <a:ea typeface="Univers Condensed Light"/>
                <a:cs typeface="Univers Condensed Light"/>
              </a:defRPr>
            </a:pPr>
            <a:r>
              <a:rPr sz="2004">
                <a:solidFill>
                  <a:srgbClr val="262557"/>
                </a:solidFill>
                <a:latin typeface="Univers Condensed Light"/>
                <a:ea typeface="Univers Condensed Light"/>
                <a:cs typeface="Univers Condensed Light"/>
              </a:rPr>
              <a:t>Future Scope</a:t>
            </a:r>
          </a:p>
        </p:txBody>
      </p:sp>
    </p:spTree>
    <p:extLst>
      <p:ext uri="{BB962C8B-B14F-4D97-AF65-F5344CB8AC3E}">
        <p14:creationId xmlns:p14="http://schemas.microsoft.com/office/powerpoint/2010/main" val="16238390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 title">
            <a:extLst xmlns:a="http://schemas.openxmlformats.org/drawingml/2006/main">
              <a:ext uri="{FF2B5EF4-FFF2-40B4-BE49-F238E27FC236}">
                <a16:creationId xmlns:a16="http://schemas.microsoft.com/office/drawing/2014/main" id="{1A9283E1-5953-44C3-8394-50055E5CA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752475"/>
            <a:ext cx="1081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404" b="0">
                <a:solidFill>
                  <a:srgbClr val="5AA2AE"/>
                </a:solidFill>
                <a:latin typeface="Oswald SemiBold"/>
                <a:ea typeface="Oswald SemiBold"/>
                <a:cs typeface="Oswald SemiBold"/>
              </a:defRPr>
            </a:defPPr>
          </a:lstStyle>
          <a:p xmlns:a="http://schemas.openxmlformats.org/drawingml/2006/main">
            <a:pPr algn="l">
              <a:buNone/>
              <a:defRPr sz="4404" b="0">
                <a:solidFill>
                  <a:srgbClr val="5AA2AE"/>
                </a:solidFill>
                <a:latin typeface="Oswald SemiBold"/>
                <a:ea typeface="Oswald SemiBold"/>
                <a:cs typeface="Oswald SemiBold"/>
              </a:defRPr>
            </a:pPr>
            <a:r>
              <a:rPr sz="4404" b="0">
                <a:solidFill>
                  <a:srgbClr val="5AA2AE"/>
                </a:solidFill>
                <a:latin typeface="Oswald SemiBold"/>
                <a:ea typeface="Oswald SemiBold"/>
                <a:cs typeface="Oswald SemiBold"/>
              </a:rPr>
              <a:t>OBJECTIVE</a:t>
            </a:r>
          </a:p>
        </p:txBody>
      </p:sp>
      <p:sp>
        <p:nvSpPr>
          <p:cNvPr id="2" name="Template footer rule">
            <a:extLst xmlns:a="http://schemas.openxmlformats.org/drawingml/2006/main">
              <a:ext uri="{FF2B5EF4-FFF2-40B4-BE49-F238E27FC236}">
                <a16:creationId xmlns:a16="http://schemas.microsoft.com/office/drawing/2014/main" id="{96C069BC-9193-47DF-8BD0-E49B67E7F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8" y="6215063"/>
            <a:ext cx="10802303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66A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o develop a semantic analyzer for a simple p">
            <a:extLst xmlns:a="http://schemas.openxmlformats.org/drawingml/2006/main">
              <a:ext uri="{FF2B5EF4-FFF2-40B4-BE49-F238E27FC236}">
                <a16:creationId xmlns:a16="http://schemas.microsoft.com/office/drawing/2014/main" id="{7DA7D155-39D3-41F4-A1FF-3C4B166C4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80975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4" b="0">
                <a:solidFill>
                  <a:srgbClr val="262557"/>
                </a:solidFill>
                <a:latin typeface="Univers Condensed Light"/>
                <a:ea typeface="Univers Condensed Light"/>
                <a:cs typeface="Univers Condensed Light"/>
              </a:defRPr>
            </a:defPPr>
          </a:lstStyle>
          <a:p xmlns:a="http://schemas.openxmlformats.org/drawingml/2006/main">
            <a:pPr algn="l">
              <a:buNone/>
              <a:defRPr sz="2004" b="0">
                <a:solidFill>
                  <a:srgbClr val="262557"/>
                </a:solidFill>
                <a:latin typeface="Univers Condensed Light"/>
                <a:ea typeface="Univers Condensed Light"/>
                <a:cs typeface="Univers Condensed Light"/>
              </a:defRPr>
            </a:pPr>
            <a:r>
              <a:rPr sz="2004" b="0">
                <a:solidFill>
                  <a:srgbClr val="262557"/>
                </a:solidFill>
                <a:latin typeface="Univers Condensed Light"/>
                <a:ea typeface="Univers Condensed Light"/>
                <a:cs typeface="Univers Condensed Light"/>
              </a:rPr>
              <a:t>To develop a semantic analyzer for a simple programming language that performs type checking, declaration</a:t>
            </a:r>
          </a:p>
        </p:txBody>
      </p:sp>
      <p:sp>
        <p:nvSpPr>
          <p:cNvPr id="4" name="checking, scope checking, and validation of a">
            <a:extLst xmlns:a="http://schemas.openxmlformats.org/drawingml/2006/main">
              <a:ext uri="{FF2B5EF4-FFF2-40B4-BE49-F238E27FC236}">
                <a16:creationId xmlns:a16="http://schemas.microsoft.com/office/drawing/2014/main" id="{7581E4A4-EC4E-4B78-A883-2B40266BB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7170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4" b="0">
                <a:solidFill>
                  <a:srgbClr val="262557"/>
                </a:solidFill>
                <a:latin typeface="Univers Condensed Light"/>
                <a:ea typeface="Univers Condensed Light"/>
                <a:cs typeface="Univers Condensed Light"/>
              </a:defRPr>
            </a:defPPr>
          </a:lstStyle>
          <a:p xmlns:a="http://schemas.openxmlformats.org/drawingml/2006/main">
            <a:pPr algn="l">
              <a:buNone/>
              <a:defRPr sz="2004" b="0">
                <a:solidFill>
                  <a:srgbClr val="262557"/>
                </a:solidFill>
                <a:latin typeface="Univers Condensed Light"/>
                <a:ea typeface="Univers Condensed Light"/>
                <a:cs typeface="Univers Condensed Light"/>
              </a:defRPr>
            </a:pPr>
            <a:r>
              <a:rPr sz="2004" b="0">
                <a:solidFill>
                  <a:srgbClr val="262557"/>
                </a:solidFill>
                <a:latin typeface="Univers Condensed Light"/>
                <a:ea typeface="Univers Condensed Light"/>
                <a:cs typeface="Univers Condensed Light"/>
              </a:rPr>
              <a:t>checking, scope checking, and validation of assignment and expression statements.</a:t>
            </a:r>
          </a:p>
        </p:txBody>
      </p:sp>
      <p:sp>
        <p:nvSpPr>
          <p:cNvPr id="5" name="Our first milestone works on establishing a w">
            <a:extLst xmlns:a="http://schemas.openxmlformats.org/drawingml/2006/main">
              <a:ext uri="{FF2B5EF4-FFF2-40B4-BE49-F238E27FC236}">
                <a16:creationId xmlns:a16="http://schemas.microsoft.com/office/drawing/2014/main" id="{99A3654B-87CD-4F2C-B3A7-231292CA5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67000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4" b="0">
                <a:solidFill>
                  <a:srgbClr val="262557"/>
                </a:solidFill>
                <a:latin typeface="Univers Condensed Light"/>
                <a:ea typeface="Univers Condensed Light"/>
                <a:cs typeface="Univers Condensed Light"/>
              </a:defRPr>
            </a:defPPr>
          </a:lstStyle>
          <a:p xmlns:a="http://schemas.openxmlformats.org/drawingml/2006/main">
            <a:pPr algn="l">
              <a:buNone/>
              <a:defRPr sz="2004" b="0">
                <a:solidFill>
                  <a:srgbClr val="262557"/>
                </a:solidFill>
                <a:latin typeface="Univers Condensed Light"/>
                <a:ea typeface="Univers Condensed Light"/>
                <a:cs typeface="Univers Condensed Light"/>
              </a:defRPr>
            </a:pPr>
            <a:r>
              <a:rPr sz="2004" b="0">
                <a:solidFill>
                  <a:srgbClr val="262557"/>
                </a:solidFill>
                <a:latin typeface="Univers Condensed Light"/>
                <a:ea typeface="Univers Condensed Light"/>
                <a:cs typeface="Univers Condensed Light"/>
              </a:rPr>
              <a:t>Our first milestone works on establishing a working pipeline that can:</a:t>
            </a:r>
          </a:p>
        </p:txBody>
      </p:sp>
      <p:sp>
        <p:nvSpPr>
          <p:cNvPr id="6" name="Editable bullet list">
            <a:extLst xmlns:a="http://schemas.openxmlformats.org/drawingml/2006/main">
              <a:ext uri="{FF2B5EF4-FFF2-40B4-BE49-F238E27FC236}">
                <a16:creationId xmlns:a16="http://schemas.microsoft.com/office/drawing/2014/main" id="{D27D0943-008A-4890-8232-E50FAE9B0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152775"/>
            <a:ext cx="10801350" cy="29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04" b="0">
                <a:solidFill>
                  <a:srgbClr val="262557"/>
                </a:solidFill>
                <a:latin typeface="Univers Condensed Light"/>
                <a:ea typeface="Univers Condensed Light"/>
                <a:cs typeface="Univers Condensed Light"/>
              </a:defRPr>
            </a:defPPr>
          </a:lstStyle>
          <a:p xmlns:a="http://schemas.openxmlformats.org/drawingml/2006/main">
            <a:pPr marL="228600" indent="-165100" algn="l">
              <a:spcAft>
                <a:spcPts val="1470"/>
              </a:spcAft>
              <a:buChar char="•"/>
              <a:defRPr sz="2004" b="0">
                <a:solidFill>
                  <a:srgbClr val="262557"/>
                </a:solidFill>
                <a:latin typeface="Univers Condensed Light"/>
                <a:ea typeface="Univers Condensed Light"/>
                <a:cs typeface="Univers Condensed Light"/>
              </a:defRPr>
            </a:pPr>
            <a:r>
              <a:rPr sz="2004">
                <a:solidFill>
                  <a:srgbClr val="262557"/>
                </a:solidFill>
                <a:latin typeface="Univers Condensed Light"/>
                <a:ea typeface="Univers Condensed Light"/>
                <a:cs typeface="Univers Condensed Light"/>
              </a:rPr>
              <a:t>Read source code from a text file.</a:t>
            </a:r>
          </a:p>
          <a:p xmlns:a="http://schemas.openxmlformats.org/drawingml/2006/main">
            <a:pPr marL="228600" indent="-165100" algn="l">
              <a:spcAft>
                <a:spcPts val="1470"/>
              </a:spcAft>
              <a:buChar char="•"/>
              <a:defRPr sz="2004" b="0">
                <a:solidFill>
                  <a:srgbClr val="262557"/>
                </a:solidFill>
                <a:latin typeface="Univers Condensed Light"/>
                <a:ea typeface="Univers Condensed Light"/>
                <a:cs typeface="Univers Condensed Light"/>
              </a:defRPr>
            </a:pPr>
            <a:r>
              <a:rPr sz="2004">
                <a:solidFill>
                  <a:srgbClr val="262557"/>
                </a:solidFill>
                <a:latin typeface="Univers Condensed Light"/>
                <a:ea typeface="Univers Condensed Light"/>
                <a:cs typeface="Univers Condensed Light"/>
              </a:rPr>
              <a:t>Recognize the language’s tokens.</a:t>
            </a:r>
          </a:p>
          <a:p xmlns:a="http://schemas.openxmlformats.org/drawingml/2006/main">
            <a:pPr marL="228600" indent="-165100" algn="l">
              <a:spcAft>
                <a:spcPts val="1470"/>
              </a:spcAft>
              <a:buChar char="•"/>
              <a:defRPr sz="2004" b="0">
                <a:solidFill>
                  <a:srgbClr val="262557"/>
                </a:solidFill>
                <a:latin typeface="Univers Condensed Light"/>
                <a:ea typeface="Univers Condensed Light"/>
                <a:cs typeface="Univers Condensed Light"/>
              </a:defRPr>
            </a:pPr>
            <a:r>
              <a:rPr sz="2004">
                <a:solidFill>
                  <a:srgbClr val="262557"/>
                </a:solidFill>
                <a:latin typeface="Univers Condensed Light"/>
                <a:ea typeface="Univers Condensed Light"/>
                <a:cs typeface="Univers Condensed Light"/>
              </a:rPr>
              <a:t>Track each token’s location.</a:t>
            </a:r>
          </a:p>
          <a:p xmlns:a="http://schemas.openxmlformats.org/drawingml/2006/main">
            <a:pPr marL="228600" indent="-165100" algn="l">
              <a:spcAft>
                <a:spcPts val="1470"/>
              </a:spcAft>
              <a:buChar char="•"/>
              <a:defRPr sz="2004" b="0">
                <a:solidFill>
                  <a:srgbClr val="262557"/>
                </a:solidFill>
                <a:latin typeface="Univers Condensed Light"/>
                <a:ea typeface="Univers Condensed Light"/>
                <a:cs typeface="Univers Condensed Light"/>
              </a:defRPr>
            </a:pPr>
            <a:r>
              <a:rPr sz="2004">
                <a:solidFill>
                  <a:srgbClr val="262557"/>
                </a:solidFill>
                <a:latin typeface="Univers Condensed Light"/>
                <a:ea typeface="Univers Condensed Light"/>
                <a:cs typeface="Univers Condensed Light"/>
              </a:rPr>
              <a:t>Skip whitespace and comments.</a:t>
            </a:r>
          </a:p>
          <a:p xmlns:a="http://schemas.openxmlformats.org/drawingml/2006/main">
            <a:pPr marL="228600" indent="-165100" algn="l">
              <a:spcAft>
                <a:spcPts val="1470"/>
              </a:spcAft>
              <a:buChar char="•"/>
              <a:defRPr sz="2004" b="0">
                <a:solidFill>
                  <a:srgbClr val="262557"/>
                </a:solidFill>
                <a:latin typeface="Univers Condensed Light"/>
                <a:ea typeface="Univers Condensed Light"/>
                <a:cs typeface="Univers Condensed Light"/>
              </a:defRPr>
            </a:pPr>
            <a:r>
              <a:rPr sz="2004">
                <a:solidFill>
                  <a:srgbClr val="262557"/>
                </a:solidFill>
                <a:latin typeface="Univers Condensed Light"/>
                <a:ea typeface="Univers Condensed Light"/>
                <a:cs typeface="Univers Condensed Light"/>
              </a:rPr>
              <a:t>Identify unrecognized characters.</a:t>
            </a:r>
          </a:p>
          <a:p xmlns:a="http://schemas.openxmlformats.org/drawingml/2006/main">
            <a:pPr marL="228600" indent="-165100" algn="l">
              <a:spcAft>
                <a:spcPts val="1470"/>
              </a:spcAft>
              <a:buChar char="•"/>
              <a:defRPr sz="2004" b="0">
                <a:solidFill>
                  <a:srgbClr val="262557"/>
                </a:solidFill>
                <a:latin typeface="Univers Condensed Light"/>
                <a:ea typeface="Univers Condensed Light"/>
                <a:cs typeface="Univers Condensed Light"/>
              </a:defRPr>
            </a:pPr>
            <a:r>
              <a:rPr sz="2004">
                <a:solidFill>
                  <a:srgbClr val="262557"/>
                </a:solidFill>
                <a:latin typeface="Univers Condensed Light"/>
                <a:ea typeface="Univers Condensed Light"/>
                <a:cs typeface="Univers Condensed Light"/>
              </a:rPr>
              <a:t>Present token information and explanatory lexical diagnostics.</a:t>
            </a:r>
          </a:p>
        </p:txBody>
      </p:sp>
    </p:spTree>
    <p:extLst>
      <p:ext uri="{BB962C8B-B14F-4D97-AF65-F5344CB8AC3E}">
        <p14:creationId xmlns:p14="http://schemas.microsoft.com/office/powerpoint/2010/main" val="62847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OVERVIEW">
            <a:extLst xmlns:a="http://schemas.openxmlformats.org/drawingml/2006/main">
              <a:ext uri="{FF2B5EF4-FFF2-40B4-BE49-F238E27FC236}">
                <a16:creationId xmlns:a16="http://schemas.microsoft.com/office/drawing/2014/main" id="{7CF24A05-841E-42A7-ABA6-8920C2274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639" y="760803"/>
            <a:ext cx="2429902" cy="699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404" b="0">
                <a:solidFill>
                  <a:srgbClr val="5AA2AE"/>
                </a:solidFill>
                <a:latin typeface="Oswald SemiBold"/>
                <a:ea typeface="Oswald SemiBold"/>
                <a:cs typeface="Oswald SemiBold"/>
              </a:defRPr>
            </a:defPPr>
          </a:lstStyle>
          <a:p xmlns:a="http://schemas.openxmlformats.org/drawingml/2006/main">
            <a:pPr algn="l">
              <a:buNone/>
              <a:defRPr sz="4404" b="0">
                <a:solidFill>
                  <a:srgbClr val="5AA2AE"/>
                </a:solidFill>
                <a:latin typeface="Oswald SemiBold"/>
                <a:ea typeface="Oswald SemiBold"/>
                <a:cs typeface="Oswald SemiBold"/>
              </a:defRPr>
            </a:pPr>
            <a:r>
              <a:rPr sz="4404" b="0">
                <a:solidFill>
                  <a:srgbClr val="5AA2AE"/>
                </a:solidFill>
                <a:latin typeface="Oswald SemiBold"/>
                <a:ea typeface="Oswald SemiBold"/>
                <a:cs typeface="Oswald SemiBold"/>
              </a:rPr>
              <a:t>OVERVIEW</a:t>
            </a:r>
          </a:p>
        </p:txBody>
      </p:sp>
      <p:sp>
        <p:nvSpPr>
          <p:cNvPr id="2" name="The project is a compiler front end">
            <a:extLst xmlns:a="http://schemas.openxmlformats.org/drawingml/2006/main">
              <a:ext uri="{FF2B5EF4-FFF2-40B4-BE49-F238E27FC236}">
                <a16:creationId xmlns:a16="http://schemas.microsoft.com/office/drawing/2014/main" id="{03722BC8-2A92-4F5C-96BB-AA6EACFD9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639" y="1934345"/>
            <a:ext cx="3299900" cy="318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4" b="0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defRPr>
            </a:defPPr>
          </a:lstStyle>
          <a:p xmlns:a="http://schemas.openxmlformats.org/drawingml/2006/main">
            <a:pPr algn="l">
              <a:buNone/>
              <a:defRPr sz="2004" b="0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defRPr>
            </a:pPr>
            <a:r>
              <a:rPr sz="2004" b="0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rPr>
              <a:t>The project is a compiler front end</a:t>
            </a:r>
          </a:p>
        </p:txBody>
      </p:sp>
      <p:sp>
        <p:nvSpPr>
          <p:cNvPr id="3" name="implemented in C++17. Its overall">
            <a:extLst xmlns:a="http://schemas.openxmlformats.org/drawingml/2006/main">
              <a:ext uri="{FF2B5EF4-FFF2-40B4-BE49-F238E27FC236}">
                <a16:creationId xmlns:a16="http://schemas.microsoft.com/office/drawing/2014/main" id="{4FF34848-B2AE-4B69-B9E0-A88A781F2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639" y="2300105"/>
            <a:ext cx="3232201" cy="318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4" b="0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defRPr>
            </a:defPPr>
          </a:lstStyle>
          <a:p xmlns:a="http://schemas.openxmlformats.org/drawingml/2006/main">
            <a:pPr algn="l">
              <a:buNone/>
              <a:defRPr sz="2004" b="0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defRPr>
            </a:pPr>
            <a:r>
              <a:rPr sz="2004" b="0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rPr>
              <a:t>implemented in C++17. Its overall</a:t>
            </a:r>
          </a:p>
        </p:txBody>
      </p:sp>
      <p:sp>
        <p:nvSpPr>
          <p:cNvPr id="4" name="purpose is to examine source code">
            <a:extLst xmlns:a="http://schemas.openxmlformats.org/drawingml/2006/main">
              <a:ext uri="{FF2B5EF4-FFF2-40B4-BE49-F238E27FC236}">
                <a16:creationId xmlns:a16="http://schemas.microsoft.com/office/drawing/2014/main" id="{83D6FCEF-838B-4A33-98D9-2F40288DF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639" y="2665865"/>
            <a:ext cx="3327896" cy="318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4" b="0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defRPr>
            </a:defPPr>
          </a:lstStyle>
          <a:p xmlns:a="http://schemas.openxmlformats.org/drawingml/2006/main">
            <a:pPr algn="l">
              <a:buNone/>
              <a:defRPr sz="2004" b="0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defRPr>
            </a:pPr>
            <a:r>
              <a:rPr sz="2004" b="0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rPr>
              <a:t>purpose is to examine source code</a:t>
            </a:r>
          </a:p>
        </p:txBody>
      </p:sp>
      <p:sp>
        <p:nvSpPr>
          <p:cNvPr id="5" name="and identify errors involving">
            <a:extLst xmlns:a="http://schemas.openxmlformats.org/drawingml/2006/main">
              <a:ext uri="{FF2B5EF4-FFF2-40B4-BE49-F238E27FC236}">
                <a16:creationId xmlns:a16="http://schemas.microsoft.com/office/drawing/2014/main" id="{4FC0AF7E-74F7-4138-AB42-6AE3B3AC0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639" y="3031625"/>
            <a:ext cx="2704894" cy="318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4" b="0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defRPr>
            </a:defPPr>
          </a:lstStyle>
          <a:p xmlns:a="http://schemas.openxmlformats.org/drawingml/2006/main">
            <a:pPr algn="l">
              <a:buNone/>
              <a:defRPr sz="2004" b="0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defRPr>
            </a:pPr>
            <a:r>
              <a:rPr sz="2004" b="0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rPr>
              <a:t>and identify errors involving</a:t>
            </a:r>
          </a:p>
        </p:txBody>
      </p:sp>
      <p:sp>
        <p:nvSpPr>
          <p:cNvPr id="6" name="declarations, variable scopes, types,">
            <a:extLst xmlns:a="http://schemas.openxmlformats.org/drawingml/2006/main">
              <a:ext uri="{FF2B5EF4-FFF2-40B4-BE49-F238E27FC236}">
                <a16:creationId xmlns:a16="http://schemas.microsoft.com/office/drawing/2014/main" id="{B1375FCB-C5A1-4489-A929-F85928137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639" y="3397085"/>
            <a:ext cx="3482039" cy="318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6" b="0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defRPr>
            </a:defPPr>
          </a:lstStyle>
          <a:p xmlns:a="http://schemas.openxmlformats.org/drawingml/2006/main">
            <a:pPr algn="l">
              <a:buNone/>
              <a:defRPr sz="2006" b="0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defRPr>
            </a:pPr>
            <a:r>
              <a:rPr sz="2006" b="0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rPr>
              <a:t>declarations, variable scopes, types,</a:t>
            </a:r>
          </a:p>
        </p:txBody>
      </p:sp>
      <p:sp>
        <p:nvSpPr>
          <p:cNvPr id="7" name="expressions, function calls, and return">
            <a:extLst xmlns:a="http://schemas.openxmlformats.org/drawingml/2006/main">
              <a:ext uri="{FF2B5EF4-FFF2-40B4-BE49-F238E27FC236}">
                <a16:creationId xmlns:a16="http://schemas.microsoft.com/office/drawing/2014/main" id="{169DD8D1-7D67-4FE1-8626-6B7A594CD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639" y="3763526"/>
            <a:ext cx="3637124" cy="318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4" b="0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defRPr>
            </a:defPPr>
          </a:lstStyle>
          <a:p xmlns:a="http://schemas.openxmlformats.org/drawingml/2006/main">
            <a:pPr algn="l">
              <a:buNone/>
              <a:defRPr sz="2004" b="0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defRPr>
            </a:pPr>
            <a:r>
              <a:rPr sz="2004" b="0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rPr>
              <a:t>expressions, function calls, and return</a:t>
            </a:r>
          </a:p>
        </p:txBody>
      </p:sp>
      <p:sp>
        <p:nvSpPr>
          <p:cNvPr id="8" name="values.">
            <a:extLst xmlns:a="http://schemas.openxmlformats.org/drawingml/2006/main">
              <a:ext uri="{FF2B5EF4-FFF2-40B4-BE49-F238E27FC236}">
                <a16:creationId xmlns:a16="http://schemas.microsoft.com/office/drawing/2014/main" id="{7071FA66-7245-4C96-86C4-18549BB5F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639" y="4129286"/>
            <a:ext cx="802413" cy="318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4" b="0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defRPr>
            </a:defPPr>
          </a:lstStyle>
          <a:p xmlns:a="http://schemas.openxmlformats.org/drawingml/2006/main">
            <a:pPr algn="l">
              <a:buNone/>
              <a:defRPr sz="2004" b="0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defRPr>
            </a:pPr>
            <a:r>
              <a:rPr sz="2004" b="0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rPr>
              <a:t>values.</a:t>
            </a:r>
          </a:p>
        </p:txBody>
      </p:sp>
      <p:sp>
        <p:nvSpPr>
          <p:cNvPr id="9" name="It currently demonstrates lexical analysis, w">
            <a:extLst xmlns:a="http://schemas.openxmlformats.org/drawingml/2006/main">
              <a:ext uri="{FF2B5EF4-FFF2-40B4-BE49-F238E27FC236}">
                <a16:creationId xmlns:a16="http://schemas.microsoft.com/office/drawing/2014/main" id="{38A3A7D0-E2D8-43A9-866B-3B48385D1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639" y="4794639"/>
            <a:ext cx="10095012" cy="318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4" b="0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defRPr>
            </a:defPPr>
          </a:lstStyle>
          <a:p xmlns:a="http://schemas.openxmlformats.org/drawingml/2006/main">
            <a:pPr algn="l">
              <a:buNone/>
              <a:defRPr sz="2004" b="0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defRPr>
            </a:pPr>
            <a:r>
              <a:rPr sz="2004" b="0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rPr>
              <a:t>It currently demonstrates lexical analysis, which converts source text into the tokens required by subsequent</a:t>
            </a:r>
          </a:p>
        </p:txBody>
      </p:sp>
      <p:sp>
        <p:nvSpPr>
          <p:cNvPr id="10" name="compiler stages.">
            <a:extLst xmlns:a="http://schemas.openxmlformats.org/drawingml/2006/main">
              <a:ext uri="{FF2B5EF4-FFF2-40B4-BE49-F238E27FC236}">
                <a16:creationId xmlns:a16="http://schemas.microsoft.com/office/drawing/2014/main" id="{EA7CA8F6-ECA8-4137-A3C5-403BA1F15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639" y="5160399"/>
            <a:ext cx="1663159" cy="318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4" b="0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defRPr>
            </a:defPPr>
          </a:lstStyle>
          <a:p xmlns:a="http://schemas.openxmlformats.org/drawingml/2006/main">
            <a:pPr algn="l">
              <a:buNone/>
              <a:defRPr sz="2004" b="0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defRPr>
            </a:pPr>
            <a:r>
              <a:rPr sz="2004" b="0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rPr>
              <a:t>compiler stages.</a:t>
            </a:r>
          </a:p>
        </p:txBody>
      </p:sp>
      <p:pic>
        <p:nvPicPr>
          <p:cNvPr id="11" name="Picture 10">
            <a:extLst xmlns:a="http://schemas.openxmlformats.org/drawingml/2006/main">
              <a:ext uri="{FF2B5EF4-FFF2-40B4-BE49-F238E27FC236}">
                <a16:creationId xmlns:a16="http://schemas.microsoft.com/office/drawing/2014/main" id="{4F7C2DF6-DA8D-4CE5-B94B-A31E5BFF77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1717d2f3a54e19"/>
          <a:stretch xmlns:a="http://schemas.openxmlformats.org/drawingml/2006/main"/>
        </p:blipFill>
        <p:spPr>
          <a:xfrm xmlns:a="http://schemas.openxmlformats.org/drawingml/2006/main">
            <a:off x="4731893" y="977796"/>
            <a:ext cx="6852285" cy="3601166"/>
          </a:xfrm>
          <a:prstGeom xmlns:a="http://schemas.openxmlformats.org/drawingml/2006/main" prst="rect">
            <a:avLst/>
          </a:prstGeom>
        </p:spPr>
      </p:pic>
      <p:sp>
        <p:nvSpPr>
          <p:cNvPr id="12" name="Template footer rule">
            <a:extLst xmlns:a="http://schemas.openxmlformats.org/drawingml/2006/main">
              <a:ext uri="{FF2B5EF4-FFF2-40B4-BE49-F238E27FC236}">
                <a16:creationId xmlns:a16="http://schemas.microsoft.com/office/drawing/2014/main" id="{F5198858-561E-4BF2-BF79-828ABE73E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8" y="6215063"/>
            <a:ext cx="10802303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66A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6274223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 title">
            <a:extLst xmlns:a="http://schemas.openxmlformats.org/drawingml/2006/main">
              <a:ext uri="{FF2B5EF4-FFF2-40B4-BE49-F238E27FC236}">
                <a16:creationId xmlns:a16="http://schemas.microsoft.com/office/drawing/2014/main" id="{3ED7183B-FCB4-402E-B0C7-8ADEC114A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752475"/>
            <a:ext cx="1081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404" b="0">
                <a:solidFill>
                  <a:srgbClr val="5AA2AE"/>
                </a:solidFill>
                <a:latin typeface="Oswald SemiBold"/>
                <a:ea typeface="Oswald SemiBold"/>
                <a:cs typeface="Oswald SemiBold"/>
              </a:defRPr>
            </a:defPPr>
          </a:lstStyle>
          <a:p xmlns:a="http://schemas.openxmlformats.org/drawingml/2006/main">
            <a:pPr algn="l">
              <a:buNone/>
              <a:defRPr sz="4404" b="0">
                <a:solidFill>
                  <a:srgbClr val="5AA2AE"/>
                </a:solidFill>
                <a:latin typeface="Oswald SemiBold"/>
                <a:ea typeface="Oswald SemiBold"/>
                <a:cs typeface="Oswald SemiBold"/>
              </a:defRPr>
            </a:pPr>
            <a:r>
              <a:rPr sz="4404" b="0">
                <a:solidFill>
                  <a:srgbClr val="5AA2AE"/>
                </a:solidFill>
                <a:latin typeface="Oswald SemiBold"/>
                <a:ea typeface="Oswald SemiBold"/>
                <a:cs typeface="Oswald SemiBold"/>
              </a:rPr>
              <a:t>PROJECT ARCHITECTURE</a:t>
            </a:r>
          </a:p>
        </p:txBody>
      </p:sp>
      <p:sp>
        <p:nvSpPr>
          <p:cNvPr id="2" name="Template footer rule">
            <a:extLst xmlns:a="http://schemas.openxmlformats.org/drawingml/2006/main">
              <a:ext uri="{FF2B5EF4-FFF2-40B4-BE49-F238E27FC236}">
                <a16:creationId xmlns:a16="http://schemas.microsoft.com/office/drawing/2014/main" id="{38F0B777-B2BD-4A07-9D5E-0E7C6D170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8" y="6215063"/>
            <a:ext cx="10802303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66A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graphicFrame>
        <p:nvGraphicFramePr>
          <p:cNvPr id="3" name="Table 2">
            <a:extLst xmlns:a="http://schemas.openxmlformats.org/drawingml/2006/main">
              <a:ext uri="{FF2B5EF4-FFF2-40B4-BE49-F238E27FC236}">
                <a16:creationId xmlns:a16="http://schemas.microsoft.com/office/drawing/2014/main" id="{64B4A4ED-15BC-4B27-B757-9F1B4177CE6D}"/>
              </a:ext>
            </a:extLst>
          </p:cNvPr>
          <p:cNvGraphicFramePr/>
          <p:nvPr/>
        </p:nvGraphicFramePr>
        <p:xfrm>
          <a:off xmlns:a="http://schemas.openxmlformats.org/drawingml/2006/main" x="504190" y="1592580"/>
          <a:ext xmlns:a="http://schemas.openxmlformats.org/drawingml/2006/main" cx="6362700" cy="446151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16430"/>
                <a:gridCol w="4446270"/>
              </a:tblGrid>
              <a:tr h="54483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Univers Condensed Light"/>
                          <a:ea typeface="Univers Condensed Light"/>
                          <a:cs typeface="Univers Condensed Light"/>
                        </a:rPr>
                        <a:t>Component</a:t>
                      </a:r>
                    </a:p>
                  </a:txBody>
                  <a:tcPr marL="91440" marR="91440" marT="45720" marB="45720" anchor="ctr">
                    <a:lnL w="12383">
                      <a:solidFill>
                        <a:srgbClr val="FFFFFF"/>
                      </a:solidFill>
                      <a:prstDash val="solid"/>
                    </a:lnL>
                    <a:lnR w="12383">
                      <a:solidFill>
                        <a:srgbClr val="FFFFFF"/>
                      </a:solidFill>
                      <a:prstDash val="solid"/>
                    </a:lnR>
                    <a:lnT w="12383">
                      <a:solidFill>
                        <a:srgbClr val="FFFFFF"/>
                      </a:solidFill>
                      <a:prstDash val="solid"/>
                    </a:lnT>
                    <a:lnB w="12383">
                      <a:solidFill>
                        <a:srgbClr val="FFFFFF"/>
                      </a:solidFill>
                      <a:prstDash val="solid"/>
                    </a:lnB>
                    <a:solidFill>
                      <a:srgbClr val="4A66A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96" b="1">
                          <a:solidFill>
                            <a:srgbClr val="FFFFFF"/>
                          </a:solidFill>
                          <a:latin typeface="Univers Condensed Light"/>
                          <a:ea typeface="Univers Condensed Light"/>
                          <a:cs typeface="Univers Condensed Light"/>
                        </a:rPr>
                        <a:t>Use:</a:t>
                      </a:r>
                    </a:p>
                  </a:txBody>
                  <a:tcPr marL="91440" marR="91440" marT="45720" marB="45720" anchor="ctr">
                    <a:lnL w="12383" cmpd="sng">
                      <a:solidFill>
                        <a:srgbClr val="FFFFFF"/>
                      </a:solidFill>
                      <a:prstDash val="solid"/>
                    </a:lnL>
                    <a:lnR w="12383">
                      <a:solidFill>
                        <a:srgbClr val="FFFFFF"/>
                      </a:solidFill>
                      <a:prstDash val="solid"/>
                    </a:lnR>
                    <a:lnT w="12383">
                      <a:solidFill>
                        <a:srgbClr val="FFFFFF"/>
                      </a:solidFill>
                      <a:prstDash val="solid"/>
                    </a:lnT>
                    <a:lnB w="12383">
                      <a:solidFill>
                        <a:srgbClr val="FFFFFF"/>
                      </a:solidFill>
                      <a:prstDash val="solid"/>
                    </a:lnB>
                    <a:solidFill>
                      <a:srgbClr val="4A66AC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96" b="0">
                          <a:solidFill>
                            <a:srgbClr val="000000"/>
                          </a:solidFill>
                          <a:latin typeface="Univers Condensed Light"/>
                          <a:ea typeface="Univers Condensed Light"/>
                          <a:cs typeface="Univers Condensed Light"/>
                        </a:rPr>
                        <a:t>src/Token.hpp</a:t>
                      </a:r>
                    </a:p>
                  </a:txBody>
                  <a:tcPr marL="91440" marR="91440" marT="45720" marB="45720" anchor="ctr">
                    <a:lnL w="12383">
                      <a:solidFill>
                        <a:srgbClr val="FFFFFF"/>
                      </a:solidFill>
                      <a:prstDash val="solid"/>
                    </a:lnL>
                    <a:lnR w="12383">
                      <a:solidFill>
                        <a:srgbClr val="FFFFFF"/>
                      </a:solidFill>
                      <a:prstDash val="solid"/>
                    </a:lnR>
                    <a:lnT w="12383" cmpd="sng">
                      <a:solidFill>
                        <a:srgbClr val="FFFFFF"/>
                      </a:solidFill>
                      <a:prstDash val="solid"/>
                    </a:lnT>
                    <a:lnB w="12383">
                      <a:solidFill>
                        <a:srgbClr val="FFFFFF"/>
                      </a:solidFill>
                      <a:prstDash val="solid"/>
                    </a:lnB>
                    <a:solidFill>
                      <a:srgbClr val="D0D3E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96" b="0">
                          <a:solidFill>
                            <a:srgbClr val="000000"/>
                          </a:solidFill>
                          <a:latin typeface="Univers Condensed Light"/>
                          <a:ea typeface="Univers Condensed Light"/>
                          <a:cs typeface="Univers Condensed Light"/>
                        </a:rPr>
                        <a:t>Defines token categories and stores each token’s text, line, and column.</a:t>
                      </a:r>
                    </a:p>
                  </a:txBody>
                  <a:tcPr marL="91440" marR="91440" marT="45720" marB="45720" anchor="ctr">
                    <a:lnL w="12383" cmpd="sng">
                      <a:solidFill>
                        <a:srgbClr val="FFFFFF"/>
                      </a:solidFill>
                      <a:prstDash val="solid"/>
                    </a:lnL>
                    <a:lnR w="12383">
                      <a:solidFill>
                        <a:srgbClr val="FFFFFF"/>
                      </a:solidFill>
                      <a:prstDash val="solid"/>
                    </a:lnR>
                    <a:lnT w="12383" cmpd="sng">
                      <a:solidFill>
                        <a:srgbClr val="FFFFFF"/>
                      </a:solidFill>
                      <a:prstDash val="solid"/>
                    </a:lnT>
                    <a:lnB w="12383">
                      <a:solidFill>
                        <a:srgbClr val="FFFFFF"/>
                      </a:solidFill>
                      <a:prstDash val="solid"/>
                    </a:lnB>
                    <a:solidFill>
                      <a:srgbClr val="D0D3E3"/>
                    </a:solidFill>
                  </a:tcPr>
                </a:tc>
              </a:tr>
              <a:tr h="54483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96" b="0">
                          <a:solidFill>
                            <a:srgbClr val="000000"/>
                          </a:solidFill>
                          <a:latin typeface="Univers Condensed Light"/>
                          <a:ea typeface="Univers Condensed Light"/>
                          <a:cs typeface="Univers Condensed Light"/>
                        </a:rPr>
                        <a:t>src/Lexer.hpp</a:t>
                      </a:r>
                    </a:p>
                  </a:txBody>
                  <a:tcPr marL="91440" marR="91440" marT="45720" marB="45720" anchor="ctr">
                    <a:lnL w="12383">
                      <a:solidFill>
                        <a:srgbClr val="FFFFFF"/>
                      </a:solidFill>
                      <a:prstDash val="solid"/>
                    </a:lnL>
                    <a:lnR w="12383">
                      <a:solidFill>
                        <a:srgbClr val="FFFFFF"/>
                      </a:solidFill>
                      <a:prstDash val="solid"/>
                    </a:lnR>
                    <a:lnT w="12383" cmpd="sng">
                      <a:solidFill>
                        <a:srgbClr val="FFFFFF"/>
                      </a:solidFill>
                      <a:prstDash val="solid"/>
                    </a:lnT>
                    <a:lnB w="12383">
                      <a:solidFill>
                        <a:srgbClr val="FFFFFF"/>
                      </a:solidFill>
                      <a:prstDash val="solid"/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96" b="0">
                          <a:solidFill>
                            <a:srgbClr val="000000"/>
                          </a:solidFill>
                          <a:latin typeface="Univers Condensed Light"/>
                          <a:ea typeface="Univers Condensed Light"/>
                          <a:cs typeface="Univers Condensed Light"/>
                        </a:rPr>
                        <a:t>Declares the lexer’s interface and scanning state.</a:t>
                      </a:r>
                    </a:p>
                  </a:txBody>
                  <a:tcPr marL="91440" marR="91440" marT="45720" marB="45720" anchor="ctr">
                    <a:lnL w="12383" cmpd="sng">
                      <a:solidFill>
                        <a:srgbClr val="FFFFFF"/>
                      </a:solidFill>
                      <a:prstDash val="solid"/>
                    </a:lnL>
                    <a:lnR w="12383">
                      <a:solidFill>
                        <a:srgbClr val="FFFFFF"/>
                      </a:solidFill>
                      <a:prstDash val="solid"/>
                    </a:lnR>
                    <a:lnT w="12383" cmpd="sng">
                      <a:solidFill>
                        <a:srgbClr val="FFFFFF"/>
                      </a:solidFill>
                      <a:prstDash val="solid"/>
                    </a:lnT>
                    <a:lnB w="12383">
                      <a:solidFill>
                        <a:srgbClr val="FFFFFF"/>
                      </a:solidFill>
                      <a:prstDash val="solid"/>
                    </a:lnB>
                    <a:solidFill>
                      <a:srgbClr val="E9EAF1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96" b="0">
                          <a:solidFill>
                            <a:srgbClr val="000000"/>
                          </a:solidFill>
                          <a:latin typeface="Univers Condensed Light"/>
                          <a:ea typeface="Univers Condensed Light"/>
                          <a:cs typeface="Univers Condensed Light"/>
                        </a:rPr>
                        <a:t>src/Lexer.cpp</a:t>
                      </a:r>
                    </a:p>
                  </a:txBody>
                  <a:tcPr marL="91440" marR="91440" marT="45720" marB="45720" anchor="ctr">
                    <a:lnL w="12383">
                      <a:solidFill>
                        <a:srgbClr val="FFFFFF"/>
                      </a:solidFill>
                      <a:prstDash val="solid"/>
                    </a:lnL>
                    <a:lnR w="12383">
                      <a:solidFill>
                        <a:srgbClr val="FFFFFF"/>
                      </a:solidFill>
                      <a:prstDash val="solid"/>
                    </a:lnR>
                    <a:lnT w="12383" cmpd="sng">
                      <a:solidFill>
                        <a:srgbClr val="FFFFFF"/>
                      </a:solidFill>
                      <a:prstDash val="solid"/>
                    </a:lnT>
                    <a:lnB w="12383">
                      <a:solidFill>
                        <a:srgbClr val="FFFFFF"/>
                      </a:solidFill>
                      <a:prstDash val="solid"/>
                    </a:lnB>
                    <a:solidFill>
                      <a:srgbClr val="D0D3E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96" b="0">
                          <a:solidFill>
                            <a:srgbClr val="000000"/>
                          </a:solidFill>
                          <a:latin typeface="Univers Condensed Light"/>
                          <a:ea typeface="Univers Condensed Light"/>
                          <a:cs typeface="Univers Condensed Light"/>
                        </a:rPr>
                        <a:t>Implements token recognition, comment skipping, and position tracking.</a:t>
                      </a:r>
                    </a:p>
                  </a:txBody>
                  <a:tcPr marL="91440" marR="91440" marT="45720" marB="45720" anchor="ctr">
                    <a:lnL w="12383" cmpd="sng">
                      <a:solidFill>
                        <a:srgbClr val="FFFFFF"/>
                      </a:solidFill>
                      <a:prstDash val="solid"/>
                    </a:lnL>
                    <a:lnR w="12383">
                      <a:solidFill>
                        <a:srgbClr val="FFFFFF"/>
                      </a:solidFill>
                      <a:prstDash val="solid"/>
                    </a:lnR>
                    <a:lnT w="12383" cmpd="sng">
                      <a:solidFill>
                        <a:srgbClr val="FFFFFF"/>
                      </a:solidFill>
                      <a:prstDash val="solid"/>
                    </a:lnT>
                    <a:lnB w="12383">
                      <a:solidFill>
                        <a:srgbClr val="FFFFFF"/>
                      </a:solidFill>
                      <a:prstDash val="solid"/>
                    </a:lnB>
                    <a:solidFill>
                      <a:srgbClr val="D0D3E3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96" b="0">
                          <a:solidFill>
                            <a:srgbClr val="000000"/>
                          </a:solidFill>
                          <a:latin typeface="Univers Condensed Light"/>
                          <a:ea typeface="Univers Condensed Light"/>
                          <a:cs typeface="Univers Condensed Light"/>
                        </a:rPr>
                        <a:t>src/main_1.cpp</a:t>
                      </a:r>
                    </a:p>
                  </a:txBody>
                  <a:tcPr marL="91440" marR="91440" marT="45720" marB="45720" anchor="ctr">
                    <a:lnL w="12383">
                      <a:solidFill>
                        <a:srgbClr val="FFFFFF"/>
                      </a:solidFill>
                      <a:prstDash val="solid"/>
                    </a:lnL>
                    <a:lnR w="12383">
                      <a:solidFill>
                        <a:srgbClr val="FFFFFF"/>
                      </a:solidFill>
                      <a:prstDash val="solid"/>
                    </a:lnR>
                    <a:lnT w="12383" cmpd="sng">
                      <a:solidFill>
                        <a:srgbClr val="FFFFFF"/>
                      </a:solidFill>
                      <a:prstDash val="solid"/>
                    </a:lnT>
                    <a:lnB w="12383">
                      <a:solidFill>
                        <a:srgbClr val="FFFFFF"/>
                      </a:solidFill>
                      <a:prstDash val="solid"/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96" b="0">
                          <a:solidFill>
                            <a:srgbClr val="000000"/>
                          </a:solidFill>
                          <a:latin typeface="Univers Condensed Light"/>
                          <a:ea typeface="Univers Condensed Light"/>
                          <a:cs typeface="Univers Condensed Light"/>
                        </a:rPr>
                        <a:t>Reads the source file, invokes the lexer, and displays results and diagnostics.</a:t>
                      </a:r>
                    </a:p>
                  </a:txBody>
                  <a:tcPr marL="91440" marR="91440" marT="45720" marB="45720" anchor="ctr">
                    <a:lnL w="12383" cmpd="sng">
                      <a:solidFill>
                        <a:srgbClr val="FFFFFF"/>
                      </a:solidFill>
                      <a:prstDash val="solid"/>
                    </a:lnL>
                    <a:lnR w="12383">
                      <a:solidFill>
                        <a:srgbClr val="FFFFFF"/>
                      </a:solidFill>
                      <a:prstDash val="solid"/>
                    </a:lnR>
                    <a:lnT w="12383" cmpd="sng">
                      <a:solidFill>
                        <a:srgbClr val="FFFFFF"/>
                      </a:solidFill>
                      <a:prstDash val="solid"/>
                    </a:lnT>
                    <a:lnB w="12383">
                      <a:solidFill>
                        <a:srgbClr val="FFFFFF"/>
                      </a:solidFill>
                      <a:prstDash val="solid"/>
                    </a:lnB>
                    <a:solidFill>
                      <a:srgbClr val="E9EAF1"/>
                    </a:solidFill>
                  </a:tcPr>
                </a:tc>
              </a:tr>
              <a:tr h="54483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96" b="0">
                          <a:solidFill>
                            <a:srgbClr val="000000"/>
                          </a:solidFill>
                          <a:latin typeface="Univers Condensed Light"/>
                          <a:ea typeface="Univers Condensed Light"/>
                          <a:cs typeface="Univers Condensed Light"/>
                        </a:rPr>
                        <a:t>tests/review_1_tests/</a:t>
                      </a:r>
                    </a:p>
                  </a:txBody>
                  <a:tcPr marL="91440" marR="91440" marT="45720" marB="45720" anchor="ctr">
                    <a:lnL w="12383">
                      <a:solidFill>
                        <a:srgbClr val="FFFFFF"/>
                      </a:solidFill>
                      <a:prstDash val="solid"/>
                    </a:lnL>
                    <a:lnR w="12383">
                      <a:solidFill>
                        <a:srgbClr val="FFFFFF"/>
                      </a:solidFill>
                      <a:prstDash val="solid"/>
                    </a:lnR>
                    <a:lnT w="12383" cmpd="sng">
                      <a:solidFill>
                        <a:srgbClr val="FFFFFF"/>
                      </a:solidFill>
                      <a:prstDash val="solid"/>
                    </a:lnT>
                    <a:lnB w="12383">
                      <a:solidFill>
                        <a:srgbClr val="FFFFFF"/>
                      </a:solidFill>
                      <a:prstDash val="solid"/>
                    </a:lnB>
                    <a:solidFill>
                      <a:srgbClr val="D0D3E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96" b="0">
                          <a:solidFill>
                            <a:srgbClr val="000000"/>
                          </a:solidFill>
                          <a:latin typeface="Univers Condensed Light"/>
                          <a:ea typeface="Univers Condensed Light"/>
                          <a:cs typeface="Univers Condensed Light"/>
                        </a:rPr>
                        <a:t>Contains the three demonstration inputs.</a:t>
                      </a:r>
                    </a:p>
                  </a:txBody>
                  <a:tcPr marL="91440" marR="91440" marT="45720" marB="45720" anchor="ctr">
                    <a:lnL w="12383" cmpd="sng">
                      <a:solidFill>
                        <a:srgbClr val="FFFFFF"/>
                      </a:solidFill>
                      <a:prstDash val="solid"/>
                    </a:lnL>
                    <a:lnR w="12383">
                      <a:solidFill>
                        <a:srgbClr val="FFFFFF"/>
                      </a:solidFill>
                      <a:prstDash val="solid"/>
                    </a:lnR>
                    <a:lnT w="12383" cmpd="sng">
                      <a:solidFill>
                        <a:srgbClr val="FFFFFF"/>
                      </a:solidFill>
                      <a:prstDash val="solid"/>
                    </a:lnT>
                    <a:lnB w="12383">
                      <a:solidFill>
                        <a:srgbClr val="FFFFFF"/>
                      </a:solidFill>
                      <a:prstDash val="solid"/>
                    </a:lnB>
                    <a:solidFill>
                      <a:srgbClr val="D0D3E3"/>
                    </a:solidFill>
                  </a:tcPr>
                </a:tc>
              </a:tr>
              <a:tr h="54483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96" b="0">
                          <a:solidFill>
                            <a:srgbClr val="000000"/>
                          </a:solidFill>
                          <a:latin typeface="Univers Condensed Light"/>
                          <a:ea typeface="Univers Condensed Light"/>
                          <a:cs typeface="Univers Condensed Light"/>
                        </a:rPr>
                        <a:t>scripts/build.ps1</a:t>
                      </a:r>
                    </a:p>
                  </a:txBody>
                  <a:tcPr marL="91440" marR="91440" marT="45720" marB="45720" anchor="ctr">
                    <a:lnL w="12383">
                      <a:solidFill>
                        <a:srgbClr val="FFFFFF"/>
                      </a:solidFill>
                      <a:prstDash val="solid"/>
                    </a:lnL>
                    <a:lnR w="12383">
                      <a:solidFill>
                        <a:srgbClr val="FFFFFF"/>
                      </a:solidFill>
                      <a:prstDash val="solid"/>
                    </a:lnR>
                    <a:lnT w="12383" cmpd="sng">
                      <a:solidFill>
                        <a:srgbClr val="FFFFFF"/>
                      </a:solidFill>
                      <a:prstDash val="solid"/>
                    </a:lnT>
                    <a:lnB w="12383">
                      <a:solidFill>
                        <a:srgbClr val="FFFFFF"/>
                      </a:solidFill>
                      <a:prstDash val="solid"/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96" b="0">
                          <a:solidFill>
                            <a:srgbClr val="000000"/>
                          </a:solidFill>
                          <a:latin typeface="Univers Condensed Light"/>
                          <a:ea typeface="Univers Condensed Light"/>
                          <a:cs typeface="Univers Condensed Light"/>
                        </a:rPr>
                        <a:t>Builds the three milestone executables.</a:t>
                      </a:r>
                    </a:p>
                  </a:txBody>
                  <a:tcPr marL="91440" marR="91440" marT="45720" marB="45720" anchor="ctr">
                    <a:lnL w="12383" cmpd="sng">
                      <a:solidFill>
                        <a:srgbClr val="FFFFFF"/>
                      </a:solidFill>
                      <a:prstDash val="solid"/>
                    </a:lnL>
                    <a:lnR w="12383">
                      <a:solidFill>
                        <a:srgbClr val="FFFFFF"/>
                      </a:solidFill>
                      <a:prstDash val="solid"/>
                    </a:lnR>
                    <a:lnT w="12383" cmpd="sng">
                      <a:solidFill>
                        <a:srgbClr val="FFFFFF"/>
                      </a:solidFill>
                      <a:prstDash val="solid"/>
                    </a:lnT>
                    <a:lnB w="12383">
                      <a:solidFill>
                        <a:srgbClr val="FFFFFF"/>
                      </a:solidFill>
                      <a:prstDash val="solid"/>
                    </a:lnB>
                    <a:solidFill>
                      <a:srgbClr val="E9EAF1"/>
                    </a:solidFill>
                  </a:tcPr>
                </a:tc>
              </a:tr>
              <a:tr h="54483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96" b="0">
                          <a:solidFill>
                            <a:srgbClr val="000000"/>
                          </a:solidFill>
                          <a:latin typeface="Univers Condensed Light"/>
                          <a:ea typeface="Univers Condensed Light"/>
                          <a:cs typeface="Univers Condensed Light"/>
                        </a:rPr>
                        <a:t>build/review_1.exe</a:t>
                      </a:r>
                    </a:p>
                  </a:txBody>
                  <a:tcPr marL="91440" marR="91440" marT="45720" marB="45720" anchor="ctr">
                    <a:lnL w="12383">
                      <a:solidFill>
                        <a:srgbClr val="FFFFFF"/>
                      </a:solidFill>
                      <a:prstDash val="solid"/>
                    </a:lnL>
                    <a:lnR w="12383">
                      <a:solidFill>
                        <a:srgbClr val="FFFFFF"/>
                      </a:solidFill>
                      <a:prstDash val="solid"/>
                    </a:lnR>
                    <a:lnT w="12383" cmpd="sng">
                      <a:solidFill>
                        <a:srgbClr val="FFFFFF"/>
                      </a:solidFill>
                      <a:prstDash val="solid"/>
                    </a:lnT>
                    <a:lnB w="12383">
                      <a:solidFill>
                        <a:srgbClr val="FFFFFF"/>
                      </a:solidFill>
                      <a:prstDash val="solid"/>
                    </a:lnB>
                    <a:solidFill>
                      <a:srgbClr val="D0D3E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96" b="0">
                          <a:solidFill>
                            <a:srgbClr val="000000"/>
                          </a:solidFill>
                          <a:latin typeface="Univers Condensed Light"/>
                          <a:ea typeface="Univers Condensed Light"/>
                          <a:cs typeface="Univers Condensed Light"/>
                        </a:rPr>
                        <a:t>The compiled program that accepts a source-file path.</a:t>
                      </a:r>
                    </a:p>
                  </a:txBody>
                  <a:tcPr marL="91440" marR="91440" marT="45720" marB="45720" anchor="ctr">
                    <a:lnL w="12383" cmpd="sng">
                      <a:solidFill>
                        <a:srgbClr val="FFFFFF"/>
                      </a:solidFill>
                      <a:prstDash val="solid"/>
                    </a:lnL>
                    <a:lnR w="12383">
                      <a:solidFill>
                        <a:srgbClr val="FFFFFF"/>
                      </a:solidFill>
                      <a:prstDash val="solid"/>
                    </a:lnR>
                    <a:lnT w="12383" cmpd="sng">
                      <a:solidFill>
                        <a:srgbClr val="FFFFFF"/>
                      </a:solidFill>
                      <a:prstDash val="solid"/>
                    </a:lnT>
                    <a:lnB w="12383">
                      <a:solidFill>
                        <a:srgbClr val="FFFFFF"/>
                      </a:solidFill>
                      <a:prstDash val="solid"/>
                    </a:lnB>
                    <a:solidFill>
                      <a:srgbClr val="D0D3E3"/>
                    </a:solidFill>
                  </a:tcPr>
                </a:tc>
              </a:tr>
            </a:tbl>
          </a:graphicData>
        </a:graphic>
      </p:graphicFrame>
      <p:sp>
        <p:nvSpPr>
          <p:cNvPr id="4" name="semantic-analyzer/">
            <a:extLst xmlns:a="http://schemas.openxmlformats.org/drawingml/2006/main">
              <a:ext uri="{FF2B5EF4-FFF2-40B4-BE49-F238E27FC236}">
                <a16:creationId xmlns:a16="http://schemas.microsoft.com/office/drawing/2014/main" id="{938323D1-6D51-418A-9282-60CF61EDA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0057" y="1657753"/>
            <a:ext cx="1550831" cy="2537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8" b="0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defRPr>
            </a:defPPr>
          </a:lstStyle>
          <a:p xmlns:a="http://schemas.openxmlformats.org/drawingml/2006/main">
            <a:pPr algn="l">
              <a:buNone/>
              <a:defRPr sz="1598" b="0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defRPr>
            </a:pPr>
            <a:r>
              <a:rPr sz="1598" b="0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rPr>
              <a:t>semantic-analyzer/</a:t>
            </a:r>
          </a:p>
        </p:txBody>
      </p:sp>
      <p:sp>
        <p:nvSpPr>
          <p:cNvPr id="5" name="+ src/">
            <a:extLst xmlns:a="http://schemas.openxmlformats.org/drawingml/2006/main">
              <a:ext uri="{FF2B5EF4-FFF2-40B4-BE49-F238E27FC236}">
                <a16:creationId xmlns:a16="http://schemas.microsoft.com/office/drawing/2014/main" id="{C8094F23-DC36-4163-B0CF-B43C629EB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0057" y="2077407"/>
            <a:ext cx="663380" cy="253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6" b="0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defRPr>
            </a:defPPr>
          </a:lstStyle>
          <a:p xmlns:a="http://schemas.openxmlformats.org/drawingml/2006/main">
            <a:pPr algn="l">
              <a:buNone/>
              <a:defRPr sz="1596" b="0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defRPr>
            </a:pPr>
            <a:r>
              <a:rPr sz="1596" b="0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rPr>
              <a:t>+ src/</a:t>
            </a:r>
          </a:p>
        </p:txBody>
      </p:sp>
      <p:sp>
        <p:nvSpPr>
          <p:cNvPr id="6" name="+ Token.hpp">
            <a:extLst xmlns:a="http://schemas.openxmlformats.org/drawingml/2006/main">
              <a:ext uri="{FF2B5EF4-FFF2-40B4-BE49-F238E27FC236}">
                <a16:creationId xmlns:a16="http://schemas.microsoft.com/office/drawing/2014/main" id="{AE47B893-5C3E-4983-9D80-63CD5ABA7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7257" y="2434023"/>
            <a:ext cx="1135420" cy="253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6" b="0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defRPr>
            </a:defPPr>
          </a:lstStyle>
          <a:p xmlns:a="http://schemas.openxmlformats.org/drawingml/2006/main">
            <a:pPr algn="l">
              <a:buNone/>
              <a:defRPr sz="1596" b="0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defRPr>
            </a:pPr>
            <a:r>
              <a:rPr sz="1596" b="0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rPr>
              <a:t>+ Token.hpp</a:t>
            </a:r>
          </a:p>
        </p:txBody>
      </p:sp>
      <p:sp>
        <p:nvSpPr>
          <p:cNvPr id="7" name="+ Lexer.hpp">
            <a:extLst xmlns:a="http://schemas.openxmlformats.org/drawingml/2006/main">
              <a:ext uri="{FF2B5EF4-FFF2-40B4-BE49-F238E27FC236}">
                <a16:creationId xmlns:a16="http://schemas.microsoft.com/office/drawing/2014/main" id="{20A8E8F3-204A-494B-AA36-2EAF7F93B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7257" y="2790639"/>
            <a:ext cx="1091030" cy="253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6" b="0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defRPr>
            </a:defPPr>
          </a:lstStyle>
          <a:p xmlns:a="http://schemas.openxmlformats.org/drawingml/2006/main">
            <a:pPr algn="l">
              <a:buNone/>
              <a:defRPr sz="1596" b="0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defRPr>
            </a:pPr>
            <a:r>
              <a:rPr sz="1596" b="0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rPr>
              <a:t>+ Lexer.hpp</a:t>
            </a:r>
          </a:p>
        </p:txBody>
      </p:sp>
      <p:sp>
        <p:nvSpPr>
          <p:cNvPr id="8" name="+ Lexer.cpp">
            <a:extLst xmlns:a="http://schemas.openxmlformats.org/drawingml/2006/main">
              <a:ext uri="{FF2B5EF4-FFF2-40B4-BE49-F238E27FC236}">
                <a16:creationId xmlns:a16="http://schemas.microsoft.com/office/drawing/2014/main" id="{E545E5A4-BDE6-4993-BA7C-A9C8E7725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7257" y="3145431"/>
            <a:ext cx="1080527" cy="2537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8" b="0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defRPr>
            </a:defPPr>
          </a:lstStyle>
          <a:p xmlns:a="http://schemas.openxmlformats.org/drawingml/2006/main">
            <a:pPr algn="l">
              <a:buNone/>
              <a:defRPr sz="1598" b="0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defRPr>
            </a:pPr>
            <a:r>
              <a:rPr sz="1598" b="0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rPr>
              <a:t>+ Lexer.cpp</a:t>
            </a:r>
          </a:p>
        </p:txBody>
      </p:sp>
      <p:sp>
        <p:nvSpPr>
          <p:cNvPr id="9" name="+ main.cpp">
            <a:extLst xmlns:a="http://schemas.openxmlformats.org/drawingml/2006/main">
              <a:ext uri="{FF2B5EF4-FFF2-40B4-BE49-F238E27FC236}">
                <a16:creationId xmlns:a16="http://schemas.microsoft.com/office/drawing/2014/main" id="{1FF111F1-994E-42B9-A8E5-48500356C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7257" y="3502601"/>
            <a:ext cx="3810000" cy="253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6" b="0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defRPr>
            </a:defPPr>
          </a:lstStyle>
          <a:p xmlns:a="http://schemas.openxmlformats.org/drawingml/2006/main">
            <a:pPr algn="l">
              <a:buNone/>
              <a:defRPr sz="1596" b="0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defRPr>
            </a:pPr>
            <a:r>
              <a:rPr sz="1596" b="0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rPr>
              <a:t>+ main_1.cpp</a:t>
            </a:r>
          </a:p>
        </p:txBody>
      </p:sp>
      <p:sp>
        <p:nvSpPr>
          <p:cNvPr id="10" name="+ tests/">
            <a:extLst xmlns:a="http://schemas.openxmlformats.org/drawingml/2006/main">
              <a:ext uri="{FF2B5EF4-FFF2-40B4-BE49-F238E27FC236}">
                <a16:creationId xmlns:a16="http://schemas.microsoft.com/office/drawing/2014/main" id="{9FF11708-0A9A-4765-A5FF-5C52D9760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0057" y="3921701"/>
            <a:ext cx="3810000" cy="253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6" b="0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defRPr>
            </a:defPPr>
          </a:lstStyle>
          <a:p xmlns:a="http://schemas.openxmlformats.org/drawingml/2006/main">
            <a:pPr algn="l">
              <a:buNone/>
              <a:defRPr sz="1596" b="0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defRPr>
            </a:pPr>
            <a:r>
              <a:rPr sz="1596" b="0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rPr>
              <a:t>+ tests/review_1_tests/</a:t>
            </a:r>
          </a:p>
        </p:txBody>
      </p:sp>
      <p:sp>
        <p:nvSpPr>
          <p:cNvPr id="11" name="+ test1_declarations.txt">
            <a:extLst xmlns:a="http://schemas.openxmlformats.org/drawingml/2006/main">
              <a:ext uri="{FF2B5EF4-FFF2-40B4-BE49-F238E27FC236}">
                <a16:creationId xmlns:a16="http://schemas.microsoft.com/office/drawing/2014/main" id="{287F4508-712E-4CBC-BB42-8881B0605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7257" y="4278317"/>
            <a:ext cx="1993618" cy="253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6" b="0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defRPr>
            </a:defPPr>
          </a:lstStyle>
          <a:p xmlns:a="http://schemas.openxmlformats.org/drawingml/2006/main">
            <a:pPr algn="l">
              <a:buNone/>
              <a:defRPr sz="1596" b="0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defRPr>
            </a:pPr>
            <a:r>
              <a:rPr sz="1596" b="0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rPr>
              <a:t>+ test1_declarations.txt</a:t>
            </a:r>
          </a:p>
        </p:txBody>
      </p:sp>
      <p:sp>
        <p:nvSpPr>
          <p:cNvPr id="12" name="+ test2_operators.txt">
            <a:extLst xmlns:a="http://schemas.openxmlformats.org/drawingml/2006/main">
              <a:ext uri="{FF2B5EF4-FFF2-40B4-BE49-F238E27FC236}">
                <a16:creationId xmlns:a16="http://schemas.microsoft.com/office/drawing/2014/main" id="{D3233EB0-1E6E-461B-80DC-6824508BE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7257" y="4634933"/>
            <a:ext cx="1789709" cy="253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6" b="0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defRPr>
            </a:defPPr>
          </a:lstStyle>
          <a:p xmlns:a="http://schemas.openxmlformats.org/drawingml/2006/main">
            <a:pPr algn="l">
              <a:buNone/>
              <a:defRPr sz="1596" b="0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defRPr>
            </a:pPr>
            <a:r>
              <a:rPr sz="1596" b="0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rPr>
              <a:t>+ test2_operators.txt</a:t>
            </a:r>
          </a:p>
        </p:txBody>
      </p:sp>
      <p:sp>
        <p:nvSpPr>
          <p:cNvPr id="13" name="+ test3_unknown_character.txt">
            <a:extLst xmlns:a="http://schemas.openxmlformats.org/drawingml/2006/main">
              <a:ext uri="{FF2B5EF4-FFF2-40B4-BE49-F238E27FC236}">
                <a16:creationId xmlns:a16="http://schemas.microsoft.com/office/drawing/2014/main" id="{74DCB81A-155B-4BB8-A804-CA1BEA3D6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7257" y="4990406"/>
            <a:ext cx="2546561" cy="253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6" b="0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defRPr>
            </a:defPPr>
          </a:lstStyle>
          <a:p xmlns:a="http://schemas.openxmlformats.org/drawingml/2006/main">
            <a:pPr algn="l">
              <a:buNone/>
              <a:defRPr sz="1596" b="0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defRPr>
            </a:pPr>
            <a:r>
              <a:rPr sz="1596" b="0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rPr>
              <a:t>+ test3_unknown_character.txt</a:t>
            </a:r>
          </a:p>
        </p:txBody>
      </p:sp>
      <p:sp>
        <p:nvSpPr>
          <p:cNvPr id="14" name="+ Makefile">
            <a:extLst xmlns:a="http://schemas.openxmlformats.org/drawingml/2006/main">
              <a:ext uri="{FF2B5EF4-FFF2-40B4-BE49-F238E27FC236}">
                <a16:creationId xmlns:a16="http://schemas.microsoft.com/office/drawing/2014/main" id="{2F5BC127-1DDC-4419-ACB2-DE0090740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0057" y="5411005"/>
            <a:ext cx="3810000" cy="253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6" b="0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defRPr>
            </a:defPPr>
          </a:lstStyle>
          <a:p xmlns:a="http://schemas.openxmlformats.org/drawingml/2006/main">
            <a:pPr algn="l">
              <a:buNone/>
              <a:defRPr sz="1596" b="0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defRPr>
            </a:pPr>
            <a:r>
              <a:rPr sz="1596" b="0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rPr>
              <a:t>+ scripts/build.ps1</a:t>
            </a:r>
          </a:p>
        </p:txBody>
      </p:sp>
      <p:sp>
        <p:nvSpPr>
          <p:cNvPr id="15" name="+ lexer_demo.exe">
            <a:extLst xmlns:a="http://schemas.openxmlformats.org/drawingml/2006/main">
              <a:ext uri="{FF2B5EF4-FFF2-40B4-BE49-F238E27FC236}">
                <a16:creationId xmlns:a16="http://schemas.microsoft.com/office/drawing/2014/main" id="{875E4BF8-9AF6-44F4-A481-D39B3CE8C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0057" y="5830105"/>
            <a:ext cx="3810000" cy="253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6" b="0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defRPr>
            </a:defPPr>
          </a:lstStyle>
          <a:p xmlns:a="http://schemas.openxmlformats.org/drawingml/2006/main">
            <a:pPr algn="l">
              <a:buNone/>
              <a:defRPr sz="1596" b="0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defRPr>
            </a:pPr>
            <a:r>
              <a:rPr sz="1596" b="0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rPr>
              <a:t>+ build/review_1.exe</a:t>
            </a:r>
          </a:p>
        </p:txBody>
      </p:sp>
    </p:spTree>
    <p:extLst>
      <p:ext uri="{BB962C8B-B14F-4D97-AF65-F5344CB8AC3E}">
        <p14:creationId xmlns:p14="http://schemas.microsoft.com/office/powerpoint/2010/main" val="78941570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EY FEATURES &amp; FUNCTIONS">
            <a:extLst xmlns:a="http://schemas.openxmlformats.org/drawingml/2006/main">
              <a:ext uri="{FF2B5EF4-FFF2-40B4-BE49-F238E27FC236}">
                <a16:creationId xmlns:a16="http://schemas.microsoft.com/office/drawing/2014/main" id="{9BBCB4D6-4839-4438-8E1E-A49CC9EDB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639" y="760803"/>
            <a:ext cx="6427836" cy="699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404" b="0">
                <a:solidFill>
                  <a:srgbClr val="5AA2AE"/>
                </a:solidFill>
                <a:latin typeface="Oswald SemiBold"/>
                <a:ea typeface="Oswald SemiBold"/>
                <a:cs typeface="Oswald SemiBold"/>
              </a:defRPr>
            </a:defPPr>
          </a:lstStyle>
          <a:p xmlns:a="http://schemas.openxmlformats.org/drawingml/2006/main">
            <a:pPr algn="l">
              <a:buNone/>
              <a:defRPr sz="4404" b="0">
                <a:solidFill>
                  <a:srgbClr val="5AA2AE"/>
                </a:solidFill>
                <a:latin typeface="Oswald SemiBold"/>
                <a:ea typeface="Oswald SemiBold"/>
                <a:cs typeface="Oswald SemiBold"/>
              </a:defRPr>
            </a:pPr>
            <a:r>
              <a:rPr sz="4404" b="0">
                <a:solidFill>
                  <a:srgbClr val="5AA2AE"/>
                </a:solidFill>
                <a:latin typeface="Oswald SemiBold"/>
                <a:ea typeface="Oswald SemiBold"/>
                <a:cs typeface="Oswald SemiBold"/>
              </a:rPr>
              <a:t>KEY FEATURES &amp; FUNCTIONS</a:t>
            </a:r>
          </a:p>
        </p:txBody>
      </p:sp>
      <p:sp>
        <p:nvSpPr>
          <p:cNvPr id="2" name="Keyword recognition:">
            <a:extLst xmlns:a="http://schemas.openxmlformats.org/drawingml/2006/main">
              <a:ext uri="{FF2B5EF4-FFF2-40B4-BE49-F238E27FC236}">
                <a16:creationId xmlns:a16="http://schemas.microsoft.com/office/drawing/2014/main" id="{00D24C18-3830-4EA0-832F-23C12678E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639" y="1805775"/>
            <a:ext cx="2107579" cy="318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6" b="1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defRPr>
            </a:defPPr>
          </a:lstStyle>
          <a:p xmlns:a="http://schemas.openxmlformats.org/drawingml/2006/main">
            <a:pPr algn="l">
              <a:buNone/>
              <a:defRPr sz="2006" b="1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defRPr>
            </a:pPr>
            <a:r>
              <a:rPr sz="2006" b="1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rPr>
              <a:t>Keyword recognition:</a:t>
            </a:r>
          </a:p>
        </p:txBody>
      </p:sp>
      <p:sp>
        <p:nvSpPr>
          <p:cNvPr id="3" name="Identifies reserved language words.">
            <a:extLst xmlns:a="http://schemas.openxmlformats.org/drawingml/2006/main">
              <a:ext uri="{FF2B5EF4-FFF2-40B4-BE49-F238E27FC236}">
                <a16:creationId xmlns:a16="http://schemas.microsoft.com/office/drawing/2014/main" id="{8D0357BB-664B-443B-B768-CA2B11CAD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639" y="2172089"/>
            <a:ext cx="3437844" cy="318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4" b="0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defRPr>
            </a:defPPr>
          </a:lstStyle>
          <a:p xmlns:a="http://schemas.openxmlformats.org/drawingml/2006/main">
            <a:pPr algn="l">
              <a:buNone/>
              <a:defRPr sz="2004" b="0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defRPr>
            </a:pPr>
            <a:r>
              <a:rPr sz="2004" b="0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rPr>
              <a:t>Identifies reserved language words.</a:t>
            </a:r>
          </a:p>
        </p:txBody>
      </p:sp>
      <p:sp>
        <p:nvSpPr>
          <p:cNvPr id="4" name="int, float, bool, if, return">
            <a:extLst xmlns:a="http://schemas.openxmlformats.org/drawingml/2006/main">
              <a:ext uri="{FF2B5EF4-FFF2-40B4-BE49-F238E27FC236}">
                <a16:creationId xmlns:a16="http://schemas.microsoft.com/office/drawing/2014/main" id="{C16B2064-48FD-456F-B7E2-62565F0A0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779" y="2197583"/>
            <a:ext cx="2122932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defRPr>
            </a:pPr>
            <a:r>
              <a:rPr sz="1800" b="0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rPr>
              <a:t>int, float, bool, if, return</a:t>
            </a:r>
          </a:p>
        </p:txBody>
      </p:sp>
      <p:sp>
        <p:nvSpPr>
          <p:cNvPr id="5" name="Identifier recognition:">
            <a:extLst xmlns:a="http://schemas.openxmlformats.org/drawingml/2006/main">
              <a:ext uri="{FF2B5EF4-FFF2-40B4-BE49-F238E27FC236}">
                <a16:creationId xmlns:a16="http://schemas.microsoft.com/office/drawing/2014/main" id="{2360582D-D2B1-46C1-9D78-E75ABC2A4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639" y="2664341"/>
            <a:ext cx="2137562" cy="318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4" b="1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defRPr>
            </a:defPPr>
          </a:lstStyle>
          <a:p xmlns:a="http://schemas.openxmlformats.org/drawingml/2006/main">
            <a:pPr algn="l">
              <a:buNone/>
              <a:defRPr sz="2004" b="1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defRPr>
            </a:pPr>
            <a:r>
              <a:rPr sz="2004" b="1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rPr>
              <a:t>Identifier recognition:</a:t>
            </a:r>
          </a:p>
        </p:txBody>
      </p:sp>
      <p:sp>
        <p:nvSpPr>
          <p:cNvPr id="6" name="Identifies names used in source code.">
            <a:extLst xmlns:a="http://schemas.openxmlformats.org/drawingml/2006/main">
              <a:ext uri="{FF2B5EF4-FFF2-40B4-BE49-F238E27FC236}">
                <a16:creationId xmlns:a16="http://schemas.microsoft.com/office/drawing/2014/main" id="{C3B0861E-CF5B-4C4E-84BC-22A6CE07B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639" y="3030101"/>
            <a:ext cx="3609382" cy="318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4" b="0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defRPr>
            </a:defPPr>
          </a:lstStyle>
          <a:p xmlns:a="http://schemas.openxmlformats.org/drawingml/2006/main">
            <a:pPr algn="l">
              <a:buNone/>
              <a:defRPr sz="2004" b="0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defRPr>
            </a:pPr>
            <a:r>
              <a:rPr sz="2004" b="0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rPr>
              <a:t>Identifies names used in source code.</a:t>
            </a:r>
          </a:p>
        </p:txBody>
      </p:sp>
      <p:sp>
        <p:nvSpPr>
          <p:cNvPr id="7" name="count, price, total">
            <a:extLst xmlns:a="http://schemas.openxmlformats.org/drawingml/2006/main">
              <a:ext uri="{FF2B5EF4-FFF2-40B4-BE49-F238E27FC236}">
                <a16:creationId xmlns:a16="http://schemas.microsoft.com/office/drawing/2014/main" id="{3C7BC5A5-996A-4CB0-93C8-1CE8934E8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779" y="3055595"/>
            <a:ext cx="1601267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defRPr>
            </a:pPr>
            <a:r>
              <a:rPr sz="1800" b="0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rPr>
              <a:t>count, price, total</a:t>
            </a:r>
          </a:p>
        </p:txBody>
      </p:sp>
      <p:sp>
        <p:nvSpPr>
          <p:cNvPr id="8" name="Literal recognition:">
            <a:extLst xmlns:a="http://schemas.openxmlformats.org/drawingml/2006/main">
              <a:ext uri="{FF2B5EF4-FFF2-40B4-BE49-F238E27FC236}">
                <a16:creationId xmlns:a16="http://schemas.microsoft.com/office/drawing/2014/main" id="{56360F5A-6499-4990-A811-0BF65DDAE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639" y="3524258"/>
            <a:ext cx="1881527" cy="318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4" b="1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defRPr>
            </a:defPPr>
          </a:lstStyle>
          <a:p xmlns:a="http://schemas.openxmlformats.org/drawingml/2006/main">
            <a:pPr algn="l">
              <a:buNone/>
              <a:defRPr sz="2004" b="1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defRPr>
            </a:pPr>
            <a:r>
              <a:rPr sz="2004" b="1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rPr>
              <a:t>Literal recognition:</a:t>
            </a:r>
          </a:p>
        </p:txBody>
      </p:sp>
      <p:sp>
        <p:nvSpPr>
          <p:cNvPr id="9" name="Recognizes integer, decimal, and character li">
            <a:extLst xmlns:a="http://schemas.openxmlformats.org/drawingml/2006/main">
              <a:ext uri="{FF2B5EF4-FFF2-40B4-BE49-F238E27FC236}">
                <a16:creationId xmlns:a16="http://schemas.microsoft.com/office/drawing/2014/main" id="{0D59D2B3-74C3-43F4-806D-491A9F8A4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639" y="3890018"/>
            <a:ext cx="4835856" cy="318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4" b="0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defRPr>
            </a:defPPr>
          </a:lstStyle>
          <a:p xmlns:a="http://schemas.openxmlformats.org/drawingml/2006/main">
            <a:pPr algn="l">
              <a:buNone/>
              <a:defRPr sz="2004" b="0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defRPr>
            </a:pPr>
            <a:r>
              <a:rPr sz="2004" b="0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rPr>
              <a:t>Recognizes integer, decimal, and character literals.</a:t>
            </a:r>
          </a:p>
        </p:txBody>
      </p:sp>
      <p:sp>
        <p:nvSpPr>
          <p:cNvPr id="10" name="10, 2.5, 'A’">
            <a:extLst xmlns:a="http://schemas.openxmlformats.org/drawingml/2006/main">
              <a:ext uri="{FF2B5EF4-FFF2-40B4-BE49-F238E27FC236}">
                <a16:creationId xmlns:a16="http://schemas.microsoft.com/office/drawing/2014/main" id="{481764CC-13B4-4D7B-AD0D-C75C5D495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779" y="3915512"/>
            <a:ext cx="1034796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defRPr>
            </a:pPr>
            <a:r>
              <a:rPr sz="1800" b="0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rPr>
              <a:t>10, 2.5, 'A’</a:t>
            </a:r>
          </a:p>
        </p:txBody>
      </p:sp>
      <p:sp>
        <p:nvSpPr>
          <p:cNvPr id="11" name="Operator recognition:">
            <a:extLst xmlns:a="http://schemas.openxmlformats.org/drawingml/2006/main">
              <a:ext uri="{FF2B5EF4-FFF2-40B4-BE49-F238E27FC236}">
                <a16:creationId xmlns:a16="http://schemas.microsoft.com/office/drawing/2014/main" id="{C9A51B38-EFCB-4B4A-B51E-8B3FEAF0C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639" y="4382270"/>
            <a:ext cx="2107276" cy="318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4" b="1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defRPr>
            </a:defPPr>
          </a:lstStyle>
          <a:p xmlns:a="http://schemas.openxmlformats.org/drawingml/2006/main">
            <a:pPr algn="l">
              <a:buNone/>
              <a:defRPr sz="2004" b="1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defRPr>
            </a:pPr>
            <a:r>
              <a:rPr sz="2004" b="1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rPr>
              <a:t>Operator recognition:</a:t>
            </a:r>
          </a:p>
        </p:txBody>
      </p:sp>
      <p:sp>
        <p:nvSpPr>
          <p:cNvPr id="12" name="Recognizes arithmetic, assignment, comparison">
            <a:extLst xmlns:a="http://schemas.openxmlformats.org/drawingml/2006/main">
              <a:ext uri="{FF2B5EF4-FFF2-40B4-BE49-F238E27FC236}">
                <a16:creationId xmlns:a16="http://schemas.microsoft.com/office/drawing/2014/main" id="{392876D8-64FB-4162-82D1-761C2A148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639" y="4747730"/>
            <a:ext cx="6614707" cy="318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6" b="0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defRPr>
            </a:defPPr>
          </a:lstStyle>
          <a:p xmlns:a="http://schemas.openxmlformats.org/drawingml/2006/main">
            <a:pPr algn="l">
              <a:buNone/>
              <a:defRPr sz="2006" b="0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defRPr>
            </a:pPr>
            <a:r>
              <a:rPr sz="2006" b="0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rPr>
              <a:t>Recognizes arithmetic, assignment, comparison, and logical operators.</a:t>
            </a:r>
          </a:p>
        </p:txBody>
      </p:sp>
      <p:sp>
        <p:nvSpPr>
          <p:cNvPr id="13" name="int, float, bool, if, return">
            <a:extLst xmlns:a="http://schemas.openxmlformats.org/drawingml/2006/main">
              <a:ext uri="{FF2B5EF4-FFF2-40B4-BE49-F238E27FC236}">
                <a16:creationId xmlns:a16="http://schemas.microsoft.com/office/drawing/2014/main" id="{2FE0CEF7-8A28-411B-994F-69DB57D11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779" y="4773524"/>
            <a:ext cx="2122932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defRPr>
            </a:pPr>
            <a:r>
              <a:rPr sz="1800" b="0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rPr>
              <a:t>int, float, bool, if, return</a:t>
            </a:r>
          </a:p>
        </p:txBody>
      </p:sp>
      <p:sp>
        <p:nvSpPr>
          <p:cNvPr id="14" name="Delimiter recognition:">
            <a:extLst xmlns:a="http://schemas.openxmlformats.org/drawingml/2006/main">
              <a:ext uri="{FF2B5EF4-FFF2-40B4-BE49-F238E27FC236}">
                <a16:creationId xmlns:a16="http://schemas.microsoft.com/office/drawing/2014/main" id="{F8F2D354-22AF-4C09-9D04-1AE51A843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639" y="5240536"/>
            <a:ext cx="2151560" cy="318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4" b="1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defRPr>
            </a:defPPr>
          </a:lstStyle>
          <a:p xmlns:a="http://schemas.openxmlformats.org/drawingml/2006/main">
            <a:pPr algn="l">
              <a:buNone/>
              <a:defRPr sz="2004" b="1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defRPr>
            </a:pPr>
            <a:r>
              <a:rPr sz="2004" b="1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rPr>
              <a:t>Delimiter recognition:</a:t>
            </a:r>
          </a:p>
        </p:txBody>
      </p:sp>
      <p:sp>
        <p:nvSpPr>
          <p:cNvPr id="15" name="Recognizes punctuation and grouping symbols.">
            <a:extLst xmlns:a="http://schemas.openxmlformats.org/drawingml/2006/main">
              <a:ext uri="{FF2B5EF4-FFF2-40B4-BE49-F238E27FC236}">
                <a16:creationId xmlns:a16="http://schemas.microsoft.com/office/drawing/2014/main" id="{994A7BF1-38FD-4041-B103-FB2253FD1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639" y="5606296"/>
            <a:ext cx="4439842" cy="318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4" b="0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defRPr>
            </a:defPPr>
          </a:lstStyle>
          <a:p xmlns:a="http://schemas.openxmlformats.org/drawingml/2006/main">
            <a:pPr algn="l">
              <a:buNone/>
              <a:defRPr sz="2004" b="0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defRPr>
            </a:pPr>
            <a:r>
              <a:rPr sz="2004" b="0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rPr>
              <a:t>Recognizes punctuation and grouping symbols.</a:t>
            </a:r>
          </a:p>
        </p:txBody>
      </p:sp>
      <p:sp>
        <p:nvSpPr>
          <p:cNvPr id="16" name="; , ( ) { }">
            <a:extLst xmlns:a="http://schemas.openxmlformats.org/drawingml/2006/main">
              <a:ext uri="{FF2B5EF4-FFF2-40B4-BE49-F238E27FC236}">
                <a16:creationId xmlns:a16="http://schemas.microsoft.com/office/drawing/2014/main" id="{8C8CDF0B-8C72-470D-820D-DA08BD92B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779" y="5631790"/>
            <a:ext cx="77076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defRPr>
            </a:pPr>
            <a:r>
              <a:rPr sz="1800" b="0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rPr>
              <a:t>; , ( ) { }</a:t>
            </a:r>
          </a:p>
        </p:txBody>
      </p:sp>
      <p:sp>
        <p:nvSpPr>
          <p:cNvPr id="17" name="Template footer rule">
            <a:extLst xmlns:a="http://schemas.openxmlformats.org/drawingml/2006/main">
              <a:ext uri="{FF2B5EF4-FFF2-40B4-BE49-F238E27FC236}">
                <a16:creationId xmlns:a16="http://schemas.microsoft.com/office/drawing/2014/main" id="{70EDB15D-8F75-471F-904A-06C8A7A3D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8" y="6215063"/>
            <a:ext cx="10802303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66A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16082848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EY FEATURES &amp; FUNCTIONS">
            <a:extLst xmlns:a="http://schemas.openxmlformats.org/drawingml/2006/main">
              <a:ext uri="{FF2B5EF4-FFF2-40B4-BE49-F238E27FC236}">
                <a16:creationId xmlns:a16="http://schemas.microsoft.com/office/drawing/2014/main" id="{E4B3756C-C62E-4325-8B3F-B6645798C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639" y="760803"/>
            <a:ext cx="6427836" cy="699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404" b="0">
                <a:solidFill>
                  <a:srgbClr val="5AA2AE"/>
                </a:solidFill>
                <a:latin typeface="Oswald SemiBold"/>
                <a:ea typeface="Oswald SemiBold"/>
                <a:cs typeface="Oswald SemiBold"/>
              </a:defRPr>
            </a:defPPr>
          </a:lstStyle>
          <a:p xmlns:a="http://schemas.openxmlformats.org/drawingml/2006/main">
            <a:pPr algn="l">
              <a:buNone/>
              <a:defRPr sz="4404" b="0">
                <a:solidFill>
                  <a:srgbClr val="5AA2AE"/>
                </a:solidFill>
                <a:latin typeface="Oswald SemiBold"/>
                <a:ea typeface="Oswald SemiBold"/>
                <a:cs typeface="Oswald SemiBold"/>
              </a:defRPr>
            </a:pPr>
            <a:r>
              <a:rPr sz="4404" b="0">
                <a:solidFill>
                  <a:srgbClr val="5AA2AE"/>
                </a:solidFill>
                <a:latin typeface="Oswald SemiBold"/>
                <a:ea typeface="Oswald SemiBold"/>
                <a:cs typeface="Oswald SemiBold"/>
              </a:rPr>
              <a:t>KEY FEATURES &amp; FUNCTIONS</a:t>
            </a:r>
          </a:p>
        </p:txBody>
      </p:sp>
      <p:sp>
        <p:nvSpPr>
          <p:cNvPr id="2" name="Whitespace handling">
            <a:extLst xmlns:a="http://schemas.openxmlformats.org/drawingml/2006/main">
              <a:ext uri="{FF2B5EF4-FFF2-40B4-BE49-F238E27FC236}">
                <a16:creationId xmlns:a16="http://schemas.microsoft.com/office/drawing/2014/main" id="{7D9081FD-688E-41B2-8F6D-7058E888E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639" y="1805775"/>
            <a:ext cx="2103756" cy="318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6" b="1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defRPr>
            </a:defPPr>
          </a:lstStyle>
          <a:p xmlns:a="http://schemas.openxmlformats.org/drawingml/2006/main">
            <a:pPr algn="l">
              <a:buNone/>
              <a:defRPr sz="2006" b="1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defRPr>
            </a:pPr>
            <a:r>
              <a:rPr sz="2006" b="1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rPr>
              <a:t>Whitespace handling</a:t>
            </a:r>
          </a:p>
        </p:txBody>
      </p:sp>
      <p:sp>
        <p:nvSpPr>
          <p:cNvPr id="3" name="Skips spaces, tabs, and line breaks while tra">
            <a:extLst xmlns:a="http://schemas.openxmlformats.org/drawingml/2006/main">
              <a:ext uri="{FF2B5EF4-FFF2-40B4-BE49-F238E27FC236}">
                <a16:creationId xmlns:a16="http://schemas.microsoft.com/office/drawing/2014/main" id="{51317522-E6E7-4E12-87E8-AD476109D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639" y="2172089"/>
            <a:ext cx="5657154" cy="318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4" b="0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defRPr>
            </a:defPPr>
          </a:lstStyle>
          <a:p xmlns:a="http://schemas.openxmlformats.org/drawingml/2006/main">
            <a:pPr algn="l">
              <a:buNone/>
              <a:defRPr sz="2004" b="0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defRPr>
            </a:pPr>
            <a:r>
              <a:rPr sz="2004" b="0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rPr>
              <a:t>Skips spaces, tabs, and line breaks while tracking positions.</a:t>
            </a:r>
          </a:p>
        </p:txBody>
      </p:sp>
      <p:sp>
        <p:nvSpPr>
          <p:cNvPr id="4" name="Spaces between declarations">
            <a:extLst xmlns:a="http://schemas.openxmlformats.org/drawingml/2006/main">
              <a:ext uri="{FF2B5EF4-FFF2-40B4-BE49-F238E27FC236}">
                <a16:creationId xmlns:a16="http://schemas.microsoft.com/office/drawing/2014/main" id="{C90AA86F-C1C9-4273-BBB1-3E8375D9E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779" y="2197583"/>
            <a:ext cx="2590876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defRPr>
            </a:pPr>
            <a:r>
              <a:rPr sz="1800" b="0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rPr>
              <a:t>Spaces between declarations</a:t>
            </a:r>
          </a:p>
        </p:txBody>
      </p:sp>
      <p:sp>
        <p:nvSpPr>
          <p:cNvPr id="5" name="Comment handling">
            <a:extLst xmlns:a="http://schemas.openxmlformats.org/drawingml/2006/main">
              <a:ext uri="{FF2B5EF4-FFF2-40B4-BE49-F238E27FC236}">
                <a16:creationId xmlns:a16="http://schemas.microsoft.com/office/drawing/2014/main" id="{224F73F2-741A-40E7-AD93-8E62EBDAD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639" y="2664341"/>
            <a:ext cx="1879491" cy="318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4" b="1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defRPr>
            </a:defPPr>
          </a:lstStyle>
          <a:p xmlns:a="http://schemas.openxmlformats.org/drawingml/2006/main">
            <a:pPr algn="l">
              <a:buNone/>
              <a:defRPr sz="2004" b="1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defRPr>
            </a:pPr>
            <a:r>
              <a:rPr sz="2004" b="1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rPr>
              <a:t>Comment handling</a:t>
            </a:r>
          </a:p>
        </p:txBody>
      </p:sp>
      <p:sp>
        <p:nvSpPr>
          <p:cNvPr id="6" name="Skips single-line and block comments.">
            <a:extLst xmlns:a="http://schemas.openxmlformats.org/drawingml/2006/main">
              <a:ext uri="{FF2B5EF4-FFF2-40B4-BE49-F238E27FC236}">
                <a16:creationId xmlns:a16="http://schemas.microsoft.com/office/drawing/2014/main" id="{D306AF74-F27F-45A3-8BFD-342364AAA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639" y="3030101"/>
            <a:ext cx="3654431" cy="318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4" b="0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defRPr>
            </a:defPPr>
          </a:lstStyle>
          <a:p xmlns:a="http://schemas.openxmlformats.org/drawingml/2006/main">
            <a:pPr algn="l">
              <a:buNone/>
              <a:defRPr sz="2004" b="0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defRPr>
            </a:pPr>
            <a:r>
              <a:rPr sz="2004" b="0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rPr>
              <a:t>Skips single-line and block comments.</a:t>
            </a:r>
          </a:p>
        </p:txBody>
      </p:sp>
      <p:sp>
        <p:nvSpPr>
          <p:cNvPr id="7" name="//comment , /*comment*/">
            <a:extLst xmlns:a="http://schemas.openxmlformats.org/drawingml/2006/main">
              <a:ext uri="{FF2B5EF4-FFF2-40B4-BE49-F238E27FC236}">
                <a16:creationId xmlns:a16="http://schemas.microsoft.com/office/drawing/2014/main" id="{05F17A5B-463F-4172-B9D3-0D1665BF1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779" y="3055595"/>
            <a:ext cx="238856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defRPr>
            </a:pPr>
            <a:r>
              <a:rPr sz="1800" b="0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rPr>
              <a:t>//comment , /*comment*/</a:t>
            </a:r>
          </a:p>
        </p:txBody>
      </p:sp>
      <p:sp>
        <p:nvSpPr>
          <p:cNvPr id="8" name="Position tracking">
            <a:extLst xmlns:a="http://schemas.openxmlformats.org/drawingml/2006/main">
              <a:ext uri="{FF2B5EF4-FFF2-40B4-BE49-F238E27FC236}">
                <a16:creationId xmlns:a16="http://schemas.microsoft.com/office/drawing/2014/main" id="{8DF6B2BE-5D28-4215-9373-13D4E5CB0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639" y="3524258"/>
            <a:ext cx="1681993" cy="318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4" b="1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defRPr>
            </a:defPPr>
          </a:lstStyle>
          <a:p xmlns:a="http://schemas.openxmlformats.org/drawingml/2006/main">
            <a:pPr algn="l">
              <a:buNone/>
              <a:defRPr sz="2004" b="1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defRPr>
            </a:pPr>
            <a:r>
              <a:rPr sz="2004" b="1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rPr>
              <a:t>Position tracking</a:t>
            </a:r>
          </a:p>
        </p:txBody>
      </p:sp>
      <p:sp>
        <p:nvSpPr>
          <p:cNvPr id="9" name="Records where each token begins.">
            <a:extLst xmlns:a="http://schemas.openxmlformats.org/drawingml/2006/main">
              <a:ext uri="{FF2B5EF4-FFF2-40B4-BE49-F238E27FC236}">
                <a16:creationId xmlns:a16="http://schemas.microsoft.com/office/drawing/2014/main" id="{E41CBA28-98E4-43CD-ADFD-1092E53EC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639" y="3890018"/>
            <a:ext cx="3296592" cy="318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4" b="0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defRPr>
            </a:defPPr>
          </a:lstStyle>
          <a:p xmlns:a="http://schemas.openxmlformats.org/drawingml/2006/main">
            <a:pPr algn="l">
              <a:buNone/>
              <a:defRPr sz="2004" b="0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defRPr>
            </a:pPr>
            <a:r>
              <a:rPr sz="2004" b="0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rPr>
              <a:t>Records where each token begins.</a:t>
            </a:r>
          </a:p>
        </p:txBody>
      </p:sp>
      <p:sp>
        <p:nvSpPr>
          <p:cNvPr id="10" name="Line 1, column 5">
            <a:extLst xmlns:a="http://schemas.openxmlformats.org/drawingml/2006/main">
              <a:ext uri="{FF2B5EF4-FFF2-40B4-BE49-F238E27FC236}">
                <a16:creationId xmlns:a16="http://schemas.microsoft.com/office/drawing/2014/main" id="{7B3B1109-5965-4337-A343-042BC8BE9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779" y="3915512"/>
            <a:ext cx="149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defRPr>
            </a:pPr>
            <a:r>
              <a:rPr sz="1800" b="0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rPr>
              <a:t>Line 1, column 5</a:t>
            </a:r>
          </a:p>
        </p:txBody>
      </p:sp>
      <p:sp>
        <p:nvSpPr>
          <p:cNvPr id="11" name="Unknown-character detection">
            <a:extLst xmlns:a="http://schemas.openxmlformats.org/drawingml/2006/main">
              <a:ext uri="{FF2B5EF4-FFF2-40B4-BE49-F238E27FC236}">
                <a16:creationId xmlns:a16="http://schemas.microsoft.com/office/drawing/2014/main" id="{87E991EB-69A6-4C15-BDAB-95E3A0695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639" y="4382270"/>
            <a:ext cx="2868216" cy="318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4" b="1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defRPr>
            </a:defPPr>
          </a:lstStyle>
          <a:p xmlns:a="http://schemas.openxmlformats.org/drawingml/2006/main">
            <a:pPr algn="l">
              <a:buNone/>
              <a:defRPr sz="2004" b="1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defRPr>
            </a:pPr>
            <a:r>
              <a:rPr sz="2004" b="1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rPr>
              <a:t>Unknown-character detection</a:t>
            </a:r>
          </a:p>
        </p:txBody>
      </p:sp>
      <p:sp>
        <p:nvSpPr>
          <p:cNvPr id="12" name="Produces an error for unsupported characters.">
            <a:extLst xmlns:a="http://schemas.openxmlformats.org/drawingml/2006/main">
              <a:ext uri="{FF2B5EF4-FFF2-40B4-BE49-F238E27FC236}">
                <a16:creationId xmlns:a16="http://schemas.microsoft.com/office/drawing/2014/main" id="{7F46DC50-AF12-482C-811D-74640BED9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639" y="4747730"/>
            <a:ext cx="4336171" cy="318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6" b="0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defRPr>
            </a:defPPr>
          </a:lstStyle>
          <a:p xmlns:a="http://schemas.openxmlformats.org/drawingml/2006/main">
            <a:pPr algn="l">
              <a:buNone/>
              <a:defRPr sz="2006" b="0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defRPr>
            </a:pPr>
            <a:r>
              <a:rPr sz="2006" b="0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rPr>
              <a:t>Produces an error for unsupported characters.</a:t>
            </a:r>
          </a:p>
        </p:txBody>
      </p:sp>
      <p:sp>
        <p:nvSpPr>
          <p:cNvPr id="13" name="@">
            <a:extLst xmlns:a="http://schemas.openxmlformats.org/drawingml/2006/main">
              <a:ext uri="{FF2B5EF4-FFF2-40B4-BE49-F238E27FC236}">
                <a16:creationId xmlns:a16="http://schemas.microsoft.com/office/drawing/2014/main" id="{B11F1E59-31E4-4A7F-AC2A-2AB5B097D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779" y="4773524"/>
            <a:ext cx="355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defRPr>
            </a:pPr>
            <a:r>
              <a:rPr sz="1800" b="0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rPr>
              <a:t>@</a:t>
            </a:r>
          </a:p>
        </p:txBody>
      </p:sp>
      <p:sp>
        <p:nvSpPr>
          <p:cNvPr id="14" name="EOF generation">
            <a:extLst xmlns:a="http://schemas.openxmlformats.org/drawingml/2006/main">
              <a:ext uri="{FF2B5EF4-FFF2-40B4-BE49-F238E27FC236}">
                <a16:creationId xmlns:a16="http://schemas.microsoft.com/office/drawing/2014/main" id="{3B4C32CA-8BBD-41CA-8917-B72DF88BB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639" y="5240536"/>
            <a:ext cx="1554994" cy="318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4" b="1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defRPr>
            </a:defPPr>
          </a:lstStyle>
          <a:p xmlns:a="http://schemas.openxmlformats.org/drawingml/2006/main">
            <a:pPr algn="l">
              <a:buNone/>
              <a:defRPr sz="2004" b="1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defRPr>
            </a:pPr>
            <a:r>
              <a:rPr sz="2004" b="1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rPr>
              <a:t>EOF generation</a:t>
            </a:r>
          </a:p>
        </p:txBody>
      </p:sp>
      <p:sp>
        <p:nvSpPr>
          <p:cNvPr id="15" name="Marks the end of the input.">
            <a:extLst xmlns:a="http://schemas.openxmlformats.org/drawingml/2006/main">
              <a:ext uri="{FF2B5EF4-FFF2-40B4-BE49-F238E27FC236}">
                <a16:creationId xmlns:a16="http://schemas.microsoft.com/office/drawing/2014/main" id="{5F6B23C8-C08A-4ADA-A833-324F78E95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639" y="5606296"/>
            <a:ext cx="2647342" cy="318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4" b="0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defRPr>
            </a:defPPr>
          </a:lstStyle>
          <a:p xmlns:a="http://schemas.openxmlformats.org/drawingml/2006/main">
            <a:pPr algn="l">
              <a:buNone/>
              <a:defRPr sz="2004" b="0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defRPr>
            </a:pPr>
            <a:r>
              <a:rPr sz="2004" b="0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rPr>
              <a:t>Marks the end of the input.</a:t>
            </a:r>
          </a:p>
        </p:txBody>
      </p:sp>
      <p:sp>
        <p:nvSpPr>
          <p:cNvPr id="16" name="EOF">
            <a:extLst xmlns:a="http://schemas.openxmlformats.org/drawingml/2006/main">
              <a:ext uri="{FF2B5EF4-FFF2-40B4-BE49-F238E27FC236}">
                <a16:creationId xmlns:a16="http://schemas.microsoft.com/office/drawing/2014/main" id="{824FEFA9-FC8D-45F8-A2A6-3632BA38C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779" y="5631790"/>
            <a:ext cx="469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defRPr>
            </a:pPr>
            <a:r>
              <a:rPr sz="1800" b="0">
                <a:solidFill>
                  <a:srgbClr val="242852"/>
                </a:solidFill>
                <a:latin typeface="Univers Condensed Light"/>
                <a:ea typeface="Univers Condensed Light"/>
                <a:cs typeface="Univers Condensed Light"/>
              </a:rPr>
              <a:t>EOF</a:t>
            </a:r>
          </a:p>
        </p:txBody>
      </p:sp>
      <p:sp>
        <p:nvSpPr>
          <p:cNvPr id="17" name="Template footer rule">
            <a:extLst xmlns:a="http://schemas.openxmlformats.org/drawingml/2006/main">
              <a:ext uri="{FF2B5EF4-FFF2-40B4-BE49-F238E27FC236}">
                <a16:creationId xmlns:a16="http://schemas.microsoft.com/office/drawing/2014/main" id="{CF92F610-1A27-4552-8ACB-FB60C3973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8" y="6215063"/>
            <a:ext cx="10802303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66A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200603700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 title">
            <a:extLst xmlns:a="http://schemas.openxmlformats.org/drawingml/2006/main">
              <a:ext uri="{FF2B5EF4-FFF2-40B4-BE49-F238E27FC236}">
                <a16:creationId xmlns:a16="http://schemas.microsoft.com/office/drawing/2014/main" id="{AE001BD4-FF70-4DF6-9D8F-B0A94B91B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752475"/>
            <a:ext cx="1081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404" b="0">
                <a:solidFill>
                  <a:srgbClr val="5AA2AE"/>
                </a:solidFill>
                <a:latin typeface="Oswald SemiBold"/>
                <a:ea typeface="Oswald SemiBold"/>
                <a:cs typeface="Oswald SemiBold"/>
              </a:defRPr>
            </a:defPPr>
          </a:lstStyle>
          <a:p xmlns:a="http://schemas.openxmlformats.org/drawingml/2006/main">
            <a:pPr algn="l">
              <a:buNone/>
              <a:defRPr sz="4404" b="0">
                <a:solidFill>
                  <a:srgbClr val="5AA2AE"/>
                </a:solidFill>
                <a:latin typeface="Oswald SemiBold"/>
                <a:ea typeface="Oswald SemiBold"/>
                <a:cs typeface="Oswald SemiBold"/>
              </a:defRPr>
            </a:pPr>
            <a:r>
              <a:rPr sz="4404" b="0">
                <a:solidFill>
                  <a:srgbClr val="5AA2AE"/>
                </a:solidFill>
                <a:latin typeface="Oswald SemiBold"/>
                <a:ea typeface="Oswald SemiBold"/>
                <a:cs typeface="Oswald SemiBold"/>
              </a:rPr>
              <a:t>WORKING OF THE PROGRAM</a:t>
            </a:r>
          </a:p>
        </p:txBody>
      </p:sp>
      <p:sp>
        <p:nvSpPr>
          <p:cNvPr id="2" name="Template footer rule">
            <a:extLst xmlns:a="http://schemas.openxmlformats.org/drawingml/2006/main">
              <a:ext uri="{FF2B5EF4-FFF2-40B4-BE49-F238E27FC236}">
                <a16:creationId xmlns:a16="http://schemas.microsoft.com/office/drawing/2014/main" id="{29037A38-CC6B-45FA-BE70-2FD12BF60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8" y="6215063"/>
            <a:ext cx="10802303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66A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Editable workflow step 1">
            <a:extLst xmlns:a="http://schemas.openxmlformats.org/drawingml/2006/main">
              <a:ext uri="{FF2B5EF4-FFF2-40B4-BE49-F238E27FC236}">
                <a16:creationId xmlns:a16="http://schemas.microsoft.com/office/drawing/2014/main" id="{50FC9EDD-763F-4ED5-A8D4-CF3AA4354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171700"/>
            <a:ext cx="2084070" cy="1249680"/>
          </a:xfrm>
          <a:prstGeom xmlns:a="http://schemas.openxmlformats.org/drawingml/2006/main" prst="roundRect">
            <a:avLst>
              <a:gd name="adj" fmla="val 10671"/>
            </a:avLst>
          </a:prstGeom>
          <a:solidFill xmlns:a="http://schemas.openxmlformats.org/drawingml/2006/main">
            <a:srgbClr val="425C9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95250" rIns="95250" bIns="95250" anchor="ctr">
            <a:noAutofit/>
          </a:bodyPr>
          <a:lstStyle xmlns:a="http://schemas.openxmlformats.org/drawingml/2006/main">
            <a:defPPr algn="ctr">
              <a:defRPr sz="2304">
                <a:solidFill>
                  <a:srgbClr val="FFFFFF"/>
                </a:solidFill>
                <a:latin typeface="Univers Condensed Light"/>
                <a:ea typeface="Univers Condensed Light"/>
                <a:cs typeface="Univers Condensed Light"/>
              </a:defRPr>
            </a:defPPr>
          </a:lstStyle>
          <a:p xmlns:a="http://schemas.openxmlformats.org/drawingml/2006/main">
            <a:pPr algn="ctr">
              <a:buNone/>
              <a:defRPr sz="2304">
                <a:solidFill>
                  <a:srgbClr val="FFFFFF"/>
                </a:solidFill>
                <a:latin typeface="Univers Condensed Light"/>
                <a:ea typeface="Univers Condensed Light"/>
                <a:cs typeface="Univers Condensed Light"/>
              </a:defRPr>
            </a:pPr>
            <a:r>
              <a:rPr sz="2304">
                <a:solidFill>
                  <a:srgbClr val="FFFFFF"/>
                </a:solidFill>
                <a:latin typeface="Univers Condensed Light"/>
                <a:ea typeface="Univers Condensed Light"/>
                <a:cs typeface="Univers Condensed Light"/>
              </a:rPr>
              <a:t>Source Code</a:t>
            </a:r>
          </a:p>
          <a:p xmlns:a="http://schemas.openxmlformats.org/drawingml/2006/main">
            <a:pPr algn="ctr">
              <a:buNone/>
              <a:defRPr sz="2304">
                <a:solidFill>
                  <a:srgbClr val="FFFFFF"/>
                </a:solidFill>
                <a:latin typeface="Univers Condensed Light"/>
                <a:ea typeface="Univers Condensed Light"/>
                <a:cs typeface="Univers Condensed Light"/>
              </a:defRPr>
            </a:pPr>
            <a:r>
              <a:rPr sz="2304">
                <a:solidFill>
                  <a:srgbClr val="FFFFFF"/>
                </a:solidFill>
                <a:latin typeface="Univers Condensed Light"/>
                <a:ea typeface="Univers Condensed Light"/>
                <a:cs typeface="Univers Condensed Light"/>
              </a:rPr>
              <a:t>Text File</a:t>
            </a:r>
          </a:p>
        </p:txBody>
      </p:sp>
      <p:sp>
        <p:nvSpPr>
          <p:cNvPr id="4" name="Editable workflow step 2">
            <a:extLst xmlns:a="http://schemas.openxmlformats.org/drawingml/2006/main">
              <a:ext uri="{FF2B5EF4-FFF2-40B4-BE49-F238E27FC236}">
                <a16:creationId xmlns:a16="http://schemas.microsoft.com/office/drawing/2014/main" id="{73F5DE40-032E-40FB-92FB-8E451CBEF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060" y="2171700"/>
            <a:ext cx="2084070" cy="1249680"/>
          </a:xfrm>
          <a:prstGeom xmlns:a="http://schemas.openxmlformats.org/drawingml/2006/main" prst="roundRect">
            <a:avLst>
              <a:gd name="adj" fmla="val 10671"/>
            </a:avLst>
          </a:prstGeom>
          <a:solidFill xmlns:a="http://schemas.openxmlformats.org/drawingml/2006/main">
            <a:srgbClr val="4D67A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95250" rIns="95250" bIns="95250" anchor="ctr">
            <a:noAutofit/>
          </a:bodyPr>
          <a:lstStyle xmlns:a="http://schemas.openxmlformats.org/drawingml/2006/main">
            <a:defPPr algn="ctr">
              <a:defRPr sz="2304">
                <a:solidFill>
                  <a:srgbClr val="FFFFFF"/>
                </a:solidFill>
                <a:latin typeface="Univers Condensed Light"/>
                <a:ea typeface="Univers Condensed Light"/>
                <a:cs typeface="Univers Condensed Light"/>
              </a:defRPr>
            </a:defPPr>
          </a:lstStyle>
          <a:p xmlns:a="http://schemas.openxmlformats.org/drawingml/2006/main">
            <a:pPr algn="ctr">
              <a:buNone/>
              <a:defRPr sz="2304">
                <a:solidFill>
                  <a:srgbClr val="FFFFFF"/>
                </a:solidFill>
                <a:latin typeface="Univers Condensed Light"/>
                <a:ea typeface="Univers Condensed Light"/>
                <a:cs typeface="Univers Condensed Light"/>
              </a:defRPr>
            </a:pPr>
            <a:r>
              <a:rPr sz="2304">
                <a:solidFill>
                  <a:srgbClr val="FFFFFF"/>
                </a:solidFill>
                <a:latin typeface="Univers Condensed Light"/>
                <a:ea typeface="Univers Condensed Light"/>
                <a:cs typeface="Univers Condensed Light"/>
              </a:rPr>
              <a:t>File reading and</a:t>
            </a:r>
          </a:p>
          <a:p xmlns:a="http://schemas.openxmlformats.org/drawingml/2006/main">
            <a:pPr algn="ctr">
              <a:buNone/>
              <a:defRPr sz="2304">
                <a:solidFill>
                  <a:srgbClr val="FFFFFF"/>
                </a:solidFill>
                <a:latin typeface="Univers Condensed Light"/>
                <a:ea typeface="Univers Condensed Light"/>
                <a:cs typeface="Univers Condensed Light"/>
              </a:defRPr>
            </a:pPr>
            <a:r>
              <a:rPr sz="2304">
                <a:solidFill>
                  <a:srgbClr val="FFFFFF"/>
                </a:solidFill>
                <a:latin typeface="Univers Condensed Light"/>
                <a:ea typeface="Univers Condensed Light"/>
                <a:cs typeface="Univers Condensed Light"/>
              </a:rPr>
              <a:t>byte-count</a:t>
            </a:r>
          </a:p>
          <a:p xmlns:a="http://schemas.openxmlformats.org/drawingml/2006/main">
            <a:pPr algn="ctr">
              <a:buNone/>
              <a:defRPr sz="2304">
                <a:solidFill>
                  <a:srgbClr val="FFFFFF"/>
                </a:solidFill>
                <a:latin typeface="Univers Condensed Light"/>
                <a:ea typeface="Univers Condensed Light"/>
                <a:cs typeface="Univers Condensed Light"/>
              </a:defRPr>
            </a:pPr>
            <a:r>
              <a:rPr sz="2304">
                <a:solidFill>
                  <a:srgbClr val="FFFFFF"/>
                </a:solidFill>
                <a:latin typeface="Univers Condensed Light"/>
                <a:ea typeface="Univers Condensed Light"/>
                <a:cs typeface="Univers Condensed Light"/>
              </a:rPr>
              <a:t>checking</a:t>
            </a:r>
          </a:p>
        </p:txBody>
      </p:sp>
      <p:sp>
        <p:nvSpPr>
          <p:cNvPr id="5" name="Editable workflow step 3">
            <a:extLst xmlns:a="http://schemas.openxmlformats.org/drawingml/2006/main">
              <a:ext uri="{FF2B5EF4-FFF2-40B4-BE49-F238E27FC236}">
                <a16:creationId xmlns:a16="http://schemas.microsoft.com/office/drawing/2014/main" id="{8CE5401A-E479-4FB7-8D03-E4F7FFD7C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9568" y="2171700"/>
            <a:ext cx="2084070" cy="1249680"/>
          </a:xfrm>
          <a:prstGeom xmlns:a="http://schemas.openxmlformats.org/drawingml/2006/main" prst="roundRect">
            <a:avLst>
              <a:gd name="adj" fmla="val 10671"/>
            </a:avLst>
          </a:prstGeom>
          <a:solidFill xmlns:a="http://schemas.openxmlformats.org/drawingml/2006/main">
            <a:srgbClr val="6177B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95250" rIns="95250" bIns="95250" anchor="ctr">
            <a:noAutofit/>
          </a:bodyPr>
          <a:lstStyle xmlns:a="http://schemas.openxmlformats.org/drawingml/2006/main">
            <a:defPPr algn="ctr">
              <a:defRPr sz="2304">
                <a:solidFill>
                  <a:srgbClr val="FFFFFF"/>
                </a:solidFill>
                <a:latin typeface="Univers Condensed Light"/>
                <a:ea typeface="Univers Condensed Light"/>
                <a:cs typeface="Univers Condensed Light"/>
              </a:defRPr>
            </a:defPPr>
          </a:lstStyle>
          <a:p xmlns:a="http://schemas.openxmlformats.org/drawingml/2006/main">
            <a:pPr algn="ctr">
              <a:buNone/>
              <a:defRPr sz="2304">
                <a:solidFill>
                  <a:srgbClr val="FFFFFF"/>
                </a:solidFill>
                <a:latin typeface="Univers Condensed Light"/>
                <a:ea typeface="Univers Condensed Light"/>
                <a:cs typeface="Univers Condensed Light"/>
              </a:defRPr>
            </a:pPr>
            <a:r>
              <a:rPr sz="2304">
                <a:solidFill>
                  <a:srgbClr val="FFFFFF"/>
                </a:solidFill>
                <a:latin typeface="Univers Condensed Light"/>
                <a:ea typeface="Univers Condensed Light"/>
                <a:cs typeface="Univers Condensed Light"/>
              </a:rPr>
              <a:t>Lexer scans</a:t>
            </a:r>
          </a:p>
          <a:p xmlns:a="http://schemas.openxmlformats.org/drawingml/2006/main">
            <a:pPr algn="ctr">
              <a:buNone/>
              <a:defRPr sz="2304">
                <a:solidFill>
                  <a:srgbClr val="FFFFFF"/>
                </a:solidFill>
                <a:latin typeface="Univers Condensed Light"/>
                <a:ea typeface="Univers Condensed Light"/>
                <a:cs typeface="Univers Condensed Light"/>
              </a:defRPr>
            </a:pPr>
            <a:r>
              <a:rPr sz="2304">
                <a:solidFill>
                  <a:srgbClr val="FFFFFF"/>
                </a:solidFill>
                <a:latin typeface="Univers Condensed Light"/>
                <a:ea typeface="Univers Condensed Light"/>
                <a:cs typeface="Univers Condensed Light"/>
              </a:rPr>
              <a:t>characters</a:t>
            </a:r>
          </a:p>
        </p:txBody>
      </p:sp>
      <p:sp>
        <p:nvSpPr>
          <p:cNvPr id="6" name="Editable workflow step 4">
            <a:extLst xmlns:a="http://schemas.openxmlformats.org/drawingml/2006/main">
              <a:ext uri="{FF2B5EF4-FFF2-40B4-BE49-F238E27FC236}">
                <a16:creationId xmlns:a16="http://schemas.microsoft.com/office/drawing/2014/main" id="{550393C9-500A-44BB-89EB-726F7B1E3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9568" y="4252913"/>
            <a:ext cx="2084070" cy="1250633"/>
          </a:xfrm>
          <a:prstGeom xmlns:a="http://schemas.openxmlformats.org/drawingml/2006/main" prst="roundRect">
            <a:avLst>
              <a:gd name="adj" fmla="val 10663"/>
            </a:avLst>
          </a:prstGeom>
          <a:solidFill xmlns:a="http://schemas.openxmlformats.org/drawingml/2006/main">
            <a:srgbClr val="7787B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95250" rIns="95250" bIns="95250" anchor="ctr">
            <a:noAutofit/>
          </a:bodyPr>
          <a:lstStyle xmlns:a="http://schemas.openxmlformats.org/drawingml/2006/main">
            <a:defPPr algn="ctr">
              <a:defRPr sz="2304">
                <a:solidFill>
                  <a:srgbClr val="FFFFFF"/>
                </a:solidFill>
                <a:latin typeface="Univers Condensed Light"/>
                <a:ea typeface="Univers Condensed Light"/>
                <a:cs typeface="Univers Condensed Light"/>
              </a:defRPr>
            </a:defPPr>
          </a:lstStyle>
          <a:p xmlns:a="http://schemas.openxmlformats.org/drawingml/2006/main">
            <a:pPr algn="ctr">
              <a:buNone/>
              <a:defRPr sz="2304">
                <a:solidFill>
                  <a:srgbClr val="FFFFFF"/>
                </a:solidFill>
                <a:latin typeface="Univers Condensed Light"/>
                <a:ea typeface="Univers Condensed Light"/>
                <a:cs typeface="Univers Condensed Light"/>
              </a:defRPr>
            </a:pPr>
            <a:r>
              <a:rPr sz="2304">
                <a:solidFill>
                  <a:srgbClr val="FFFFFF"/>
                </a:solidFill>
                <a:latin typeface="Univers Condensed Light"/>
                <a:ea typeface="Univers Condensed Light"/>
                <a:cs typeface="Univers Condensed Light"/>
              </a:rPr>
              <a:t>Token sequence</a:t>
            </a:r>
          </a:p>
          <a:p xmlns:a="http://schemas.openxmlformats.org/drawingml/2006/main">
            <a:pPr algn="ctr">
              <a:buNone/>
              <a:defRPr sz="2304">
                <a:solidFill>
                  <a:srgbClr val="FFFFFF"/>
                </a:solidFill>
                <a:latin typeface="Univers Condensed Light"/>
                <a:ea typeface="Univers Condensed Light"/>
                <a:cs typeface="Univers Condensed Light"/>
              </a:defRPr>
            </a:pPr>
            <a:r>
              <a:rPr sz="2304">
                <a:solidFill>
                  <a:srgbClr val="FFFFFF"/>
                </a:solidFill>
                <a:latin typeface="Univers Condensed Light"/>
                <a:ea typeface="Univers Condensed Light"/>
                <a:cs typeface="Univers Condensed Light"/>
              </a:rPr>
              <a:t>with source</a:t>
            </a:r>
          </a:p>
          <a:p xmlns:a="http://schemas.openxmlformats.org/drawingml/2006/main">
            <a:pPr algn="ctr">
              <a:buNone/>
              <a:defRPr sz="2304">
                <a:solidFill>
                  <a:srgbClr val="FFFFFF"/>
                </a:solidFill>
                <a:latin typeface="Univers Condensed Light"/>
                <a:ea typeface="Univers Condensed Light"/>
                <a:cs typeface="Univers Condensed Light"/>
              </a:defRPr>
            </a:pPr>
            <a:r>
              <a:rPr sz="2304">
                <a:solidFill>
                  <a:srgbClr val="FFFFFF"/>
                </a:solidFill>
                <a:latin typeface="Univers Condensed Light"/>
                <a:ea typeface="Univers Condensed Light"/>
                <a:cs typeface="Univers Condensed Light"/>
              </a:rPr>
              <a:t>positions</a:t>
            </a:r>
          </a:p>
        </p:txBody>
      </p:sp>
      <p:sp>
        <p:nvSpPr>
          <p:cNvPr id="7" name="Editable workflow step 5">
            <a:extLst xmlns:a="http://schemas.openxmlformats.org/drawingml/2006/main">
              <a:ext uri="{FF2B5EF4-FFF2-40B4-BE49-F238E27FC236}">
                <a16:creationId xmlns:a16="http://schemas.microsoft.com/office/drawing/2014/main" id="{B737431B-E9DD-4EFF-8E05-828EEB914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060" y="4252913"/>
            <a:ext cx="2084070" cy="1250633"/>
          </a:xfrm>
          <a:prstGeom xmlns:a="http://schemas.openxmlformats.org/drawingml/2006/main" prst="roundRect">
            <a:avLst>
              <a:gd name="adj" fmla="val 10663"/>
            </a:avLst>
          </a:prstGeom>
          <a:solidFill xmlns:a="http://schemas.openxmlformats.org/drawingml/2006/main">
            <a:srgbClr val="8B98C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95250" rIns="95250" bIns="95250" anchor="ctr">
            <a:noAutofit/>
          </a:bodyPr>
          <a:lstStyle xmlns:a="http://schemas.openxmlformats.org/drawingml/2006/main">
            <a:defPPr algn="ctr">
              <a:defRPr sz="2304">
                <a:solidFill>
                  <a:srgbClr val="FFFFFF"/>
                </a:solidFill>
                <a:latin typeface="Univers Condensed Light"/>
                <a:ea typeface="Univers Condensed Light"/>
                <a:cs typeface="Univers Condensed Light"/>
              </a:defRPr>
            </a:defPPr>
          </a:lstStyle>
          <a:p xmlns:a="http://schemas.openxmlformats.org/drawingml/2006/main">
            <a:pPr algn="ctr">
              <a:buNone/>
              <a:defRPr sz="2304">
                <a:solidFill>
                  <a:srgbClr val="FFFFFF"/>
                </a:solidFill>
                <a:latin typeface="Univers Condensed Light"/>
                <a:ea typeface="Univers Condensed Light"/>
                <a:cs typeface="Univers Condensed Light"/>
              </a:defRPr>
            </a:pPr>
            <a:r>
              <a:rPr sz="2304">
                <a:solidFill>
                  <a:srgbClr val="FFFFFF"/>
                </a:solidFill>
                <a:latin typeface="Univers Condensed Light"/>
                <a:ea typeface="Univers Condensed Light"/>
                <a:cs typeface="Univers Condensed Light"/>
              </a:rPr>
              <a:t>Token table</a:t>
            </a:r>
          </a:p>
        </p:txBody>
      </p:sp>
      <p:sp>
        <p:nvSpPr>
          <p:cNvPr id="8" name="Editable workflow step 6">
            <a:extLst xmlns:a="http://schemas.openxmlformats.org/drawingml/2006/main">
              <a:ext uri="{FF2B5EF4-FFF2-40B4-BE49-F238E27FC236}">
                <a16:creationId xmlns:a16="http://schemas.microsoft.com/office/drawing/2014/main" id="{FC8DD530-6528-4EB5-956C-E0892A1F5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252913"/>
            <a:ext cx="2084070" cy="1250633"/>
          </a:xfrm>
          <a:prstGeom xmlns:a="http://schemas.openxmlformats.org/drawingml/2006/main" prst="roundRect">
            <a:avLst>
              <a:gd name="adj" fmla="val 10663"/>
            </a:avLst>
          </a:prstGeom>
          <a:solidFill xmlns:a="http://schemas.openxmlformats.org/drawingml/2006/main">
            <a:srgbClr val="9FA8C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95250" rIns="95250" bIns="95250" anchor="ctr">
            <a:noAutofit/>
          </a:bodyPr>
          <a:lstStyle xmlns:a="http://schemas.openxmlformats.org/drawingml/2006/main">
            <a:defPPr algn="ctr">
              <a:defRPr sz="2304">
                <a:solidFill>
                  <a:srgbClr val="FFFFFF"/>
                </a:solidFill>
                <a:latin typeface="Univers Condensed Light"/>
                <a:ea typeface="Univers Condensed Light"/>
                <a:cs typeface="Univers Condensed Light"/>
              </a:defRPr>
            </a:defPPr>
          </a:lstStyle>
          <a:p xmlns:a="http://schemas.openxmlformats.org/drawingml/2006/main">
            <a:pPr algn="ctr">
              <a:buNone/>
              <a:defRPr sz="2304">
                <a:solidFill>
                  <a:srgbClr val="FFFFFF"/>
                </a:solidFill>
                <a:latin typeface="Univers Condensed Light"/>
                <a:ea typeface="Univers Condensed Light"/>
                <a:cs typeface="Univers Condensed Light"/>
              </a:defRPr>
            </a:pPr>
            <a:r>
              <a:rPr sz="2304">
                <a:solidFill>
                  <a:srgbClr val="FFFFFF"/>
                </a:solidFill>
                <a:latin typeface="Univers Condensed Light"/>
                <a:ea typeface="Univers Condensed Light"/>
                <a:cs typeface="Univers Condensed Light"/>
              </a:rPr>
              <a:t>Explanatory</a:t>
            </a:r>
          </a:p>
          <a:p xmlns:a="http://schemas.openxmlformats.org/drawingml/2006/main">
            <a:pPr algn="ctr">
              <a:buNone/>
              <a:defRPr sz="2304">
                <a:solidFill>
                  <a:srgbClr val="FFFFFF"/>
                </a:solidFill>
                <a:latin typeface="Univers Condensed Light"/>
                <a:ea typeface="Univers Condensed Light"/>
                <a:cs typeface="Univers Condensed Light"/>
              </a:defRPr>
            </a:pPr>
            <a:r>
              <a:rPr sz="2304">
                <a:solidFill>
                  <a:srgbClr val="FFFFFF"/>
                </a:solidFill>
                <a:latin typeface="Univers Condensed Light"/>
                <a:ea typeface="Univers Condensed Light"/>
                <a:cs typeface="Univers Condensed Light"/>
              </a:rPr>
              <a:t>diagnostics and</a:t>
            </a:r>
          </a:p>
          <a:p xmlns:a="http://schemas.openxmlformats.org/drawingml/2006/main">
            <a:pPr algn="ctr">
              <a:buNone/>
              <a:defRPr sz="2304">
                <a:solidFill>
                  <a:srgbClr val="FFFFFF"/>
                </a:solidFill>
                <a:latin typeface="Univers Condensed Light"/>
                <a:ea typeface="Univers Condensed Light"/>
                <a:cs typeface="Univers Condensed Light"/>
              </a:defRPr>
            </a:pPr>
            <a:r>
              <a:rPr sz="2304">
                <a:solidFill>
                  <a:srgbClr val="FFFFFF"/>
                </a:solidFill>
                <a:latin typeface="Univers Condensed Light"/>
                <a:ea typeface="Univers Condensed Light"/>
                <a:cs typeface="Univers Condensed Light"/>
              </a:rPr>
              <a:t>summary</a:t>
            </a:r>
          </a:p>
        </p:txBody>
      </p:sp>
      <p:sp>
        <p:nvSpPr>
          <p:cNvPr id="9" name="Editable workflow arrow">
            <a:extLst xmlns:a="http://schemas.openxmlformats.org/drawingml/2006/main">
              <a:ext uri="{FF2B5EF4-FFF2-40B4-BE49-F238E27FC236}">
                <a16:creationId xmlns:a16="http://schemas.microsoft.com/office/drawing/2014/main" id="{DDA0A6ED-2671-484C-AD73-085B562E5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0545" y="2596515"/>
            <a:ext cx="3810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D67A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Editable workflow arrow">
            <a:extLst xmlns:a="http://schemas.openxmlformats.org/drawingml/2006/main">
              <a:ext uri="{FF2B5EF4-FFF2-40B4-BE49-F238E27FC236}">
                <a16:creationId xmlns:a16="http://schemas.microsoft.com/office/drawing/2014/main" id="{97D6EB53-478D-4D9C-AE04-612D8D533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9005" y="2596515"/>
            <a:ext cx="3810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177B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Editable workflow arrow">
            <a:extLst xmlns:a="http://schemas.openxmlformats.org/drawingml/2006/main">
              <a:ext uri="{FF2B5EF4-FFF2-40B4-BE49-F238E27FC236}">
                <a16:creationId xmlns:a16="http://schemas.microsoft.com/office/drawing/2014/main" id="{6FBC1865-E86D-4FEF-B841-DD0EAE72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1578" y="3592830"/>
            <a:ext cx="400050" cy="3619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787B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Editable workflow arrow">
            <a:extLst xmlns:a="http://schemas.openxmlformats.org/drawingml/2006/main">
              <a:ext uri="{FF2B5EF4-FFF2-40B4-BE49-F238E27FC236}">
                <a16:creationId xmlns:a16="http://schemas.microsoft.com/office/drawing/2014/main" id="{95CF90EA-ED6E-4560-B4D9-5E32A1066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9005" y="4678204"/>
            <a:ext cx="381000" cy="4000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8B98C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Editable workflow arrow">
            <a:extLst xmlns:a="http://schemas.openxmlformats.org/drawingml/2006/main">
              <a:ext uri="{FF2B5EF4-FFF2-40B4-BE49-F238E27FC236}">
                <a16:creationId xmlns:a16="http://schemas.microsoft.com/office/drawing/2014/main" id="{CCDF745B-2C47-4A8D-AECB-AEBA2E29E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0545" y="4678204"/>
            <a:ext cx="381000" cy="4000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9FA8C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203498051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 title">
            <a:extLst xmlns:a="http://schemas.openxmlformats.org/drawingml/2006/main">
              <a:ext uri="{FF2B5EF4-FFF2-40B4-BE49-F238E27FC236}">
                <a16:creationId xmlns:a16="http://schemas.microsoft.com/office/drawing/2014/main" id="{94DA78BB-3995-4E1E-BABC-2154CCAEB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752475"/>
            <a:ext cx="1081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404" b="0">
                <a:solidFill>
                  <a:srgbClr val="5AA2AE"/>
                </a:solidFill>
                <a:latin typeface="Oswald SemiBold"/>
                <a:ea typeface="Oswald SemiBold"/>
                <a:cs typeface="Oswald SemiBold"/>
              </a:defRPr>
            </a:defPPr>
          </a:lstStyle>
          <a:p xmlns:a="http://schemas.openxmlformats.org/drawingml/2006/main">
            <a:pPr algn="l">
              <a:buNone/>
              <a:defRPr sz="4404" b="0">
                <a:solidFill>
                  <a:srgbClr val="5AA2AE"/>
                </a:solidFill>
                <a:latin typeface="Oswald SemiBold"/>
                <a:ea typeface="Oswald SemiBold"/>
                <a:cs typeface="Oswald SemiBold"/>
              </a:defRPr>
            </a:pPr>
            <a:r>
              <a:rPr sz="4404" b="0">
                <a:solidFill>
                  <a:srgbClr val="5AA2AE"/>
                </a:solidFill>
                <a:latin typeface="Oswald SemiBold"/>
                <a:ea typeface="Oswald SemiBold"/>
                <a:cs typeface="Oswald SemiBold"/>
              </a:rPr>
              <a:t>WORKING OF THE PROGRAM</a:t>
            </a:r>
          </a:p>
        </p:txBody>
      </p:sp>
      <p:sp>
        <p:nvSpPr>
          <p:cNvPr id="2" name="Template footer rule">
            <a:extLst xmlns:a="http://schemas.openxmlformats.org/drawingml/2006/main">
              <a:ext uri="{FF2B5EF4-FFF2-40B4-BE49-F238E27FC236}">
                <a16:creationId xmlns:a16="http://schemas.microsoft.com/office/drawing/2014/main" id="{7D4C9667-E92D-41C2-9CD1-B8E6CF76B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8" y="6215063"/>
            <a:ext cx="10802303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66A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he lexer maintains a current character index">
            <a:extLst xmlns:a="http://schemas.openxmlformats.org/drawingml/2006/main">
              <a:ext uri="{FF2B5EF4-FFF2-40B4-BE49-F238E27FC236}">
                <a16:creationId xmlns:a16="http://schemas.microsoft.com/office/drawing/2014/main" id="{66B50F55-3459-44F7-BA2E-A70C09062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80975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4" b="0">
                <a:solidFill>
                  <a:srgbClr val="262557"/>
                </a:solidFill>
                <a:latin typeface="Univers Condensed Light"/>
                <a:ea typeface="Univers Condensed Light"/>
                <a:cs typeface="Univers Condensed Light"/>
              </a:defRPr>
            </a:defPPr>
          </a:lstStyle>
          <a:p xmlns:a="http://schemas.openxmlformats.org/drawingml/2006/main">
            <a:pPr algn="l">
              <a:buNone/>
              <a:defRPr sz="2004" b="0">
                <a:solidFill>
                  <a:srgbClr val="262557"/>
                </a:solidFill>
                <a:latin typeface="Univers Condensed Light"/>
                <a:ea typeface="Univers Condensed Light"/>
                <a:cs typeface="Univers Condensed Light"/>
              </a:defRPr>
            </a:pPr>
            <a:r>
              <a:rPr sz="2004" b="0">
                <a:solidFill>
                  <a:srgbClr val="262557"/>
                </a:solidFill>
                <a:latin typeface="Univers Condensed Light"/>
                <a:ea typeface="Univers Condensed Light"/>
                <a:cs typeface="Univers Condensed Light"/>
              </a:rPr>
              <a:t>The lexer maintains a current character index, line number, and column number. It examines characters to determine</a:t>
            </a:r>
          </a:p>
        </p:txBody>
      </p:sp>
      <p:sp>
        <p:nvSpPr>
          <p:cNvPr id="4" name="whether they begin an identifier, number, cha">
            <a:extLst xmlns:a="http://schemas.openxmlformats.org/drawingml/2006/main">
              <a:ext uri="{FF2B5EF4-FFF2-40B4-BE49-F238E27FC236}">
                <a16:creationId xmlns:a16="http://schemas.microsoft.com/office/drawing/2014/main" id="{DDF7644B-B2F0-45B1-9E3F-254F588BC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7170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4" b="0">
                <a:solidFill>
                  <a:srgbClr val="262557"/>
                </a:solidFill>
                <a:latin typeface="Univers Condensed Light"/>
                <a:ea typeface="Univers Condensed Light"/>
                <a:cs typeface="Univers Condensed Light"/>
              </a:defRPr>
            </a:defPPr>
          </a:lstStyle>
          <a:p xmlns:a="http://schemas.openxmlformats.org/drawingml/2006/main">
            <a:pPr algn="l">
              <a:buNone/>
              <a:defRPr sz="2004" b="0">
                <a:solidFill>
                  <a:srgbClr val="262557"/>
                </a:solidFill>
                <a:latin typeface="Univers Condensed Light"/>
                <a:ea typeface="Univers Condensed Light"/>
                <a:cs typeface="Univers Condensed Light"/>
              </a:defRPr>
            </a:pPr>
            <a:r>
              <a:rPr sz="2004" b="0">
                <a:solidFill>
                  <a:srgbClr val="262557"/>
                </a:solidFill>
                <a:latin typeface="Univers Condensed Light"/>
                <a:ea typeface="Univers Condensed Light"/>
                <a:cs typeface="Univers Condensed Light"/>
              </a:rPr>
              <a:t>whether they begin an identifier, number, character literal, operator, or delimiter.</a:t>
            </a:r>
          </a:p>
        </p:txBody>
      </p:sp>
      <p:sp>
        <p:nvSpPr>
          <p:cNvPr id="5" name="For two-character operators such as &gt;= and &amp;&amp;">
            <a:extLst xmlns:a="http://schemas.openxmlformats.org/drawingml/2006/main">
              <a:ext uri="{FF2B5EF4-FFF2-40B4-BE49-F238E27FC236}">
                <a16:creationId xmlns:a16="http://schemas.microsoft.com/office/drawing/2014/main" id="{753BE141-21CA-4785-8FD6-9516E3B50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6700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4" b="0">
                <a:solidFill>
                  <a:srgbClr val="262557"/>
                </a:solidFill>
                <a:latin typeface="Univers Condensed Light"/>
                <a:ea typeface="Univers Condensed Light"/>
                <a:cs typeface="Univers Condensed Light"/>
              </a:defRPr>
            </a:defPPr>
          </a:lstStyle>
          <a:p xmlns:a="http://schemas.openxmlformats.org/drawingml/2006/main">
            <a:pPr algn="l">
              <a:buNone/>
              <a:defRPr sz="2004" b="0">
                <a:solidFill>
                  <a:srgbClr val="262557"/>
                </a:solidFill>
                <a:latin typeface="Univers Condensed Light"/>
                <a:ea typeface="Univers Condensed Light"/>
                <a:cs typeface="Univers Condensed Light"/>
              </a:defRPr>
            </a:pPr>
            <a:r>
              <a:rPr sz="2004" b="0">
                <a:solidFill>
                  <a:srgbClr val="262557"/>
                </a:solidFill>
                <a:latin typeface="Univers Condensed Light"/>
                <a:ea typeface="Univers Condensed Light"/>
                <a:cs typeface="Univers Condensed Light"/>
              </a:rPr>
              <a:t>For two-character operators such as &gt;= and &amp;&amp;, it examines the following character before deciding which token to</a:t>
            </a:r>
          </a:p>
        </p:txBody>
      </p:sp>
      <p:sp>
        <p:nvSpPr>
          <p:cNvPr id="6" name="produce.">
            <a:extLst xmlns:a="http://schemas.openxmlformats.org/drawingml/2006/main">
              <a:ext uri="{FF2B5EF4-FFF2-40B4-BE49-F238E27FC236}">
                <a16:creationId xmlns:a16="http://schemas.microsoft.com/office/drawing/2014/main" id="{C5F393BF-DFDB-4862-9CCF-FE8491D12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02895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4" b="0">
                <a:solidFill>
                  <a:srgbClr val="262557"/>
                </a:solidFill>
                <a:latin typeface="Univers Condensed Light"/>
                <a:ea typeface="Univers Condensed Light"/>
                <a:cs typeface="Univers Condensed Light"/>
              </a:defRPr>
            </a:defPPr>
          </a:lstStyle>
          <a:p xmlns:a="http://schemas.openxmlformats.org/drawingml/2006/main">
            <a:pPr algn="l">
              <a:buNone/>
              <a:defRPr sz="2004" b="0">
                <a:solidFill>
                  <a:srgbClr val="262557"/>
                </a:solidFill>
                <a:latin typeface="Univers Condensed Light"/>
                <a:ea typeface="Univers Condensed Light"/>
                <a:cs typeface="Univers Condensed Light"/>
              </a:defRPr>
            </a:pPr>
            <a:r>
              <a:rPr sz="2004" b="0">
                <a:solidFill>
                  <a:srgbClr val="262557"/>
                </a:solidFill>
                <a:latin typeface="Univers Condensed Light"/>
                <a:ea typeface="Univers Condensed Light"/>
                <a:cs typeface="Univers Condensed Light"/>
              </a:rPr>
              <a:t>produce.</a:t>
            </a:r>
          </a:p>
        </p:txBody>
      </p:sp>
      <p:sp>
        <p:nvSpPr>
          <p:cNvPr id="7" name="When an occur, the following information is r">
            <a:extLst xmlns:a="http://schemas.openxmlformats.org/drawingml/2006/main">
              <a:ext uri="{FF2B5EF4-FFF2-40B4-BE49-F238E27FC236}">
                <a16:creationId xmlns:a16="http://schemas.microsoft.com/office/drawing/2014/main" id="{F09C4C0E-08B7-46D4-BA2B-98D838F92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533775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4" b="0">
                <a:solidFill>
                  <a:srgbClr val="262557"/>
                </a:solidFill>
                <a:latin typeface="Univers Condensed Light"/>
                <a:ea typeface="Univers Condensed Light"/>
                <a:cs typeface="Univers Condensed Light"/>
              </a:defRPr>
            </a:defPPr>
          </a:lstStyle>
          <a:p xmlns:a="http://schemas.openxmlformats.org/drawingml/2006/main">
            <a:pPr algn="l">
              <a:buNone/>
              <a:defRPr sz="2004" b="0">
                <a:solidFill>
                  <a:srgbClr val="262557"/>
                </a:solidFill>
                <a:latin typeface="Univers Condensed Light"/>
                <a:ea typeface="Univers Condensed Light"/>
                <a:cs typeface="Univers Condensed Light"/>
              </a:defRPr>
            </a:pPr>
            <a:r>
              <a:rPr sz="2004" b="0">
                <a:solidFill>
                  <a:srgbClr val="262557"/>
                </a:solidFill>
                <a:latin typeface="Univers Condensed Light"/>
                <a:ea typeface="Univers Condensed Light"/>
                <a:cs typeface="Univers Condensed Light"/>
              </a:rPr>
              <a:t>When an occur, the following information is received:</a:t>
            </a:r>
          </a:p>
        </p:txBody>
      </p:sp>
      <p:sp>
        <p:nvSpPr>
          <p:cNvPr id="8" name="Editable bullet list">
            <a:extLst xmlns:a="http://schemas.openxmlformats.org/drawingml/2006/main">
              <a:ext uri="{FF2B5EF4-FFF2-40B4-BE49-F238E27FC236}">
                <a16:creationId xmlns:a16="http://schemas.microsoft.com/office/drawing/2014/main" id="{4B9AE450-5C49-46CC-ADD7-2CBABD885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981450"/>
            <a:ext cx="10668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04" b="0">
                <a:solidFill>
                  <a:srgbClr val="262557"/>
                </a:solidFill>
                <a:latin typeface="Univers Condensed Light"/>
                <a:ea typeface="Univers Condensed Light"/>
                <a:cs typeface="Univers Condensed Light"/>
              </a:defRPr>
            </a:defPPr>
          </a:lstStyle>
          <a:p xmlns:a="http://schemas.openxmlformats.org/drawingml/2006/main">
            <a:pPr marL="228600" indent="-165100" algn="l">
              <a:spcAft>
                <a:spcPts val="1100"/>
              </a:spcAft>
              <a:buChar char="•"/>
              <a:defRPr sz="2004" b="0">
                <a:solidFill>
                  <a:srgbClr val="262557"/>
                </a:solidFill>
                <a:latin typeface="Univers Condensed Light"/>
                <a:ea typeface="Univers Condensed Light"/>
                <a:cs typeface="Univers Condensed Light"/>
              </a:defRPr>
            </a:pPr>
            <a:r>
              <a:rPr sz="2004">
                <a:solidFill>
                  <a:srgbClr val="262557"/>
                </a:solidFill>
                <a:latin typeface="Univers Condensed Light"/>
                <a:ea typeface="Univers Condensed Light"/>
                <a:cs typeface="Univers Condensed Light"/>
              </a:rPr>
              <a:t>The error’s line and column.</a:t>
            </a:r>
          </a:p>
          <a:p xmlns:a="http://schemas.openxmlformats.org/drawingml/2006/main">
            <a:pPr marL="228600" indent="-165100" algn="l">
              <a:spcAft>
                <a:spcPts val="1100"/>
              </a:spcAft>
              <a:buChar char="•"/>
              <a:defRPr sz="2004" b="0">
                <a:solidFill>
                  <a:srgbClr val="262557"/>
                </a:solidFill>
                <a:latin typeface="Univers Condensed Light"/>
                <a:ea typeface="Univers Condensed Light"/>
                <a:cs typeface="Univers Condensed Light"/>
              </a:defRPr>
            </a:pPr>
            <a:r>
              <a:rPr sz="2004">
                <a:solidFill>
                  <a:srgbClr val="262557"/>
                </a:solidFill>
                <a:latin typeface="Univers Condensed Light"/>
                <a:ea typeface="Univers Condensed Light"/>
                <a:cs typeface="Univers Condensed Light"/>
              </a:rPr>
              <a:t>The relevant source line.</a:t>
            </a:r>
          </a:p>
          <a:p xmlns:a="http://schemas.openxmlformats.org/drawingml/2006/main">
            <a:pPr marL="228600" indent="-165100" algn="l">
              <a:spcAft>
                <a:spcPts val="1100"/>
              </a:spcAft>
              <a:buChar char="•"/>
              <a:defRPr sz="2004" b="0">
                <a:solidFill>
                  <a:srgbClr val="262557"/>
                </a:solidFill>
                <a:latin typeface="Univers Condensed Light"/>
                <a:ea typeface="Univers Condensed Light"/>
                <a:cs typeface="Univers Condensed Light"/>
              </a:defRPr>
            </a:pPr>
            <a:r>
              <a:rPr sz="2004">
                <a:solidFill>
                  <a:srgbClr val="262557"/>
                </a:solidFill>
                <a:latin typeface="Univers Condensed Light"/>
                <a:ea typeface="Univers Condensed Light"/>
                <a:cs typeface="Univers Condensed Light"/>
              </a:rPr>
              <a:t>A caret pointing to the offending character.</a:t>
            </a:r>
          </a:p>
          <a:p xmlns:a="http://schemas.openxmlformats.org/drawingml/2006/main">
            <a:pPr marL="228600" indent="-165100" algn="l">
              <a:spcAft>
                <a:spcPts val="1100"/>
              </a:spcAft>
              <a:buChar char="•"/>
              <a:defRPr sz="2004" b="0">
                <a:solidFill>
                  <a:srgbClr val="262557"/>
                </a:solidFill>
                <a:latin typeface="Univers Condensed Light"/>
                <a:ea typeface="Univers Condensed Light"/>
                <a:cs typeface="Univers Condensed Light"/>
              </a:defRPr>
            </a:pPr>
            <a:r>
              <a:rPr sz="2004">
                <a:solidFill>
                  <a:srgbClr val="262557"/>
                </a:solidFill>
                <a:latin typeface="Univers Condensed Light"/>
                <a:ea typeface="Univers Condensed Light"/>
                <a:cs typeface="Univers Condensed Light"/>
              </a:rPr>
              <a:t>An explanation.</a:t>
            </a:r>
          </a:p>
          <a:p xmlns:a="http://schemas.openxmlformats.org/drawingml/2006/main">
            <a:pPr marL="228600" indent="-165100" algn="l">
              <a:spcAft>
                <a:spcPts val="1100"/>
              </a:spcAft>
              <a:buChar char="•"/>
              <a:defRPr sz="2004" b="0">
                <a:solidFill>
                  <a:srgbClr val="262557"/>
                </a:solidFill>
                <a:latin typeface="Univers Condensed Light"/>
                <a:ea typeface="Univers Condensed Light"/>
                <a:cs typeface="Univers Condensed Light"/>
              </a:defRPr>
            </a:pPr>
            <a:r>
              <a:rPr sz="2004">
                <a:solidFill>
                  <a:srgbClr val="262557"/>
                </a:solidFill>
                <a:latin typeface="Univers Condensed Light"/>
                <a:ea typeface="Univers Condensed Light"/>
                <a:cs typeface="Univers Condensed Light"/>
              </a:rPr>
              <a:t>A possible correction.</a:t>
            </a:r>
          </a:p>
        </p:txBody>
      </p:sp>
    </p:spTree>
    <p:extLst>
      <p:ext uri="{BB962C8B-B14F-4D97-AF65-F5344CB8AC3E}">
        <p14:creationId xmlns:p14="http://schemas.microsoft.com/office/powerpoint/2010/main" val="13079425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 title">
            <a:extLst xmlns:a="http://schemas.openxmlformats.org/drawingml/2006/main">
              <a:ext uri="{FF2B5EF4-FFF2-40B4-BE49-F238E27FC236}">
                <a16:creationId xmlns:a16="http://schemas.microsoft.com/office/drawing/2014/main" id="{80EB8DE8-B1E4-46A1-BC13-420E49EEB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752475"/>
            <a:ext cx="1081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404" b="0">
                <a:solidFill>
                  <a:srgbClr val="5AA2AE"/>
                </a:solidFill>
                <a:latin typeface="Oswald SemiBold"/>
                <a:ea typeface="Oswald SemiBold"/>
                <a:cs typeface="Oswald SemiBold"/>
              </a:defRPr>
            </a:defPPr>
          </a:lstStyle>
          <a:p xmlns:a="http://schemas.openxmlformats.org/drawingml/2006/main">
            <a:pPr algn="l">
              <a:buNone/>
              <a:defRPr sz="4404" b="0">
                <a:solidFill>
                  <a:srgbClr val="5AA2AE"/>
                </a:solidFill>
                <a:latin typeface="Oswald SemiBold"/>
                <a:ea typeface="Oswald SemiBold"/>
                <a:cs typeface="Oswald SemiBold"/>
              </a:defRPr>
            </a:pPr>
            <a:r>
              <a:rPr sz="4404" b="0">
                <a:solidFill>
                  <a:srgbClr val="5AA2AE"/>
                </a:solidFill>
                <a:latin typeface="Oswald SemiBold"/>
                <a:ea typeface="Oswald SemiBold"/>
                <a:cs typeface="Oswald SemiBold"/>
              </a:rPr>
              <a:t>WORKING OF THE PROGRAM</a:t>
            </a:r>
          </a:p>
        </p:txBody>
      </p:sp>
      <p:sp>
        <p:nvSpPr>
          <p:cNvPr id="2" name="Template footer rule">
            <a:extLst xmlns:a="http://schemas.openxmlformats.org/drawingml/2006/main">
              <a:ext uri="{FF2B5EF4-FFF2-40B4-BE49-F238E27FC236}">
                <a16:creationId xmlns:a16="http://schemas.microsoft.com/office/drawing/2014/main" id="{2EC19A3A-C140-41D1-840C-DEA0D7EE7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8" y="6215063"/>
            <a:ext cx="10802303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66A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Input and output:">
            <a:extLst xmlns:a="http://schemas.openxmlformats.org/drawingml/2006/main">
              <a:ext uri="{FF2B5EF4-FFF2-40B4-BE49-F238E27FC236}">
                <a16:creationId xmlns:a16="http://schemas.microsoft.com/office/drawing/2014/main" id="{D355690E-5DC6-4CE9-B62C-9BD854727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819275"/>
            <a:ext cx="5286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04" b="1">
                <a:solidFill>
                  <a:srgbClr val="262557"/>
                </a:solidFill>
                <a:latin typeface="Univers Condensed Light"/>
                <a:ea typeface="Univers Condensed Light"/>
                <a:cs typeface="Univers Condensed Light"/>
              </a:defRPr>
            </a:defPPr>
          </a:lstStyle>
          <a:p xmlns:a="http://schemas.openxmlformats.org/drawingml/2006/main">
            <a:pPr algn="l">
              <a:buNone/>
              <a:defRPr sz="2004" b="1">
                <a:solidFill>
                  <a:srgbClr val="262557"/>
                </a:solidFill>
                <a:latin typeface="Univers Condensed Light"/>
                <a:ea typeface="Univers Condensed Light"/>
                <a:cs typeface="Univers Condensed Light"/>
              </a:defRPr>
            </a:pPr>
            <a:r>
              <a:rPr sz="2004" b="1">
                <a:solidFill>
                  <a:srgbClr val="262557"/>
                </a:solidFill>
                <a:latin typeface="Univers Condensed Light"/>
                <a:ea typeface="Univers Condensed Light"/>
                <a:cs typeface="Univers Condensed Light"/>
              </a:rPr>
              <a:t>Input and output:</a:t>
            </a:r>
          </a:p>
        </p:txBody>
      </p:sp>
      <p:sp>
        <p:nvSpPr>
          <p:cNvPr id="4" name="The input is a .txt file containing source co">
            <a:extLst xmlns:a="http://schemas.openxmlformats.org/drawingml/2006/main">
              <a:ext uri="{FF2B5EF4-FFF2-40B4-BE49-F238E27FC236}">
                <a16:creationId xmlns:a16="http://schemas.microsoft.com/office/drawing/2014/main" id="{DD5D840E-FC55-41F5-A265-EDBA02941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314575"/>
            <a:ext cx="5286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04" b="0">
                <a:solidFill>
                  <a:srgbClr val="262557"/>
                </a:solidFill>
                <a:latin typeface="Univers Condensed Light"/>
                <a:ea typeface="Univers Condensed Light"/>
                <a:cs typeface="Univers Condensed Light"/>
              </a:defRPr>
            </a:defPPr>
          </a:lstStyle>
          <a:p xmlns:a="http://schemas.openxmlformats.org/drawingml/2006/main">
            <a:pPr algn="l">
              <a:buNone/>
              <a:defRPr sz="2004" b="0">
                <a:solidFill>
                  <a:srgbClr val="262557"/>
                </a:solidFill>
                <a:latin typeface="Univers Condensed Light"/>
                <a:ea typeface="Univers Condensed Light"/>
                <a:cs typeface="Univers Condensed Light"/>
              </a:defRPr>
            </a:pPr>
            <a:r>
              <a:rPr sz="2004" b="0">
                <a:solidFill>
                  <a:srgbClr val="262557"/>
                </a:solidFill>
                <a:latin typeface="Univers Condensed Light"/>
                <a:ea typeface="Univers Condensed Light"/>
                <a:cs typeface="Univers Condensed Light"/>
              </a:rPr>
              <a:t>The input is a .txt file containing source code in the</a:t>
            </a:r>
          </a:p>
          <a:p xmlns:a="http://schemas.openxmlformats.org/drawingml/2006/main">
            <a:pPr algn="l">
              <a:buNone/>
              <a:defRPr sz="2004" b="0">
                <a:solidFill>
                  <a:srgbClr val="262557"/>
                </a:solidFill>
                <a:latin typeface="Univers Condensed Light"/>
                <a:ea typeface="Univers Condensed Light"/>
                <a:cs typeface="Univers Condensed Light"/>
              </a:defRPr>
            </a:pPr>
            <a:r>
              <a:rPr sz="2004" b="0">
                <a:solidFill>
                  <a:srgbClr val="262557"/>
                </a:solidFill>
                <a:latin typeface="Univers Condensed Light"/>
                <a:ea typeface="Univers Condensed Light"/>
                <a:cs typeface="Univers Condensed Light"/>
              </a:rPr>
              <a:t>project’s C-like language.</a:t>
            </a:r>
          </a:p>
        </p:txBody>
      </p:sp>
      <p:sp>
        <p:nvSpPr>
          <p:cNvPr id="5" name="The output contains:">
            <a:extLst xmlns:a="http://schemas.openxmlformats.org/drawingml/2006/main">
              <a:ext uri="{FF2B5EF4-FFF2-40B4-BE49-F238E27FC236}">
                <a16:creationId xmlns:a16="http://schemas.microsoft.com/office/drawing/2014/main" id="{5CF46D45-00A7-4D7A-ADF6-B3C8135C9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171825"/>
            <a:ext cx="5286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04" b="0">
                <a:solidFill>
                  <a:srgbClr val="262557"/>
                </a:solidFill>
                <a:latin typeface="Univers Condensed Light"/>
                <a:ea typeface="Univers Condensed Light"/>
                <a:cs typeface="Univers Condensed Light"/>
              </a:defRPr>
            </a:defPPr>
          </a:lstStyle>
          <a:p xmlns:a="http://schemas.openxmlformats.org/drawingml/2006/main">
            <a:pPr algn="l">
              <a:buNone/>
              <a:defRPr sz="2004" b="0">
                <a:solidFill>
                  <a:srgbClr val="262557"/>
                </a:solidFill>
                <a:latin typeface="Univers Condensed Light"/>
                <a:ea typeface="Univers Condensed Light"/>
                <a:cs typeface="Univers Condensed Light"/>
              </a:defRPr>
            </a:pPr>
            <a:r>
              <a:rPr sz="2004" b="0">
                <a:solidFill>
                  <a:srgbClr val="262557"/>
                </a:solidFill>
                <a:latin typeface="Univers Condensed Light"/>
                <a:ea typeface="Univers Condensed Light"/>
                <a:cs typeface="Univers Condensed Light"/>
              </a:rPr>
              <a:t>The output contains:</a:t>
            </a:r>
          </a:p>
        </p:txBody>
      </p:sp>
      <p:sp>
        <p:nvSpPr>
          <p:cNvPr id="6" name="Editable bullet list">
            <a:extLst xmlns:a="http://schemas.openxmlformats.org/drawingml/2006/main">
              <a:ext uri="{FF2B5EF4-FFF2-40B4-BE49-F238E27FC236}">
                <a16:creationId xmlns:a16="http://schemas.microsoft.com/office/drawing/2014/main" id="{571DC78F-7E1A-4B4E-BF06-DBA903E30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648075"/>
            <a:ext cx="5314950" cy="2486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04" b="0">
                <a:solidFill>
                  <a:srgbClr val="262557"/>
                </a:solidFill>
                <a:latin typeface="Univers Condensed Light"/>
                <a:ea typeface="Univers Condensed Light"/>
                <a:cs typeface="Univers Condensed Light"/>
              </a:defRPr>
            </a:defPPr>
          </a:lstStyle>
          <a:p xmlns:a="http://schemas.openxmlformats.org/drawingml/2006/main">
            <a:pPr marL="228600" indent="-165100" algn="l">
              <a:spcAft>
                <a:spcPts val="960"/>
              </a:spcAft>
              <a:buChar char="•"/>
              <a:defRPr sz="2004" b="0">
                <a:solidFill>
                  <a:srgbClr val="262557"/>
                </a:solidFill>
                <a:latin typeface="Univers Condensed Light"/>
                <a:ea typeface="Univers Condensed Light"/>
                <a:cs typeface="Univers Condensed Light"/>
              </a:defRPr>
            </a:pPr>
            <a:r>
              <a:rPr sz="2004">
                <a:solidFill>
                  <a:srgbClr val="262557"/>
                </a:solidFill>
                <a:latin typeface="Univers Condensed Light"/>
                <a:ea typeface="Univers Condensed Light"/>
                <a:cs typeface="Univers Condensed Light"/>
              </a:rPr>
              <a:t>Input filename.</a:t>
            </a:r>
          </a:p>
          <a:p xmlns:a="http://schemas.openxmlformats.org/drawingml/2006/main">
            <a:pPr marL="228600" indent="-165100" algn="l">
              <a:spcAft>
                <a:spcPts val="960"/>
              </a:spcAft>
              <a:buChar char="•"/>
              <a:defRPr sz="2004" b="0">
                <a:solidFill>
                  <a:srgbClr val="262557"/>
                </a:solidFill>
                <a:latin typeface="Univers Condensed Light"/>
                <a:ea typeface="Univers Condensed Light"/>
                <a:cs typeface="Univers Condensed Light"/>
              </a:defRPr>
            </a:pPr>
            <a:r>
              <a:rPr sz="2004">
                <a:solidFill>
                  <a:srgbClr val="262557"/>
                </a:solidFill>
                <a:latin typeface="Univers Condensed Light"/>
                <a:ea typeface="Univers Condensed Light"/>
                <a:cs typeface="Univers Condensed Light"/>
              </a:rPr>
              <a:t>Number of bytes read.</a:t>
            </a:r>
          </a:p>
          <a:p xmlns:a="http://schemas.openxmlformats.org/drawingml/2006/main">
            <a:pPr marL="228600" indent="-165100" algn="l">
              <a:spcAft>
                <a:spcPts val="960"/>
              </a:spcAft>
              <a:buChar char="•"/>
              <a:defRPr sz="2004" b="0">
                <a:solidFill>
                  <a:srgbClr val="262557"/>
                </a:solidFill>
                <a:latin typeface="Univers Condensed Light"/>
                <a:ea typeface="Univers Condensed Light"/>
                <a:cs typeface="Univers Condensed Light"/>
              </a:defRPr>
            </a:pPr>
            <a:r>
              <a:rPr sz="2004">
                <a:solidFill>
                  <a:srgbClr val="262557"/>
                </a:solidFill>
                <a:latin typeface="Univers Condensed Light"/>
                <a:ea typeface="Univers Condensed Light"/>
                <a:cs typeface="Univers Condensed Light"/>
              </a:rPr>
              <a:t>Token table.</a:t>
            </a:r>
          </a:p>
          <a:p xmlns:a="http://schemas.openxmlformats.org/drawingml/2006/main">
            <a:pPr marL="228600" indent="-165100" algn="l">
              <a:spcAft>
                <a:spcPts val="960"/>
              </a:spcAft>
              <a:buChar char="•"/>
              <a:defRPr sz="2004" b="0">
                <a:solidFill>
                  <a:srgbClr val="262557"/>
                </a:solidFill>
                <a:latin typeface="Univers Condensed Light"/>
                <a:ea typeface="Univers Condensed Light"/>
                <a:cs typeface="Univers Condensed Light"/>
              </a:defRPr>
            </a:pPr>
            <a:r>
              <a:rPr sz="2004">
                <a:solidFill>
                  <a:srgbClr val="262557"/>
                </a:solidFill>
                <a:latin typeface="Univers Condensed Light"/>
                <a:ea typeface="Univers Condensed Light"/>
                <a:cs typeface="Univers Condensed Light"/>
              </a:rPr>
              <a:t>Explanatory lexical diagnostics, when applicable.</a:t>
            </a:r>
          </a:p>
          <a:p xmlns:a="http://schemas.openxmlformats.org/drawingml/2006/main">
            <a:pPr marL="228600" indent="-165100" algn="l">
              <a:spcAft>
                <a:spcPts val="960"/>
              </a:spcAft>
              <a:buChar char="•"/>
              <a:defRPr sz="2004" b="0">
                <a:solidFill>
                  <a:srgbClr val="262557"/>
                </a:solidFill>
                <a:latin typeface="Univers Condensed Light"/>
                <a:ea typeface="Univers Condensed Light"/>
                <a:cs typeface="Univers Condensed Light"/>
              </a:defRPr>
            </a:pPr>
            <a:r>
              <a:rPr sz="2004">
                <a:solidFill>
                  <a:srgbClr val="262557"/>
                </a:solidFill>
                <a:latin typeface="Univers Condensed Light"/>
                <a:ea typeface="Univers Condensed Light"/>
                <a:cs typeface="Univers Condensed Light"/>
              </a:rPr>
              <a:t>Token count excluding EOF.</a:t>
            </a:r>
          </a:p>
          <a:p xmlns:a="http://schemas.openxmlformats.org/drawingml/2006/main">
            <a:pPr marL="228600" indent="-165100" algn="l">
              <a:spcAft>
                <a:spcPts val="960"/>
              </a:spcAft>
              <a:buChar char="•"/>
              <a:defRPr sz="2004" b="0">
                <a:solidFill>
                  <a:srgbClr val="262557"/>
                </a:solidFill>
                <a:latin typeface="Univers Condensed Light"/>
                <a:ea typeface="Univers Condensed Light"/>
                <a:cs typeface="Univers Condensed Light"/>
              </a:defRPr>
            </a:pPr>
            <a:r>
              <a:rPr sz="2004">
                <a:solidFill>
                  <a:srgbClr val="262557"/>
                </a:solidFill>
                <a:latin typeface="Univers Condensed Light"/>
                <a:ea typeface="Univers Condensed Light"/>
                <a:cs typeface="Univers Condensed Light"/>
              </a:rPr>
              <a:t>Lexical-error count.</a:t>
            </a:r>
          </a:p>
        </p:txBody>
      </p:sp>
      <p:graphicFrame>
        <p:nvGraphicFramePr>
          <p:cNvPr id="7" name="Table 6">
            <a:extLst xmlns:a="http://schemas.openxmlformats.org/drawingml/2006/main">
              <a:ext uri="{FF2B5EF4-FFF2-40B4-BE49-F238E27FC236}">
                <a16:creationId xmlns:a16="http://schemas.microsoft.com/office/drawing/2014/main" id="{F327DE76-7078-4B6D-8DA2-E8B935EEBC33}"/>
              </a:ext>
            </a:extLst>
          </p:cNvPr>
          <p:cNvGraphicFramePr/>
          <p:nvPr/>
        </p:nvGraphicFramePr>
        <p:xfrm>
          <a:off xmlns:a="http://schemas.openxmlformats.org/drawingml/2006/main" x="6324600" y="1892300"/>
          <a:ext xmlns:a="http://schemas.openxmlformats.org/drawingml/2006/main" cx="5181600" cy="373888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75740"/>
                <a:gridCol w="3705860"/>
              </a:tblGrid>
              <a:tr h="510540"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400" b="1">
                          <a:solidFill>
                            <a:srgbClr val="FFFFFF"/>
                          </a:solidFill>
                          <a:latin typeface="Univers Condensed Light"/>
                          <a:ea typeface="Univers Condensed Light"/>
                          <a:cs typeface="Univers Condensed Light"/>
                        </a:rPr>
                        <a:t>Token Table</a:t>
                      </a:r>
                    </a:p>
                  </a:txBody>
                  <a:tcPr marL="91440" marR="91440" marT="45720" marB="45720" anchor="ctr">
                    <a:lnL w="12383">
                      <a:solidFill>
                        <a:srgbClr val="FFFFFF"/>
                      </a:solidFill>
                      <a:prstDash val="solid"/>
                    </a:lnL>
                    <a:lnR w="12383">
                      <a:solidFill>
                        <a:srgbClr val="FFFFFF"/>
                      </a:solidFill>
                      <a:prstDash val="solid"/>
                    </a:lnR>
                    <a:lnT w="12383">
                      <a:solidFill>
                        <a:srgbClr val="FFFFFF"/>
                      </a:solidFill>
                      <a:prstDash val="solid"/>
                    </a:lnT>
                    <a:lnB w="12383">
                      <a:solidFill>
                        <a:srgbClr val="FFFFFF"/>
                      </a:solidFill>
                      <a:prstDash val="solid"/>
                    </a:lnB>
                    <a:solidFill>
                      <a:srgbClr val="4A66A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 anchor="ctr">
                    <a:lnR w="12383">
                      <a:solidFill>
                        <a:srgbClr val="FFFFFF"/>
                      </a:solidFill>
                      <a:prstDash val="solid"/>
                    </a:lnR>
                    <a:lnT w="12383">
                      <a:solidFill>
                        <a:srgbClr val="FFFFFF"/>
                      </a:solidFill>
                      <a:prstDash val="solid"/>
                    </a:lnT>
                    <a:lnB w="12383">
                      <a:solidFill>
                        <a:srgbClr val="FFFFFF"/>
                      </a:solidFill>
                      <a:prstDash val="solid"/>
                    </a:lnB>
                    <a:solidFill>
                      <a:srgbClr val="4A66AC"/>
                    </a:solidFill>
                  </a:tcPr>
                </a:tc>
              </a:tr>
              <a:tr h="4089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Univers Condensed Light"/>
                          <a:ea typeface="Univers Condensed Light"/>
                          <a:cs typeface="Univers Condensed Light"/>
                        </a:rPr>
                        <a:t>Column</a:t>
                      </a:r>
                    </a:p>
                  </a:txBody>
                  <a:tcPr marL="91440" marR="91440" marT="45720" marB="45720" anchor="ctr">
                    <a:lnL w="12383">
                      <a:solidFill>
                        <a:srgbClr val="FFFFFF"/>
                      </a:solidFill>
                      <a:prstDash val="solid"/>
                    </a:lnL>
                    <a:lnR w="12383">
                      <a:solidFill>
                        <a:srgbClr val="FFFFFF"/>
                      </a:solidFill>
                      <a:prstDash val="solid"/>
                    </a:lnR>
                    <a:lnT w="12383" cmpd="sng">
                      <a:solidFill>
                        <a:srgbClr val="FFFFFF"/>
                      </a:solidFill>
                      <a:prstDash val="solid"/>
                    </a:lnT>
                    <a:lnB w="12383">
                      <a:solidFill>
                        <a:srgbClr val="FFFFFF"/>
                      </a:solidFill>
                      <a:prstDash val="solid"/>
                    </a:lnB>
                    <a:solidFill>
                      <a:srgbClr val="4A66A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Univers Condensed Light"/>
                          <a:ea typeface="Univers Condensed Light"/>
                          <a:cs typeface="Univers Condensed Light"/>
                        </a:rPr>
                        <a:t>Meaning</a:t>
                      </a:r>
                    </a:p>
                  </a:txBody>
                  <a:tcPr marL="91440" marR="91440" marT="45720" marB="45720" anchor="ctr">
                    <a:lnL w="12383" cmpd="sng">
                      <a:solidFill>
                        <a:srgbClr val="FFFFFF"/>
                      </a:solidFill>
                      <a:prstDash val="solid"/>
                    </a:lnL>
                    <a:lnR w="12383">
                      <a:solidFill>
                        <a:srgbClr val="FFFFFF"/>
                      </a:solidFill>
                      <a:prstDash val="solid"/>
                    </a:lnR>
                    <a:lnB w="12383">
                      <a:solidFill>
                        <a:srgbClr val="FFFFFF"/>
                      </a:solidFill>
                      <a:prstDash val="solid"/>
                    </a:lnB>
                    <a:solidFill>
                      <a:srgbClr val="4A66AC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Univers Condensed Light"/>
                          <a:ea typeface="Univers Condensed Light"/>
                          <a:cs typeface="Univers Condensed Light"/>
                        </a:rPr>
                        <a:t>Line</a:t>
                      </a:r>
                    </a:p>
                  </a:txBody>
                  <a:tcPr marL="91440" marR="91440" marT="45720" marB="45720" anchor="ctr">
                    <a:lnL w="12383">
                      <a:solidFill>
                        <a:srgbClr val="FFFFFF"/>
                      </a:solidFill>
                      <a:prstDash val="solid"/>
                    </a:lnL>
                    <a:lnR w="12383">
                      <a:solidFill>
                        <a:srgbClr val="FFFFFF"/>
                      </a:solidFill>
                      <a:prstDash val="solid"/>
                    </a:lnR>
                    <a:lnT w="12383" cmpd="sng">
                      <a:solidFill>
                        <a:srgbClr val="FFFFFF"/>
                      </a:solidFill>
                      <a:prstDash val="solid"/>
                    </a:lnT>
                    <a:lnB w="12383">
                      <a:solidFill>
                        <a:srgbClr val="FFFFFF"/>
                      </a:solidFill>
                      <a:prstDash val="solid"/>
                    </a:lnB>
                    <a:solidFill>
                      <a:srgbClr val="D0D3E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Univers Condensed Light"/>
                          <a:ea typeface="Univers Condensed Light"/>
                          <a:cs typeface="Univers Condensed Light"/>
                        </a:rPr>
                        <a:t>Source line where the token begins, numbered from 1.</a:t>
                      </a:r>
                    </a:p>
                  </a:txBody>
                  <a:tcPr marL="91440" marR="91440" marT="45720" marB="45720" anchor="ctr">
                    <a:lnL w="12383" cmpd="sng">
                      <a:solidFill>
                        <a:srgbClr val="FFFFFF"/>
                      </a:solidFill>
                      <a:prstDash val="solid"/>
                    </a:lnL>
                    <a:lnR w="12383">
                      <a:solidFill>
                        <a:srgbClr val="FFFFFF"/>
                      </a:solidFill>
                      <a:prstDash val="solid"/>
                    </a:lnR>
                    <a:lnT w="12383" cmpd="sng">
                      <a:solidFill>
                        <a:srgbClr val="FFFFFF"/>
                      </a:solidFill>
                      <a:prstDash val="solid"/>
                    </a:lnT>
                    <a:lnB w="12383">
                      <a:solidFill>
                        <a:srgbClr val="FFFFFF"/>
                      </a:solidFill>
                      <a:prstDash val="solid"/>
                    </a:lnB>
                    <a:solidFill>
                      <a:srgbClr val="D0D3E3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Univers Condensed Light"/>
                          <a:ea typeface="Univers Condensed Light"/>
                          <a:cs typeface="Univers Condensed Light"/>
                        </a:rPr>
                        <a:t>Column</a:t>
                      </a:r>
                    </a:p>
                  </a:txBody>
                  <a:tcPr marL="91440" marR="91440" marT="45720" marB="45720" anchor="ctr">
                    <a:lnL w="12383">
                      <a:solidFill>
                        <a:srgbClr val="FFFFFF"/>
                      </a:solidFill>
                      <a:prstDash val="solid"/>
                    </a:lnL>
                    <a:lnR w="12383">
                      <a:solidFill>
                        <a:srgbClr val="FFFFFF"/>
                      </a:solidFill>
                      <a:prstDash val="solid"/>
                    </a:lnR>
                    <a:lnT w="12383" cmpd="sng">
                      <a:solidFill>
                        <a:srgbClr val="FFFFFF"/>
                      </a:solidFill>
                      <a:prstDash val="solid"/>
                    </a:lnT>
                    <a:lnB w="12383">
                      <a:solidFill>
                        <a:srgbClr val="FFFFFF"/>
                      </a:solidFill>
                      <a:prstDash val="solid"/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Univers Condensed Light"/>
                          <a:ea typeface="Univers Condensed Light"/>
                          <a:cs typeface="Univers Condensed Light"/>
                        </a:rPr>
                        <a:t>Character position where the token begins, numbered from 1.</a:t>
                      </a:r>
                    </a:p>
                  </a:txBody>
                  <a:tcPr marL="91440" marR="91440" marT="45720" marB="45720" anchor="ctr">
                    <a:lnL w="12383" cmpd="sng">
                      <a:solidFill>
                        <a:srgbClr val="FFFFFF"/>
                      </a:solidFill>
                      <a:prstDash val="solid"/>
                    </a:lnL>
                    <a:lnR w="12383">
                      <a:solidFill>
                        <a:srgbClr val="FFFFFF"/>
                      </a:solidFill>
                      <a:prstDash val="solid"/>
                    </a:lnR>
                    <a:lnT w="12383" cmpd="sng">
                      <a:solidFill>
                        <a:srgbClr val="FFFFFF"/>
                      </a:solidFill>
                      <a:prstDash val="solid"/>
                    </a:lnT>
                    <a:lnB w="12383">
                      <a:solidFill>
                        <a:srgbClr val="FFFFFF"/>
                      </a:solidFill>
                      <a:prstDash val="solid"/>
                    </a:lnB>
                    <a:solidFill>
                      <a:srgbClr val="E9EAF1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Univers Condensed Light"/>
                          <a:ea typeface="Univers Condensed Light"/>
                          <a:cs typeface="Univers Condensed Light"/>
                        </a:rPr>
                        <a:t>Token</a:t>
                      </a:r>
                    </a:p>
                  </a:txBody>
                  <a:tcPr marL="91440" marR="91440" marT="45720" marB="45720" anchor="ctr">
                    <a:lnL w="12383">
                      <a:solidFill>
                        <a:srgbClr val="FFFFFF"/>
                      </a:solidFill>
                      <a:prstDash val="solid"/>
                    </a:lnL>
                    <a:lnR w="12383">
                      <a:solidFill>
                        <a:srgbClr val="FFFFFF"/>
                      </a:solidFill>
                      <a:prstDash val="solid"/>
                    </a:lnR>
                    <a:lnT w="12383" cmpd="sng">
                      <a:solidFill>
                        <a:srgbClr val="FFFFFF"/>
                      </a:solidFill>
                      <a:prstDash val="solid"/>
                    </a:lnT>
                    <a:lnB w="12383">
                      <a:solidFill>
                        <a:srgbClr val="FFFFFF"/>
                      </a:solidFill>
                      <a:prstDash val="solid"/>
                    </a:lnB>
                    <a:solidFill>
                      <a:srgbClr val="D0D3E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Univers Condensed Light"/>
                          <a:ea typeface="Univers Condensed Light"/>
                          <a:cs typeface="Univers Condensed Light"/>
                        </a:rPr>
                        <a:t>Token category; operators and delimiters use their symbols as labels</a:t>
                      </a:r>
                    </a:p>
                  </a:txBody>
                  <a:tcPr marL="91440" marR="91440" marT="45720" marB="45720" anchor="ctr">
                    <a:lnL w="12383" cmpd="sng">
                      <a:solidFill>
                        <a:srgbClr val="FFFFFF"/>
                      </a:solidFill>
                      <a:prstDash val="solid"/>
                    </a:lnL>
                    <a:lnR w="12383">
                      <a:solidFill>
                        <a:srgbClr val="FFFFFF"/>
                      </a:solidFill>
                      <a:prstDash val="solid"/>
                    </a:lnR>
                    <a:lnT w="12383" cmpd="sng">
                      <a:solidFill>
                        <a:srgbClr val="FFFFFF"/>
                      </a:solidFill>
                      <a:prstDash val="solid"/>
                    </a:lnT>
                    <a:lnB w="12383">
                      <a:solidFill>
                        <a:srgbClr val="FFFFFF"/>
                      </a:solidFill>
                      <a:prstDash val="solid"/>
                    </a:lnB>
                    <a:solidFill>
                      <a:srgbClr val="D0D3E3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Univers Condensed Light"/>
                          <a:ea typeface="Univers Condensed Light"/>
                          <a:cs typeface="Univers Condensed Light"/>
                        </a:rPr>
                        <a:t>Lexeme</a:t>
                      </a:r>
                    </a:p>
                  </a:txBody>
                  <a:tcPr marL="91440" marR="91440" marT="45720" marB="45720" anchor="ctr">
                    <a:lnL w="12383">
                      <a:solidFill>
                        <a:srgbClr val="FFFFFF"/>
                      </a:solidFill>
                      <a:prstDash val="solid"/>
                    </a:lnL>
                    <a:lnR w="12383">
                      <a:solidFill>
                        <a:srgbClr val="FFFFFF"/>
                      </a:solidFill>
                      <a:prstDash val="solid"/>
                    </a:lnR>
                    <a:lnT w="12383" cmpd="sng">
                      <a:solidFill>
                        <a:srgbClr val="FFFFFF"/>
                      </a:solidFill>
                      <a:prstDash val="solid"/>
                    </a:lnT>
                    <a:lnB w="12383">
                      <a:solidFill>
                        <a:srgbClr val="FFFFFF"/>
                      </a:solidFill>
                      <a:prstDash val="solid"/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Univers Condensed Light"/>
                          <a:ea typeface="Univers Condensed Light"/>
                          <a:cs typeface="Univers Condensed Light"/>
                        </a:rPr>
                        <a:t>Token text; character literals are displayed without surrounding quotes.</a:t>
                      </a:r>
                    </a:p>
                  </a:txBody>
                  <a:tcPr marL="91440" marR="91440" marT="45720" marB="45720" anchor="ctr">
                    <a:lnL w="12383" cmpd="sng">
                      <a:solidFill>
                        <a:srgbClr val="FFFFFF"/>
                      </a:solidFill>
                      <a:prstDash val="solid"/>
                    </a:lnL>
                    <a:lnR w="12383">
                      <a:solidFill>
                        <a:srgbClr val="FFFFFF"/>
                      </a:solidFill>
                      <a:prstDash val="solid"/>
                    </a:lnR>
                    <a:lnT w="12383" cmpd="sng">
                      <a:solidFill>
                        <a:srgbClr val="FFFFFF"/>
                      </a:solidFill>
                      <a:prstDash val="solid"/>
                    </a:lnT>
                    <a:lnB w="12383">
                      <a:solidFill>
                        <a:srgbClr val="FFFFFF"/>
                      </a:solidFill>
                      <a:prstDash val="solid"/>
                    </a:lnB>
                    <a:solidFill>
                      <a:srgbClr val="E9EAF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734054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ST CASE 1">
            <a:extLst xmlns:a="http://schemas.openxmlformats.org/drawingml/2006/main">
              <a:ext uri="{FF2B5EF4-FFF2-40B4-BE49-F238E27FC236}">
                <a16:creationId xmlns:a16="http://schemas.microsoft.com/office/drawing/2014/main" id="{4C110EC9-FAD7-4CD5-AC8E-F7D717C99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838781"/>
            <a:ext cx="2805757" cy="699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404" b="0">
                <a:solidFill>
                  <a:srgbClr val="5AA2AE"/>
                </a:solidFill>
                <a:latin typeface="Oswald SemiBold"/>
                <a:ea typeface="Oswald SemiBold"/>
                <a:cs typeface="Oswald SemiBold"/>
              </a:defRPr>
            </a:defPPr>
          </a:lstStyle>
          <a:p xmlns:a="http://schemas.openxmlformats.org/drawingml/2006/main">
            <a:pPr algn="l">
              <a:buNone/>
              <a:defRPr sz="4404" b="0">
                <a:solidFill>
                  <a:srgbClr val="5AA2AE"/>
                </a:solidFill>
                <a:latin typeface="Oswald SemiBold"/>
                <a:ea typeface="Oswald SemiBold"/>
                <a:cs typeface="Oswald SemiBold"/>
              </a:defRPr>
            </a:pPr>
            <a:r>
              <a:rPr sz="4404" b="0">
                <a:solidFill>
                  <a:srgbClr val="5AA2AE"/>
                </a:solidFill>
                <a:latin typeface="Oswald SemiBold"/>
                <a:ea typeface="Oswald SemiBold"/>
                <a:cs typeface="Oswald SemiBold"/>
              </a:rPr>
              <a:t>TEST CASE 1</a:t>
            </a:r>
          </a:p>
        </p:txBody>
      </p:sp>
      <p:sp>
        <p:nvSpPr>
          <p:cNvPr id="2" name="VALID DECLARATIONS">
            <a:extLst xmlns:a="http://schemas.openxmlformats.org/drawingml/2006/main">
              <a:ext uri="{FF2B5EF4-FFF2-40B4-BE49-F238E27FC236}">
                <a16:creationId xmlns:a16="http://schemas.microsoft.com/office/drawing/2014/main" id="{9D1E4237-868D-4FE8-858D-E7C5FACCB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1521838"/>
            <a:ext cx="2342187" cy="318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4" b="0">
                <a:solidFill>
                  <a:srgbClr val="5AA2AE"/>
                </a:solidFill>
                <a:latin typeface="Oswald SemiBold"/>
                <a:ea typeface="Oswald SemiBold"/>
                <a:cs typeface="Oswald SemiBold"/>
              </a:defRPr>
            </a:defPPr>
          </a:lstStyle>
          <a:p xmlns:a="http://schemas.openxmlformats.org/drawingml/2006/main">
            <a:pPr algn="l">
              <a:buNone/>
              <a:defRPr sz="2004" b="0">
                <a:solidFill>
                  <a:srgbClr val="5AA2AE"/>
                </a:solidFill>
                <a:latin typeface="Oswald SemiBold"/>
                <a:ea typeface="Oswald SemiBold"/>
                <a:cs typeface="Oswald SemiBold"/>
              </a:defRPr>
            </a:pPr>
            <a:r>
              <a:rPr sz="2004" b="0">
                <a:solidFill>
                  <a:srgbClr val="5AA2AE"/>
                </a:solidFill>
                <a:latin typeface="Oswald SemiBold"/>
                <a:ea typeface="Oswald SemiBold"/>
                <a:cs typeface="Oswald SemiBold"/>
              </a:rPr>
              <a:t>VALID DECLARATIONS</a:t>
            </a:r>
          </a:p>
        </p:txBody>
      </p:sp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36111526-7814-4FFA-9659-0BFE78E69B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9733959e274c62"/>
          <a:stretch xmlns:a="http://schemas.openxmlformats.org/drawingml/2006/main"/>
        </p:blipFill>
        <p:spPr>
          <a:xfrm xmlns:a="http://schemas.openxmlformats.org/drawingml/2006/main">
            <a:off x="603504" y="2706243"/>
            <a:ext cx="2781300" cy="2476500"/>
          </a:xfrm>
          <a:prstGeom xmlns:a="http://schemas.openxmlformats.org/drawingml/2006/main" prst="rect">
            <a:avLst/>
          </a:prstGeom>
        </p:spPr>
      </p:pic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1D45A645-0F93-40BB-A78C-4616C612DD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e6d4ec075c4e09"/>
          <a:stretch xmlns:a="http://schemas.openxmlformats.org/drawingml/2006/main"/>
        </p:blipFill>
        <p:spPr>
          <a:xfrm xmlns:a="http://schemas.openxmlformats.org/drawingml/2006/main">
            <a:off x="3666744" y="1297710"/>
            <a:ext cx="8241792" cy="4262580"/>
          </a:xfrm>
          <a:prstGeom xmlns:a="http://schemas.openxmlformats.org/drawingml/2006/main" prst="rect">
            <a:avLst/>
          </a:prstGeom>
        </p:spPr>
      </p:pic>
      <p:sp>
        <p:nvSpPr>
          <p:cNvPr id="5" name="Template footer rule">
            <a:extLst xmlns:a="http://schemas.openxmlformats.org/drawingml/2006/main">
              <a:ext uri="{FF2B5EF4-FFF2-40B4-BE49-F238E27FC236}">
                <a16:creationId xmlns:a16="http://schemas.microsoft.com/office/drawing/2014/main" id="{E4028958-89B3-45FC-B1C6-847F5DCB7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8" y="6215063"/>
            <a:ext cx="10802303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66A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88112399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ST CASE 2">
            <a:extLst xmlns:a="http://schemas.openxmlformats.org/drawingml/2006/main">
              <a:ext uri="{FF2B5EF4-FFF2-40B4-BE49-F238E27FC236}">
                <a16:creationId xmlns:a16="http://schemas.microsoft.com/office/drawing/2014/main" id="{EAB2EFA9-6656-4821-A82A-4ED738122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838781"/>
            <a:ext cx="2870078" cy="699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404" b="0">
                <a:solidFill>
                  <a:srgbClr val="5AA2AE"/>
                </a:solidFill>
                <a:latin typeface="Oswald SemiBold"/>
                <a:ea typeface="Oswald SemiBold"/>
                <a:cs typeface="Oswald SemiBold"/>
              </a:defRPr>
            </a:defPPr>
          </a:lstStyle>
          <a:p xmlns:a="http://schemas.openxmlformats.org/drawingml/2006/main">
            <a:pPr algn="l">
              <a:buNone/>
              <a:defRPr sz="4404" b="0">
                <a:solidFill>
                  <a:srgbClr val="5AA2AE"/>
                </a:solidFill>
                <a:latin typeface="Oswald SemiBold"/>
                <a:ea typeface="Oswald SemiBold"/>
                <a:cs typeface="Oswald SemiBold"/>
              </a:defRPr>
            </a:pPr>
            <a:r>
              <a:rPr sz="4404" b="0">
                <a:solidFill>
                  <a:srgbClr val="5AA2AE"/>
                </a:solidFill>
                <a:latin typeface="Oswald SemiBold"/>
                <a:ea typeface="Oswald SemiBold"/>
                <a:cs typeface="Oswald SemiBold"/>
              </a:rPr>
              <a:t>TEST CASE 2</a:t>
            </a:r>
          </a:p>
        </p:txBody>
      </p:sp>
      <p:sp>
        <p:nvSpPr>
          <p:cNvPr id="2" name="INVALID CHARACTER">
            <a:extLst xmlns:a="http://schemas.openxmlformats.org/drawingml/2006/main">
              <a:ext uri="{FF2B5EF4-FFF2-40B4-BE49-F238E27FC236}">
                <a16:creationId xmlns:a16="http://schemas.microsoft.com/office/drawing/2014/main" id="{6ABD07A3-1CEB-456F-9230-2E9CD6896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1521838"/>
            <a:ext cx="2252855" cy="318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4" b="0">
                <a:solidFill>
                  <a:srgbClr val="5AA2AE"/>
                </a:solidFill>
                <a:latin typeface="Oswald SemiBold"/>
                <a:ea typeface="Oswald SemiBold"/>
                <a:cs typeface="Oswald SemiBold"/>
              </a:defRPr>
            </a:defPPr>
          </a:lstStyle>
          <a:p xmlns:a="http://schemas.openxmlformats.org/drawingml/2006/main">
            <a:pPr algn="l">
              <a:buNone/>
              <a:defRPr sz="2004" b="0">
                <a:solidFill>
                  <a:srgbClr val="5AA2AE"/>
                </a:solidFill>
                <a:latin typeface="Oswald SemiBold"/>
                <a:ea typeface="Oswald SemiBold"/>
                <a:cs typeface="Oswald SemiBold"/>
              </a:defRPr>
            </a:pPr>
            <a:r>
              <a:rPr sz="2004" b="0">
                <a:solidFill>
                  <a:srgbClr val="5AA2AE"/>
                </a:solidFill>
                <a:latin typeface="Oswald SemiBold"/>
                <a:ea typeface="Oswald SemiBold"/>
                <a:cs typeface="Oswald SemiBold"/>
              </a:rPr>
              <a:t>INVALID CHARACTER</a:t>
            </a:r>
          </a:p>
        </p:txBody>
      </p:sp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E2A38C3A-520B-4EC3-83B7-9408615DBC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9fe941df9b4f99"/>
          <a:stretch xmlns:a="http://schemas.openxmlformats.org/drawingml/2006/main"/>
        </p:blipFill>
        <p:spPr>
          <a:xfrm xmlns:a="http://schemas.openxmlformats.org/drawingml/2006/main">
            <a:off x="5324856" y="370078"/>
            <a:ext cx="4724400" cy="1733550"/>
          </a:xfrm>
          <a:prstGeom xmlns:a="http://schemas.openxmlformats.org/drawingml/2006/main" prst="rect">
            <a:avLst/>
          </a:prstGeom>
        </p:spPr>
      </p:pic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1DD21E50-B190-4F37-B7F1-026CD5615A4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d01de4b1fe40eb"/>
          <a:stretch xmlns:a="http://schemas.openxmlformats.org/drawingml/2006/main"/>
        </p:blipFill>
        <p:spPr>
          <a:xfrm xmlns:a="http://schemas.openxmlformats.org/drawingml/2006/main">
            <a:off x="1309139" y="2437536"/>
            <a:ext cx="9573722" cy="3533775"/>
          </a:xfrm>
          <a:prstGeom xmlns:a="http://schemas.openxmlformats.org/drawingml/2006/main" prst="rect">
            <a:avLst/>
          </a:prstGeom>
        </p:spPr>
      </p:pic>
      <p:sp>
        <p:nvSpPr>
          <p:cNvPr id="5" name="Template footer rule">
            <a:extLst xmlns:a="http://schemas.openxmlformats.org/drawingml/2006/main">
              <a:ext uri="{FF2B5EF4-FFF2-40B4-BE49-F238E27FC236}">
                <a16:creationId xmlns:a16="http://schemas.microsoft.com/office/drawing/2014/main" id="{4DB28530-A554-4624-B324-171BA9005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8" y="6215063"/>
            <a:ext cx="10802303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66A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42097168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ST CASE 3">
            <a:extLst xmlns:a="http://schemas.openxmlformats.org/drawingml/2006/main">
              <a:ext uri="{FF2B5EF4-FFF2-40B4-BE49-F238E27FC236}">
                <a16:creationId xmlns:a16="http://schemas.microsoft.com/office/drawing/2014/main" id="{E0750665-8431-4112-8877-796EDE9C7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838781"/>
            <a:ext cx="2870078" cy="699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404" b="0">
                <a:solidFill>
                  <a:srgbClr val="5AA2AE"/>
                </a:solidFill>
                <a:latin typeface="Oswald SemiBold"/>
                <a:ea typeface="Oswald SemiBold"/>
                <a:cs typeface="Oswald SemiBold"/>
              </a:defRPr>
            </a:defPPr>
          </a:lstStyle>
          <a:p xmlns:a="http://schemas.openxmlformats.org/drawingml/2006/main">
            <a:pPr algn="l">
              <a:buNone/>
              <a:defRPr sz="4404" b="0">
                <a:solidFill>
                  <a:srgbClr val="5AA2AE"/>
                </a:solidFill>
                <a:latin typeface="Oswald SemiBold"/>
                <a:ea typeface="Oswald SemiBold"/>
                <a:cs typeface="Oswald SemiBold"/>
              </a:defRPr>
            </a:pPr>
            <a:r>
              <a:rPr sz="4404" b="0">
                <a:solidFill>
                  <a:srgbClr val="5AA2AE"/>
                </a:solidFill>
                <a:latin typeface="Oswald SemiBold"/>
                <a:ea typeface="Oswald SemiBold"/>
                <a:cs typeface="Oswald SemiBold"/>
              </a:rPr>
              <a:t>TEST CASE 3</a:t>
            </a:r>
          </a:p>
        </p:txBody>
      </p:sp>
      <p:sp>
        <p:nvSpPr>
          <p:cNvPr id="2" name="OPERATORS &amp; COMMENT HANDLING">
            <a:extLst xmlns:a="http://schemas.openxmlformats.org/drawingml/2006/main">
              <a:ext uri="{FF2B5EF4-FFF2-40B4-BE49-F238E27FC236}">
                <a16:creationId xmlns:a16="http://schemas.microsoft.com/office/drawing/2014/main" id="{A7E583B4-310C-45CB-99ED-C506E9A68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1521838"/>
            <a:ext cx="3752670" cy="318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4" b="0">
                <a:solidFill>
                  <a:srgbClr val="5AA2AE"/>
                </a:solidFill>
                <a:latin typeface="Oswald SemiBold"/>
                <a:ea typeface="Oswald SemiBold"/>
                <a:cs typeface="Oswald SemiBold"/>
              </a:defRPr>
            </a:defPPr>
          </a:lstStyle>
          <a:p xmlns:a="http://schemas.openxmlformats.org/drawingml/2006/main">
            <a:pPr algn="l">
              <a:buNone/>
              <a:defRPr sz="2004" b="0">
                <a:solidFill>
                  <a:srgbClr val="5AA2AE"/>
                </a:solidFill>
                <a:latin typeface="Oswald SemiBold"/>
                <a:ea typeface="Oswald SemiBold"/>
                <a:cs typeface="Oswald SemiBold"/>
              </a:defRPr>
            </a:pPr>
            <a:r>
              <a:rPr sz="2004" b="0">
                <a:solidFill>
                  <a:srgbClr val="5AA2AE"/>
                </a:solidFill>
                <a:latin typeface="Oswald SemiBold"/>
                <a:ea typeface="Oswald SemiBold"/>
                <a:cs typeface="Oswald SemiBold"/>
              </a:rPr>
              <a:t>OPERATORS &amp; COMMENT HANDLING</a:t>
            </a:r>
          </a:p>
        </p:txBody>
      </p:sp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17C8B7FF-BAFB-4059-AD49-B14C93A244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bc7f4856ec42df"/>
          <a:stretch xmlns:a="http://schemas.openxmlformats.org/drawingml/2006/main"/>
        </p:blipFill>
        <p:spPr>
          <a:xfrm xmlns:a="http://schemas.openxmlformats.org/drawingml/2006/main">
            <a:off x="356616" y="2669564"/>
            <a:ext cx="5285232" cy="1518745"/>
          </a:xfrm>
          <a:prstGeom xmlns:a="http://schemas.openxmlformats.org/drawingml/2006/main" prst="rect">
            <a:avLst/>
          </a:prstGeom>
        </p:spPr>
      </p:pic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36677856-0B54-45CC-97CC-90CDBE2614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a2735a8acc461c"/>
          <a:stretch xmlns:a="http://schemas.openxmlformats.org/drawingml/2006/main"/>
        </p:blipFill>
        <p:spPr>
          <a:xfrm xmlns:a="http://schemas.openxmlformats.org/drawingml/2006/main">
            <a:off x="5750052" y="1236786"/>
            <a:ext cx="6251448" cy="4549122"/>
          </a:xfrm>
          <a:prstGeom xmlns:a="http://schemas.openxmlformats.org/drawingml/2006/main" prst="rect">
            <a:avLst/>
          </a:prstGeom>
        </p:spPr>
      </p:pic>
      <p:sp>
        <p:nvSpPr>
          <p:cNvPr id="5" name="Template footer rule">
            <a:extLst xmlns:a="http://schemas.openxmlformats.org/drawingml/2006/main">
              <a:ext uri="{FF2B5EF4-FFF2-40B4-BE49-F238E27FC236}">
                <a16:creationId xmlns:a16="http://schemas.microsoft.com/office/drawing/2014/main" id="{71DAA4FF-4F0E-49AE-A23A-2EEA61CBC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8" y="6215063"/>
            <a:ext cx="10802303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66A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145485080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title">
            <a:extLst xmlns:a="http://schemas.openxmlformats.org/drawingml/2006/main">
              <a:ext uri="{FF2B5EF4-FFF2-40B4-BE49-F238E27FC236}">
                <a16:creationId xmlns:a16="http://schemas.microsoft.com/office/drawing/2014/main" id="{7BB9C6CE-861A-470E-972F-241E603E1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752475"/>
            <a:ext cx="1081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404" b="0">
                <a:solidFill>
                  <a:srgbClr val="5AA2AE"/>
                </a:solidFill>
                <a:latin typeface="Oswald SemiBold"/>
                <a:ea typeface="Oswald SemiBold"/>
                <a:cs typeface="Oswald SemiBold"/>
              </a:defRPr>
            </a:defPPr>
          </a:lstStyle>
          <a:p xmlns:a="http://schemas.openxmlformats.org/drawingml/2006/main">
            <a:pPr algn="l">
              <a:buNone/>
              <a:defRPr sz="4404" b="0">
                <a:solidFill>
                  <a:srgbClr val="5AA2AE"/>
                </a:solidFill>
                <a:latin typeface="Oswald SemiBold"/>
                <a:ea typeface="Oswald SemiBold"/>
                <a:cs typeface="Oswald SemiBold"/>
              </a:defRPr>
            </a:pPr>
            <a:r>
              <a:rPr sz="4404" b="0">
                <a:solidFill>
                  <a:srgbClr val="5AA2AE"/>
                </a:solidFill>
                <a:latin typeface="Oswald SemiBold"/>
                <a:ea typeface="Oswald SemiBold"/>
                <a:cs typeface="Oswald SemiBold"/>
              </a:rPr>
              <a:t>FUTURE SCOPE</a:t>
            </a:r>
          </a:p>
        </p:txBody>
      </p:sp>
      <p:sp>
        <p:nvSpPr>
          <p:cNvPr id="2" name="Template footer rule">
            <a:extLst xmlns:a="http://schemas.openxmlformats.org/drawingml/2006/main">
              <a:ext uri="{FF2B5EF4-FFF2-40B4-BE49-F238E27FC236}">
                <a16:creationId xmlns:a16="http://schemas.microsoft.com/office/drawing/2014/main" id="{C28FB2A4-97E8-499A-9493-A7CB5F58B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8" y="6215063"/>
            <a:ext cx="10802303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66A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Editable bullet list">
            <a:extLst xmlns:a="http://schemas.openxmlformats.org/drawingml/2006/main">
              <a:ext uri="{FF2B5EF4-FFF2-40B4-BE49-F238E27FC236}">
                <a16:creationId xmlns:a16="http://schemas.microsoft.com/office/drawing/2014/main" id="{0298B9C6-9401-4BAA-8E96-7B478285C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809750"/>
            <a:ext cx="107632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04" b="0">
                <a:solidFill>
                  <a:srgbClr val="262557"/>
                </a:solidFill>
                <a:latin typeface="Univers Condensed Light"/>
                <a:ea typeface="Univers Condensed Light"/>
                <a:cs typeface="Univers Condensed Light"/>
              </a:defRPr>
            </a:defPPr>
          </a:lstStyle>
          <a:p xmlns:a="http://schemas.openxmlformats.org/drawingml/2006/main">
            <a:pPr marL="228600" indent="-165100" algn="l">
              <a:spcAft>
                <a:spcPts val="1800"/>
              </a:spcAft>
              <a:buChar char="•"/>
              <a:defRPr sz="2004" b="0">
                <a:solidFill>
                  <a:srgbClr val="262557"/>
                </a:solidFill>
                <a:latin typeface="Univers Condensed Light"/>
                <a:ea typeface="Univers Condensed Light"/>
                <a:cs typeface="Univers Condensed Light"/>
              </a:defRPr>
            </a:pPr>
            <a:r>
              <a:rPr sz="2004">
                <a:solidFill>
                  <a:srgbClr val="262557"/>
                </a:solidFill>
                <a:latin typeface="Univers Condensed Light"/>
                <a:ea typeface="Univers Condensed Light"/>
                <a:cs typeface="Univers Condensed Light"/>
              </a:rPr>
              <a:t>The complete project’s parser, AST, type system, symbol table, semantic analyzer, and original supporting files remain preserved in later/. That folder is ignored by Git and excluded from the active build.</a:t>
            </a:r>
          </a:p>
          <a:p xmlns:a="http://schemas.openxmlformats.org/drawingml/2006/main">
            <a:pPr marL="228600" indent="-165100" algn="l">
              <a:spcAft>
                <a:spcPts val="1800"/>
              </a:spcAft>
              <a:buChar char="•"/>
              <a:defRPr sz="2004" b="0">
                <a:solidFill>
                  <a:srgbClr val="262557"/>
                </a:solidFill>
                <a:latin typeface="Univers Condensed Light"/>
                <a:ea typeface="Univers Condensed Light"/>
                <a:cs typeface="Univers Condensed Light"/>
              </a:defRPr>
            </a:pPr>
            <a:r>
              <a:rPr sz="2004">
                <a:solidFill>
                  <a:srgbClr val="262557"/>
                </a:solidFill>
                <a:latin typeface="Univers Condensed Light"/>
                <a:ea typeface="Univers Condensed Light"/>
                <a:cs typeface="Univers Condensed Light"/>
              </a:rPr>
              <a:t>The current milestone does not validate grammar, resolve declarations, check type compatibility, evaluate expressions, or execute input programs. For example, int count = true; can tokenize successfully even though it contains a semantic type mismatch.</a:t>
            </a:r>
          </a:p>
          <a:p xmlns:a="http://schemas.openxmlformats.org/drawingml/2006/main">
            <a:pPr marL="228600" indent="-165100" algn="l">
              <a:spcAft>
                <a:spcPts val="1800"/>
              </a:spcAft>
              <a:buChar char="•"/>
              <a:defRPr sz="2004" b="0">
                <a:solidFill>
                  <a:srgbClr val="262557"/>
                </a:solidFill>
                <a:latin typeface="Univers Condensed Light"/>
                <a:ea typeface="Univers Condensed Light"/>
                <a:cs typeface="Univers Condensed Light"/>
              </a:defRPr>
            </a:pPr>
            <a:r>
              <a:rPr sz="2004">
                <a:solidFill>
                  <a:srgbClr val="262557"/>
                </a:solidFill>
                <a:latin typeface="Univers Condensed Light"/>
                <a:ea typeface="Univers Condensed Light"/>
                <a:cs typeface="Univers Condensed Light"/>
              </a:rPr>
              <a:t>Stricter validation of malformed character literals and unfinished block comments also remains pending. The current deliverable is a working lexical-analysis demonstration with source-position tracking, readable output, and explanatory unknown-character diagnostics.</a:t>
            </a:r>
          </a:p>
        </p:txBody>
      </p:sp>
    </p:spTree>
    <p:extLst>
      <p:ext uri="{BB962C8B-B14F-4D97-AF65-F5344CB8AC3E}">
        <p14:creationId xmlns:p14="http://schemas.microsoft.com/office/powerpoint/2010/main" val="119126417"/>
      </p:ext>
    </p:extLst>
  </p:cSld>
</p:sld>
</file>

<file path=ppt/theme/theme1.xml><?xml version="1.0" encoding="utf-8"?>
<a:theme xmlns:a="http://schemas.openxmlformats.org/drawingml/2006/main" name="ChatGPT">
  <a:themeElements>
    <a:clrScheme name="Semantic Analyzer Review Theme">
      <a:dk1>
        <a:srgbClr val="000000"/>
      </a:dk1>
      <a:lt1>
        <a:srgbClr val="FFFFFF"/>
      </a:lt1>
      <a:dk2>
        <a:srgbClr val="262557"/>
      </a:dk2>
      <a:lt2>
        <a:srgbClr val="E9EAF1"/>
      </a:lt2>
      <a:accent1>
        <a:srgbClr val="4A66AC"/>
      </a:accent1>
      <a:accent2>
        <a:srgbClr val="5AA2AE"/>
      </a:accent2>
      <a:accent3>
        <a:srgbClr val="6077B4"/>
      </a:accent3>
      <a:accent4>
        <a:srgbClr val="8B98C2"/>
      </a:accent4>
      <a:accent5>
        <a:srgbClr val="9FA8CC"/>
      </a:accent5>
      <a:accent6>
        <a:srgbClr val="408385"/>
      </a:accent6>
      <a:hlink>
        <a:srgbClr val="4A66AC"/>
      </a:hlink>
      <a:folHlink>
        <a:srgbClr val="5AA2AE"/>
      </a:folHlink>
    </a:clrScheme>
    <a:fontScheme name="">
      <a:majorFont>
        <a:latin typeface="Univers Condensed Light"/>
        <a:ea typeface=""/>
        <a:cs typeface=""/>
      </a:majorFont>
      <a:minorFont>
        <a:latin typeface="Univers Condensed Light"/>
        <a:ea typeface=""/>
        <a:cs typeface=""/>
      </a:minorFont>
    </a:fontScheme>
    <a:fmtScheme name="Semantic Analyzer Review Them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2026-10-14T06:48:48.1230000Z</dcterms:created>
  <dcterms:modified xsi:type="dcterms:W3CDTF">2026-10-14T06:48:48.1240000Z</dcterms:modified>
</coreProperties>
</file>